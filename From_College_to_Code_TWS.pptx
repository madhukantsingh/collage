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9" r:id="rId4"/>
    <p:sldId id="261" r:id="rId5"/>
    <p:sldId id="262" r:id="rId6"/>
    <p:sldId id="265" r:id="rId7"/>
    <p:sldId id="270" r:id="rId8"/>
    <p:sldId id="271" r:id="rId9"/>
    <p:sldId id="273" r:id="rId10"/>
    <p:sldId id="274" r:id="rId11"/>
    <p:sldId id="276" r:id="rId12"/>
    <p:sldId id="27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84314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warmly. Introduce yourself, your role, and the company briefly. Set expectations: this is not a lecture — it is a real, practical look at what happens after they graduate. Mention that by the end of 30 minutes they will understand what software development actually looks like in the industry, what they should learn, and what they should build before graduating. Keep energy high and conversational from slide 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of the five skills briefly with a real example from your own work: a time you had to break down a messy problem, a time fundamentals saved you, a time you had to explain a technical decision to a non-technical person, a time teamwork mattered on a sprint, and a time AI tools sped you up. End on the takeaway quote — pause on it for a beat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four mistakes conversationally, using humor — these are patterns you have genuinely seen in interns/juniors. 1) Trying to learn every framework at once leads to shallow knowledge everywhere; pick a lane. 2) Passive tutorial-watching feels like progress but is not the same as the build-break-fix loop that actually creates skill. 3) "I have time" is the most dangerous sentence a 4th-year can say — placements arrive faster than expected. 4) A stack of certificates says you finished a course; a GitHub repo says you can actually build. Encourage self-reflection, not shame — most students in the room are doing at least one of these.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quickly — don't read every row aloud, just highlight 2-3 paths that seem most relevant to this audience. Emphasize that the "Start With" column is genuinely the starting point, not the whole syllabus — depth in these fundamentals is what unlocks everything else in that path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short, punchy transition slide — let it breathe, don't over-explain. The point: AI is now part of the job, not a threat to it. Developers who know how to direct AI well will ship faster than developers who ignore it, and developers who blindly trust it without understanding the output will get left behind either way. Sets up the next two slides on how to actually use AI well.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nine stages left to right, using the short caption under each as your talking point. Client Idea: someone has a business problem. Requirements: turning a vague idea into a concrete spec. Planning: deciding the technical approach and timeline. UI/UX Design: mockups before a single line of code. Development: where students spend 100% of their college time but which is really just one stage. Testing/QA: catching what breaks before the user does. Deployment: shipping it live. Monitoring: watching it in production. Maintenance: the software's life continues long after launch — this is often the majority of a developer's career workload.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 slide — keep it on screen while you actually open an AI tool and prompt it live in front of the class using the Student Event Management Dashboard idea (or swap in whatever tool/idea you plan to demo). Narrate your prompt choices out loud so students see the thinking, not just the output. Land on the closing line: if a working prototype can appear in minutes today, learning to work with AI is no longer optional.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humor here — to-do apps, weather apps, and calculator clones are what every recruiter has seen a thousand times. The point isn't that these domains are mandatory, it's that picking a domain with real complexity (payments, roles, real-time data, matching logic) gives students something meaningfully harder — and more interesting to talk about in an interview — than a tutorial clone.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developer's professional identity lives in three places today. LinkedIn is how recruiters and future colleagues find and vet you — treat it like a professional network, not a resume PDF. GitHub is where your actual work speaks for itself — commits, READMEs, and real projects. Resume should emphasize impact and outcomes over just a list of technology names. The example names shown are illustrative placeholders only.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nine steps as a genuine sequence students can start today, not someday. Emphasize step 9 especially — applying, interviewing, and learning from rejection is itself a repeatable loop, not a one-shot event. This roadmap is meant to be a slide they might screenshot.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these five as the one thing you want students to still remember a month from now, even if they forget everything else. Read them with real pauses between each. End on the closing line as a direct call to action before opening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genuinely — invite questions on career direction, day-to-day development work, AI tools, project ideas, or what it's actually like working at the company. If the room is quiet, prompt with one or two questions you commonly get from students, e.g. "What's one thing you wish you'd built before graduating?"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logoTwsLight.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8" Type="http://schemas.openxmlformats.org/officeDocument/2006/relationships/image" Target="../media/logoTws.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7" Type="http://schemas.openxmlformats.org/officeDocument/2006/relationships/image" Target="../media/logoTws.png"/></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10" Type="http://schemas.openxmlformats.org/officeDocument/2006/relationships/image" Target="../media/image3.png"/><Relationship Id="rId4" Type="http://schemas.openxmlformats.org/officeDocument/2006/relationships/image" Target="../media/image12.png"/><Relationship Id="rId9" Type="http://schemas.openxmlformats.org/officeDocument/2006/relationships/image" Target="../media/image16.png"/><Relationship Id="rId11" Type="http://schemas.openxmlformats.org/officeDocument/2006/relationships/image" Target="../media/logoTws.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7.png"/><Relationship Id="rId5" Type="http://schemas.openxmlformats.org/officeDocument/2006/relationships/image" Target="../media/logoTwsLight.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8.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13.png"/><Relationship Id="rId5" Type="http://schemas.openxmlformats.org/officeDocument/2006/relationships/image" Target="../media/image20.png"/><Relationship Id="rId10" Type="http://schemas.openxmlformats.org/officeDocument/2006/relationships/image" Target="../media/image23.png"/><Relationship Id="rId4" Type="http://schemas.openxmlformats.org/officeDocument/2006/relationships/image" Target="../media/image19.png"/><Relationship Id="rId9" Type="http://schemas.openxmlformats.org/officeDocument/2006/relationships/image" Target="../media/image22.png"/><Relationship Id="rId12" Type="http://schemas.openxmlformats.org/officeDocument/2006/relationships/image" Target="../media/logoTws.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6.png"/><Relationship Id="rId6" Type="http://schemas.openxmlformats.org/officeDocument/2006/relationships/image" Target="../media/logoTws.png"/></Relationships>
</file>

<file path=ppt/slides/_rels/slide8.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12"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3" Type="http://schemas.openxmlformats.org/officeDocument/2006/relationships/image" Target="../media/logoTws.png"/></Relationships>
</file>

<file path=ppt/slides/_rels/slide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 Id="rId6" Type="http://schemas.openxmlformats.org/officeDocument/2006/relationships/image" Target="../media/logoTws.png"/></Relationships>
</file>

<file path=ppt/slides/_rels/slide10.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37.png"/><Relationship Id="rId5" Type="http://schemas.openxmlformats.org/officeDocument/2006/relationships/image" Target="../media/image1.png"/><Relationship Id="rId10" Type="http://schemas.openxmlformats.org/officeDocument/2006/relationships/image" Target="../media/image4.png"/><Relationship Id="rId4" Type="http://schemas.openxmlformats.org/officeDocument/2006/relationships/image" Target="../media/image8.png"/><Relationship Id="rId9" Type="http://schemas.openxmlformats.org/officeDocument/2006/relationships/image" Target="../media/image36.png"/><Relationship Id="rId12" Type="http://schemas.openxmlformats.org/officeDocument/2006/relationships/image" Target="../media/logoTws.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2.png"/><Relationship Id="rId8" Type="http://schemas.openxmlformats.org/officeDocument/2006/relationships/image" Target="../media/logoTwsLight.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logoTwsLight.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8869680" y="640080"/>
            <a:ext cx="45720" cy="45720"/>
          </a:xfrm>
          <a:prstGeom prst="ellipse">
            <a:avLst/>
          </a:prstGeom>
          <a:solidFill>
            <a:srgbClr val="2A334A"/>
          </a:solidFill>
          <a:ln/>
        </p:spPr>
      </p:sp>
      <p:sp>
        <p:nvSpPr>
          <p:cNvPr id="3" name="Shape 1"/>
          <p:cNvSpPr/>
          <p:nvPr/>
        </p:nvSpPr>
        <p:spPr>
          <a:xfrm>
            <a:off x="9162288" y="640080"/>
            <a:ext cx="45720" cy="45720"/>
          </a:xfrm>
          <a:prstGeom prst="ellipse">
            <a:avLst/>
          </a:prstGeom>
          <a:solidFill>
            <a:srgbClr val="2A334A"/>
          </a:solidFill>
          <a:ln/>
        </p:spPr>
      </p:sp>
      <p:sp>
        <p:nvSpPr>
          <p:cNvPr id="4" name="Shape 2"/>
          <p:cNvSpPr/>
          <p:nvPr/>
        </p:nvSpPr>
        <p:spPr>
          <a:xfrm>
            <a:off x="9454896" y="640080"/>
            <a:ext cx="45720" cy="45720"/>
          </a:xfrm>
          <a:prstGeom prst="ellipse">
            <a:avLst/>
          </a:prstGeom>
          <a:solidFill>
            <a:srgbClr val="2A334A"/>
          </a:solidFill>
          <a:ln/>
        </p:spPr>
      </p:sp>
      <p:sp>
        <p:nvSpPr>
          <p:cNvPr id="5" name="Shape 3"/>
          <p:cNvSpPr/>
          <p:nvPr/>
        </p:nvSpPr>
        <p:spPr>
          <a:xfrm>
            <a:off x="8869680" y="932688"/>
            <a:ext cx="45720" cy="45720"/>
          </a:xfrm>
          <a:prstGeom prst="ellipse">
            <a:avLst/>
          </a:prstGeom>
          <a:solidFill>
            <a:srgbClr val="2A334A"/>
          </a:solidFill>
          <a:ln/>
        </p:spPr>
      </p:sp>
      <p:sp>
        <p:nvSpPr>
          <p:cNvPr id="6" name="Shape 4"/>
          <p:cNvSpPr/>
          <p:nvPr/>
        </p:nvSpPr>
        <p:spPr>
          <a:xfrm>
            <a:off x="9162288" y="932688"/>
            <a:ext cx="45720" cy="45720"/>
          </a:xfrm>
          <a:prstGeom prst="ellipse">
            <a:avLst/>
          </a:prstGeom>
          <a:solidFill>
            <a:srgbClr val="2A334A"/>
          </a:solidFill>
          <a:ln/>
        </p:spPr>
      </p:sp>
      <p:sp>
        <p:nvSpPr>
          <p:cNvPr id="7" name="Shape 5"/>
          <p:cNvSpPr/>
          <p:nvPr/>
        </p:nvSpPr>
        <p:spPr>
          <a:xfrm>
            <a:off x="9454896" y="932688"/>
            <a:ext cx="45720" cy="45720"/>
          </a:xfrm>
          <a:prstGeom prst="ellipse">
            <a:avLst/>
          </a:prstGeom>
          <a:solidFill>
            <a:srgbClr val="2A334A"/>
          </a:solidFill>
          <a:ln/>
        </p:spPr>
      </p:sp>
      <p:sp>
        <p:nvSpPr>
          <p:cNvPr id="8" name="Shape 6"/>
          <p:cNvSpPr/>
          <p:nvPr/>
        </p:nvSpPr>
        <p:spPr>
          <a:xfrm>
            <a:off x="822960" y="868680"/>
            <a:ext cx="2331720" cy="384048"/>
          </a:xfrm>
          <a:prstGeom prst="roundRect">
            <a:avLst>
              <a:gd name="adj" fmla="val 50000"/>
            </a:avLst>
          </a:prstGeom>
          <a:ln w="15875">
            <a:solidFill>
              <a:srgbClr val="2DD4E8"/>
            </a:solidFill>
            <a:prstDash val="solid"/>
          </a:ln>
        </p:spPr>
      </p:sp>
      <p:sp>
        <p:nvSpPr>
          <p:cNvPr id="9" name="Text 7"/>
          <p:cNvSpPr txBox="1"/>
          <p:nvPr/>
        </p:nvSpPr>
        <p:spPr>
          <a:xfrm>
            <a:off x="822960" y="868680"/>
            <a:ext cx="2331720" cy="384048"/>
          </a:xfrm>
          <a:prstGeom prst="rect">
            <a:avLst/>
          </a:prstGeom>
          <a:noFill/>
          <a:ln/>
        </p:spPr>
        <p:txBody>
          <a:bodyPr wrap="square" lIns="0" tIns="0" rIns="0" bIns="0" rtlCol="0" anchor="ctr"/>
          <a:lstStyle/>
          <a:p>
            <a:pPr marL="0" indent="0" algn="ctr">
              <a:buNone/>
            </a:pPr>
            <a:r>
              <a:rPr lang="en-US" sz="1100" b="1" kern="0" spc="100" dirty="0">
                <a:solidFill>
                  <a:srgbClr val="67E8F9"/>
                </a:solidFill>
                <a:latin typeface="Courier New" pitchFamily="34" charset="0"/>
                <a:ea typeface="Courier New" pitchFamily="34" charset="-122"/>
                <a:cs typeface="Courier New" pitchFamily="34" charset="-120"/>
              </a:rPr>
              <a:t>&lt;/&gt; INDUSTRIAL VISIT</a:t>
            </a:r>
            <a:endParaRPr lang="en-US" sz="1100" dirty="0"/>
          </a:p>
        </p:txBody>
      </p:sp>
      <p:sp>
        <p:nvSpPr>
          <p:cNvPr id="10" name="Text 8"/>
          <p:cNvSpPr txBox="1"/>
          <p:nvPr/>
        </p:nvSpPr>
        <p:spPr>
          <a:xfrm>
            <a:off x="822960" y="1600200"/>
            <a:ext cx="7955280" cy="868680"/>
          </a:xfrm>
          <a:prstGeom prst="rect">
            <a:avLst/>
          </a:prstGeom>
          <a:noFill/>
          <a:ln/>
        </p:spPr>
        <p:txBody>
          <a:bodyPr wrap="square" lIns="0" tIns="0" rIns="0" bIns="0" rtlCol="0" anchor="ctr"/>
          <a:lstStyle/>
          <a:p>
            <a:pPr marL="0" indent="0">
              <a:buNone/>
            </a:pPr>
            <a:r>
              <a:rPr lang="en-US" sz="4600" b="1" kern="0" spc="50" dirty="0">
                <a:solidFill>
                  <a:srgbClr val="FFFFFF"/>
                </a:solidFill>
                <a:latin typeface="Arial" pitchFamily="34" charset="0"/>
                <a:ea typeface="Arial" pitchFamily="34" charset="-122"/>
                <a:cs typeface="Arial" pitchFamily="34" charset="-120"/>
              </a:rPr>
              <a:t>FROM COLLEGE</a:t>
            </a:r>
            <a:endParaRPr lang="en-US" sz="4600" dirty="0"/>
          </a:p>
        </p:txBody>
      </p:sp>
      <p:sp>
        <p:nvSpPr>
          <p:cNvPr id="11" name="Text 9"/>
          <p:cNvSpPr txBox="1"/>
          <p:nvPr/>
        </p:nvSpPr>
        <p:spPr>
          <a:xfrm>
            <a:off x="822960" y="2377440"/>
            <a:ext cx="7955280" cy="868680"/>
          </a:xfrm>
          <a:prstGeom prst="rect">
            <a:avLst/>
          </a:prstGeom>
          <a:noFill/>
          <a:ln/>
        </p:spPr>
        <p:txBody>
          <a:bodyPr wrap="square" lIns="0" tIns="0" rIns="0" bIns="0" rtlCol="0" anchor="ctr"/>
          <a:lstStyle/>
          <a:p>
            <a:pPr marL="0" indent="0">
              <a:buNone/>
            </a:pPr>
            <a:r>
              <a:rPr lang="en-US" sz="4600" b="1" kern="0" spc="50" dirty="0">
                <a:solidFill>
                  <a:srgbClr val="FFFFFF"/>
                </a:solidFill>
                <a:latin typeface="Arial" pitchFamily="34" charset="0"/>
                <a:ea typeface="Arial" pitchFamily="34" charset="-122"/>
                <a:cs typeface="Arial" pitchFamily="34" charset="-120"/>
              </a:rPr>
              <a:t>TO CODE</a:t>
            </a:r>
            <a:endParaRPr lang="en-US" sz="4600" dirty="0"/>
          </a:p>
        </p:txBody>
      </p:sp>
      <p:sp>
        <p:nvSpPr>
          <p:cNvPr id="12" name="Text 10"/>
          <p:cNvSpPr txBox="1"/>
          <p:nvPr/>
        </p:nvSpPr>
        <p:spPr>
          <a:xfrm>
            <a:off x="822960" y="3291840"/>
            <a:ext cx="7955280" cy="640080"/>
          </a:xfrm>
          <a:prstGeom prst="rect">
            <a:avLst/>
          </a:prstGeom>
          <a:noFill/>
          <a:ln/>
        </p:spPr>
        <p:txBody>
          <a:bodyPr wrap="square" lIns="0" tIns="0" rIns="0" bIns="0" rtlCol="0" anchor="ctr"/>
          <a:lstStyle/>
          <a:p>
            <a:pPr marL="0" indent="0">
              <a:buNone/>
            </a:pPr>
            <a:r>
              <a:rPr lang="en-US" sz="2400" b="1" dirty="0">
                <a:solidFill>
                  <a:srgbClr val="22D3EE"/>
                </a:solidFill>
                <a:latin typeface="Arial" pitchFamily="34" charset="0"/>
                <a:ea typeface="Arial" pitchFamily="34" charset="-122"/>
                <a:cs typeface="Arial" pitchFamily="34" charset="-120"/>
              </a:rPr>
              <a:t>How Software Actually Gets Built</a:t>
            </a:r>
            <a:endParaRPr lang="en-US" sz="2400" dirty="0"/>
          </a:p>
        </p:txBody>
      </p:sp>
      <p:sp>
        <p:nvSpPr>
          <p:cNvPr id="13" name="Shape 11"/>
          <p:cNvSpPr/>
          <p:nvPr/>
        </p:nvSpPr>
        <p:spPr>
          <a:xfrm>
            <a:off x="868680" y="4160520"/>
            <a:ext cx="3794760" cy="9144"/>
          </a:xfrm>
          <a:prstGeom prst="line">
            <a:avLst/>
          </a:prstGeom>
          <a:noFill/>
          <a:ln w="19050">
            <a:solidFill>
              <a:srgbClr val="2A334A"/>
            </a:solidFill>
            <a:prstDash val="solid"/>
          </a:ln>
        </p:spPr>
      </p:sp>
      <p:sp>
        <p:nvSpPr>
          <p:cNvPr id="14" name="Text 12"/>
          <p:cNvSpPr txBox="1"/>
          <p:nvPr/>
        </p:nvSpPr>
        <p:spPr>
          <a:xfrm>
            <a:off x="822960" y="4297680"/>
            <a:ext cx="7955280" cy="365760"/>
          </a:xfrm>
          <a:prstGeom prst="rect">
            <a:avLst/>
          </a:prstGeom>
          <a:noFill/>
          <a:ln/>
        </p:spPr>
        <p:txBody>
          <a:bodyPr wrap="square" lIns="0" tIns="0" rIns="0" bIns="0" rtlCol="0" anchor="ctr"/>
          <a:lstStyle/>
          <a:p>
            <a:pPr marL="0" indent="0">
              <a:buNone/>
            </a:pPr>
            <a:r>
              <a:rPr lang="en-US" sz="1300" kern="0" spc="200" dirty="0">
                <a:solidFill>
                  <a:srgbClr val="94A3B8"/>
                </a:solidFill>
                <a:latin typeface="Courier New" pitchFamily="34" charset="0"/>
                <a:ea typeface="Courier New" pitchFamily="34" charset="-122"/>
                <a:cs typeface="Courier New" pitchFamily="34" charset="-120"/>
              </a:rPr>
              <a:t>AN INSIDE LOOK AT THE IT INDUSTRY</a:t>
            </a:r>
            <a:endParaRPr lang="en-US" sz="1300" dirty="0"/>
          </a:p>
        </p:txBody>
      </p:sp>
      <p:sp>
        <p:nvSpPr>
          <p:cNvPr id="15" name="Shape 13"/>
          <p:cNvSpPr/>
          <p:nvPr/>
        </p:nvSpPr>
        <p:spPr>
          <a:xfrm>
            <a:off x="822960" y="5989320"/>
            <a:ext cx="2029968" cy="384048"/>
          </a:xfrm>
          <a:prstGeom prst="roundRect">
            <a:avLst>
              <a:gd name="adj" fmla="val 50000"/>
            </a:avLst>
          </a:prstGeom>
          <a:solidFill>
            <a:srgbClr val="161D2E"/>
          </a:solidFill>
          <a:ln/>
        </p:spPr>
      </p:sp>
      <p:sp>
        <p:nvSpPr>
          <p:cNvPr id="16" name="Text 14"/>
          <p:cNvSpPr txBox="1"/>
          <p:nvPr/>
        </p:nvSpPr>
        <p:spPr>
          <a:xfrm>
            <a:off x="822960" y="5980176"/>
            <a:ext cx="2029968" cy="384048"/>
          </a:xfrm>
          <a:prstGeom prst="rect">
            <a:avLst/>
          </a:prstGeom>
          <a:noFill/>
          <a:ln/>
        </p:spPr>
        <p:txBody>
          <a:bodyPr wrap="square" lIns="0" tIns="0" rIns="0" bIns="0" rtlCol="0" anchor="ctr"/>
          <a:lstStyle/>
          <a:p>
            <a:pPr marL="0" indent="0" algn="ctr">
              <a:buNone/>
            </a:pPr>
            <a:r>
              <a:rPr lang="en-US" sz="1150" b="1" kern="0" spc="50" dirty="0">
                <a:solidFill>
                  <a:srgbClr val="E2E8F0"/>
                </a:solidFill>
                <a:latin typeface="Courier New" pitchFamily="34" charset="0"/>
                <a:ea typeface="Courier New" pitchFamily="34" charset="-122"/>
                <a:cs typeface="Courier New" pitchFamily="34" charset="-120"/>
              </a:rPr>
              <a:t>Tekki Web Solutions</a:t>
            </a:r>
            <a:endParaRPr lang="en-US" sz="1150" dirty="0"/>
          </a:p>
        </p:txBody>
      </p:sp>
      <p:sp>
        <p:nvSpPr>
          <p:cNvPr id="19" name="Shape 17"/>
          <p:cNvSpPr/>
          <p:nvPr/>
        </p:nvSpPr>
        <p:spPr>
          <a:xfrm>
            <a:off x="5285232" y="5989320"/>
            <a:ext cx="2734056" cy="384048"/>
          </a:xfrm>
          <a:prstGeom prst="roundRect">
            <a:avLst>
              <a:gd name="adj" fmla="val 50000"/>
            </a:avLst>
          </a:prstGeom>
          <a:solidFill>
            <a:srgbClr val="7C3AED"/>
          </a:solidFill>
          <a:ln/>
        </p:spPr>
      </p:sp>
      <p:sp>
        <p:nvSpPr>
          <p:cNvPr id="20" name="Text 18"/>
          <p:cNvSpPr txBox="1"/>
          <p:nvPr/>
        </p:nvSpPr>
        <p:spPr>
          <a:xfrm>
            <a:off x="5285232" y="5980176"/>
            <a:ext cx="2734056" cy="384048"/>
          </a:xfrm>
          <a:prstGeom prst="rect">
            <a:avLst/>
          </a:prstGeom>
          <a:noFill/>
          <a:ln/>
        </p:spPr>
        <p:txBody>
          <a:bodyPr wrap="square" lIns="0" tIns="0" rIns="0" bIns="0" rtlCol="0" anchor="ctr"/>
          <a:lstStyle/>
          <a:p>
            <a:pPr marL="0" indent="0" algn="ctr">
              <a:buNone/>
            </a:pPr>
            <a:r>
              <a:rPr lang="en-US" sz="1150" b="1" kern="0" spc="50" dirty="0">
                <a:solidFill>
                  <a:srgbClr val="FFFFFF"/>
                </a:solidFill>
                <a:latin typeface="Courier New" pitchFamily="34" charset="0"/>
                <a:ea typeface="Courier New" pitchFamily="34" charset="-122"/>
                <a:cs typeface="Courier New" pitchFamily="34" charset="-120"/>
              </a:rPr>
              <a:t>INDUSTRIAL VISIT PROGRAM</a:t>
            </a:r>
            <a:endParaRPr lang="en-US" sz="1150" dirty="0"/>
          </a:p>
        </p:txBody>
      </p:sp>
      <p:sp>
        <p:nvSpPr>
          <p:cNvPr id="21" name="Shape 19"/>
          <p:cNvSpPr/>
          <p:nvPr/>
        </p:nvSpPr>
        <p:spPr>
          <a:xfrm>
            <a:off x="9052560" y="2011680"/>
            <a:ext cx="2468880" cy="3383280"/>
          </a:xfrm>
          <a:prstGeom prst="roundRect">
            <a:avLst>
              <a:gd name="adj" fmla="val 4444"/>
            </a:avLst>
          </a:prstGeom>
          <a:solidFill>
            <a:srgbClr val="111726"/>
          </a:solidFill>
          <a:ln w="12700">
            <a:solidFill>
              <a:srgbClr val="232C42"/>
            </a:solidFill>
            <a:prstDash val="solid"/>
          </a:ln>
          <a:effectLst>
            <a:outerShdw blurRad="177800" dist="50800" dir="5400000" algn="bl" rotWithShape="0">
              <a:srgbClr val="0A0E1A">
                <a:alpha val="25000"/>
              </a:srgbClr>
            </a:outerShdw>
          </a:effectLst>
        </p:spPr>
      </p:sp>
      <p:sp>
        <p:nvSpPr>
          <p:cNvPr id="22" name="Text 20"/>
          <p:cNvSpPr txBox="1"/>
          <p:nvPr/>
        </p:nvSpPr>
        <p:spPr>
          <a:xfrm>
            <a:off x="9281160" y="2212848"/>
            <a:ext cx="2103120" cy="274320"/>
          </a:xfrm>
          <a:prstGeom prst="rect">
            <a:avLst/>
          </a:prstGeom>
          <a:noFill/>
          <a:ln/>
        </p:spPr>
        <p:txBody>
          <a:bodyPr wrap="square" lIns="0" tIns="0" rIns="0" bIns="0" rtlCol="0" anchor="ctr"/>
          <a:lstStyle/>
          <a:p>
            <a:pPr marL="0" indent="0">
              <a:buNone/>
            </a:pPr>
            <a:r>
              <a:rPr lang="en-US" sz="1050" dirty="0">
                <a:solidFill>
                  <a:srgbClr val="22D3EE"/>
                </a:solidFill>
                <a:latin typeface="Courier New" pitchFamily="34" charset="0"/>
                <a:ea typeface="Courier New" pitchFamily="34" charset="-122"/>
                <a:cs typeface="Courier New" pitchFamily="34" charset="-120"/>
              </a:rPr>
              <a:t>&gt; whoami</a:t>
            </a:r>
            <a:endParaRPr lang="en-US" sz="1050" dirty="0"/>
          </a:p>
        </p:txBody>
      </p:sp>
      <p:sp>
        <p:nvSpPr>
          <p:cNvPr id="23" name="Text 21"/>
          <p:cNvSpPr txBox="1"/>
          <p:nvPr/>
        </p:nvSpPr>
        <p:spPr>
          <a:xfrm>
            <a:off x="9281160" y="2450592"/>
            <a:ext cx="2103120" cy="274320"/>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future_developer</a:t>
            </a:r>
            <a:endParaRPr lang="en-US" sz="950" dirty="0"/>
          </a:p>
        </p:txBody>
      </p:sp>
      <p:sp>
        <p:nvSpPr>
          <p:cNvPr id="24" name="Text 22"/>
          <p:cNvSpPr txBox="1"/>
          <p:nvPr/>
        </p:nvSpPr>
        <p:spPr>
          <a:xfrm>
            <a:off x="9281160" y="2834640"/>
            <a:ext cx="2103120" cy="274320"/>
          </a:xfrm>
          <a:prstGeom prst="rect">
            <a:avLst/>
          </a:prstGeom>
          <a:noFill/>
          <a:ln/>
        </p:spPr>
        <p:txBody>
          <a:bodyPr wrap="square" lIns="0" tIns="0" rIns="0" bIns="0" rtlCol="0" anchor="ctr"/>
          <a:lstStyle/>
          <a:p>
            <a:pPr marL="0" indent="0">
              <a:buNone/>
            </a:pPr>
            <a:r>
              <a:rPr lang="en-US" sz="1050" dirty="0">
                <a:solidFill>
                  <a:srgbClr val="22D3EE"/>
                </a:solidFill>
                <a:latin typeface="Courier New" pitchFamily="34" charset="0"/>
                <a:ea typeface="Courier New" pitchFamily="34" charset="-122"/>
                <a:cs typeface="Courier New" pitchFamily="34" charset="-120"/>
              </a:rPr>
              <a:t>&gt; status</a:t>
            </a:r>
            <a:endParaRPr lang="en-US" sz="1050" dirty="0"/>
          </a:p>
        </p:txBody>
      </p:sp>
      <p:sp>
        <p:nvSpPr>
          <p:cNvPr id="25" name="Text 23"/>
          <p:cNvSpPr txBox="1"/>
          <p:nvPr/>
        </p:nvSpPr>
        <p:spPr>
          <a:xfrm>
            <a:off x="9281160" y="3072384"/>
            <a:ext cx="2103120" cy="502920"/>
          </a:xfrm>
          <a:prstGeom prst="rect">
            <a:avLst/>
          </a:prstGeom>
          <a:noFill/>
          <a:ln/>
        </p:spPr>
        <p:txBody>
          <a:bodyPr wrap="square" lIns="0" tIns="0" rIns="0" bIns="0" rtlCol="0" anchor="ctr"/>
          <a:lstStyle/>
          <a:p>
            <a:pPr marL="0" indent="0">
              <a:buNone/>
            </a:pPr>
            <a:r>
              <a:rPr lang="en-US" sz="950" dirty="0">
                <a:solidFill>
                  <a:srgbClr val="CBD5E1"/>
                </a:solidFill>
                <a:latin typeface="Courier New" pitchFamily="34" charset="0"/>
                <a:ea typeface="Courier New" pitchFamily="34" charset="-122"/>
                <a:cs typeface="Courier New" pitchFamily="34" charset="-120"/>
              </a:rPr>
              <a:t>college == 100%</a:t>
            </a:r>
            <a:endParaRPr lang="en-US" sz="950" dirty="0"/>
          </a:p>
          <a:p>
            <a:pPr marL="0" indent="0">
              <a:buNone/>
            </a:pPr>
            <a:r>
              <a:rPr lang="en-US" sz="950" dirty="0">
                <a:solidFill>
                  <a:srgbClr val="CBD5E1"/>
                </a:solidFill>
                <a:latin typeface="Courier New" pitchFamily="34" charset="0"/>
                <a:ea typeface="Courier New" pitchFamily="34" charset="-122"/>
                <a:cs typeface="Courier New" pitchFamily="34" charset="-120"/>
              </a:rPr>
              <a:t>industry == 0%</a:t>
            </a:r>
            <a:endParaRPr lang="en-US" sz="950" dirty="0"/>
          </a:p>
        </p:txBody>
      </p:sp>
      <p:sp>
        <p:nvSpPr>
          <p:cNvPr id="26" name="Text 24"/>
          <p:cNvSpPr txBox="1"/>
          <p:nvPr/>
        </p:nvSpPr>
        <p:spPr>
          <a:xfrm>
            <a:off x="9281160" y="3657600"/>
            <a:ext cx="2103120" cy="274320"/>
          </a:xfrm>
          <a:prstGeom prst="rect">
            <a:avLst/>
          </a:prstGeom>
          <a:noFill/>
          <a:ln/>
        </p:spPr>
        <p:txBody>
          <a:bodyPr wrap="square" lIns="0" tIns="0" rIns="0" bIns="0" rtlCol="0" anchor="ctr"/>
          <a:lstStyle/>
          <a:p>
            <a:pPr marL="0" indent="0">
              <a:buNone/>
            </a:pPr>
            <a:r>
              <a:rPr lang="en-US" sz="1050" dirty="0">
                <a:solidFill>
                  <a:srgbClr val="22D3EE"/>
                </a:solidFill>
                <a:latin typeface="Courier New" pitchFamily="34" charset="0"/>
                <a:ea typeface="Courier New" pitchFamily="34" charset="-122"/>
                <a:cs typeface="Courier New" pitchFamily="34" charset="-120"/>
              </a:rPr>
              <a:t>&gt; loading</a:t>
            </a:r>
            <a:endParaRPr lang="en-US" sz="1050" dirty="0"/>
          </a:p>
        </p:txBody>
      </p:sp>
      <p:sp>
        <p:nvSpPr>
          <p:cNvPr id="27" name="Text 25"/>
          <p:cNvSpPr txBox="1"/>
          <p:nvPr/>
        </p:nvSpPr>
        <p:spPr>
          <a:xfrm>
            <a:off x="9281160" y="3895344"/>
            <a:ext cx="2103120" cy="274320"/>
          </a:xfrm>
          <a:prstGeom prst="rect">
            <a:avLst/>
          </a:prstGeom>
          <a:noFill/>
          <a:ln/>
        </p:spPr>
        <p:txBody>
          <a:bodyPr wrap="square" lIns="0" tIns="0" rIns="0" bIns="0" rtlCol="0" anchor="ctr"/>
          <a:lstStyle/>
          <a:p>
            <a:pPr marL="0" indent="0">
              <a:buNone/>
            </a:pPr>
            <a:r>
              <a:rPr lang="en-US" sz="950" dirty="0">
                <a:solidFill>
                  <a:srgbClr val="FB923C"/>
                </a:solidFill>
                <a:latin typeface="Courier New" pitchFamily="34" charset="0"/>
                <a:ea typeface="Courier New" pitchFamily="34" charset="-122"/>
                <a:cs typeface="Courier New" pitchFamily="34" charset="-120"/>
              </a:rPr>
              <a:t>reality_check.exe</a:t>
            </a:r>
            <a:endParaRPr lang="en-US" sz="950" dirty="0"/>
          </a:p>
        </p:txBody>
      </p:sp>
      <p:sp>
        <p:nvSpPr>
          <p:cNvPr id="28" name="Shape 26"/>
          <p:cNvSpPr/>
          <p:nvPr/>
        </p:nvSpPr>
        <p:spPr>
          <a:xfrm>
            <a:off x="9921240" y="4389120"/>
            <a:ext cx="731520" cy="731520"/>
          </a:xfrm>
          <a:prstGeom prst="ellipse">
            <a:avLst/>
          </a:prstGeom>
          <a:solidFill>
            <a:srgbClr val="22D3EE"/>
          </a:solidFill>
          <a:ln/>
        </p:spPr>
      </p:sp>
      <p:pic>
        <p:nvPicPr>
          <p:cNvPr id="29" name="Image 0" descr="/home/claude/icons/code.png"/>
          <p:cNvPicPr>
            <a:picLocks noChangeAspect="1"/>
          </p:cNvPicPr>
          <p:nvPr/>
        </p:nvPicPr>
        <p:blipFill>
          <a:blip r:embed="rId3"/>
          <a:stretch>
            <a:fillRect/>
          </a:stretch>
        </p:blipFill>
        <p:spPr>
          <a:xfrm>
            <a:off x="10104120" y="4572000"/>
            <a:ext cx="365760" cy="365760"/>
          </a:xfrm>
          <a:prstGeom prst="rect">
            <a:avLst/>
          </a:prstGeom>
        </p:spPr>
      </p:pic>
      <p:pic>
        <p:nvPicPr>
          <p:cNvPr id="30" name="TWS Logo" descr="Tekki Web Solutions logo"/>
          <p:cNvPicPr>
            <a:picLocks noChangeAspect="1"/>
          </p:cNvPicPr>
          <p:nvPr/>
        </p:nvPicPr>
        <p:blipFill>
          <a:blip r:embed="rId4"/>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5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50"/>
                                        <p:tgtEl>
                                          <p:spTgt spid="9"/>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450"/>
                                        <p:tgtEl>
                                          <p:spTgt spid="2"/>
                                        </p:tgtEl>
                                      </p:cBhvr>
                                    </p:animEffect>
                                  </p:childTnLst>
                                </p:cTn>
                              </p:par>
                              <p:par>
                                <p:cTn id="14" presetID="10" presetClass="entr" presetSubtype="0" fill="hold" grpId="0" nodeType="withEffect">
                                  <p:stCondLst>
                                    <p:cond delay="13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450"/>
                                        <p:tgtEl>
                                          <p:spTgt spid="3"/>
                                        </p:tgtEl>
                                      </p:cBhvr>
                                    </p:animEffect>
                                  </p:childTnLst>
                                </p:cTn>
                              </p:par>
                              <p:par>
                                <p:cTn id="17" presetID="10" presetClass="entr" presetSubtype="0" fill="hold" grpId="0" nodeType="withEffect">
                                  <p:stCondLst>
                                    <p:cond delay="13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450"/>
                                        <p:tgtEl>
                                          <p:spTgt spid="4"/>
                                        </p:tgtEl>
                                      </p:cBhvr>
                                    </p:animEffect>
                                  </p:childTnLst>
                                </p:cTn>
                              </p:par>
                              <p:par>
                                <p:cTn id="20" presetID="10" presetClass="entr" presetSubtype="0" fill="hold" grpId="0" nodeType="withEffect">
                                  <p:stCondLst>
                                    <p:cond delay="13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childTnLst>
                                </p:cTn>
                              </p:par>
                              <p:par>
                                <p:cTn id="23" presetID="10" presetClass="entr" presetSubtype="0" fill="hold" grpId="0" nodeType="withEffect">
                                  <p:stCondLst>
                                    <p:cond delay="13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450"/>
                                        <p:tgtEl>
                                          <p:spTgt spid="6"/>
                                        </p:tgtEl>
                                      </p:cBhvr>
                                    </p:animEffect>
                                  </p:childTnLst>
                                </p:cTn>
                              </p:par>
                              <p:par>
                                <p:cTn id="26" presetID="10" presetClass="entr" presetSubtype="0" fill="hold" grpId="0" nodeType="withEffect">
                                  <p:stCondLst>
                                    <p:cond delay="13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450"/>
                                        <p:tgtEl>
                                          <p:spTgt spid="7"/>
                                        </p:tgtEl>
                                      </p:cBhvr>
                                    </p:animEffect>
                                  </p:childTnLst>
                                </p:cTn>
                              </p:par>
                              <p:par>
                                <p:cTn id="29" presetID="10" presetClass="entr" presetSubtype="0" fill="hold" grpId="0" nodeType="withEffect">
                                  <p:stCondLst>
                                    <p:cond delay="2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450"/>
                                        <p:tgtEl>
                                          <p:spTgt spid="21"/>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50"/>
                                        <p:tgtEl>
                                          <p:spTgt spid="22"/>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39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39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39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par>
                                <p:cTn id="50" presetID="10" presetClass="entr" presetSubtype="0" fill="hold" grpId="0" nodeType="withEffect">
                                  <p:stCondLst>
                                    <p:cond delay="39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50"/>
                                        <p:tgtEl>
                                          <p:spTgt spid="27"/>
                                        </p:tgtEl>
                                      </p:cBhvr>
                                    </p:animEffect>
                                  </p:childTnLst>
                                </p:cTn>
                              </p:par>
                              <p:par>
                                <p:cTn id="53" presetID="10" presetClass="entr" presetSubtype="0" fill="hold" grpId="0" nodeType="withEffect">
                                  <p:stCondLst>
                                    <p:cond delay="39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50"/>
                                        <p:tgtEl>
                                          <p:spTgt spid="28"/>
                                        </p:tgtEl>
                                      </p:cBhvr>
                                    </p:animEffect>
                                  </p:childTnLst>
                                </p:cTn>
                              </p:par>
                              <p:par>
                                <p:cTn id="56" presetID="10" presetClass="entr" presetSubtype="0" fill="hold" grpId="0" nodeType="withEffect">
                                  <p:stCondLst>
                                    <p:cond delay="39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50"/>
                                        <p:tgtEl>
                                          <p:spTgt spid="29"/>
                                        </p:tgtEl>
                                      </p:cBhvr>
                                    </p:animEffect>
                                  </p:childTnLst>
                                </p:cTn>
                              </p:par>
                              <p:par>
                                <p:cTn id="59" presetID="10" presetClass="entr" presetSubtype="0" fill="hold" grpId="0" nodeType="withEffect">
                                  <p:stCondLst>
                                    <p:cond delay="52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450"/>
                                        <p:tgtEl>
                                          <p:spTgt spid="11"/>
                                        </p:tgtEl>
                                      </p:cBhvr>
                                    </p:animEffect>
                                  </p:childTnLst>
                                </p:cTn>
                              </p:par>
                              <p:par>
                                <p:cTn id="62" presetID="10" presetClass="entr" presetSubtype="0" fill="hold" grpId="0" nodeType="withEffect">
                                  <p:stCondLst>
                                    <p:cond delay="650"/>
                                  </p:stCondLst>
                                  <p:childTnLst>
                                    <p:set>
                                      <p:cBhvr>
                                        <p:cTn id="63" dur="1" fill="hold">
                                          <p:stCondLst>
                                            <p:cond delay="0"/>
                                          </p:stCondLst>
                                        </p:cTn>
                                        <p:tgtEl>
                                          <p:spTgt spid="12"/>
                                        </p:tgtEl>
                                        <p:attrNameLst>
                                          <p:attrName>style.visibility</p:attrName>
                                        </p:attrNameLst>
                                      </p:cBhvr>
                                      <p:to>
                                        <p:strVal val="visible"/>
                                      </p:to>
                                    </p:set>
                                    <p:animEffect transition="in" filter="fade">
                                      <p:cBhvr>
                                        <p:cTn id="64" dur="450"/>
                                        <p:tgtEl>
                                          <p:spTgt spid="12"/>
                                        </p:tgtEl>
                                      </p:cBhvr>
                                    </p:animEffect>
                                  </p:childTnLst>
                                </p:cTn>
                              </p:par>
                              <p:par>
                                <p:cTn id="65" presetID="10" presetClass="entr" presetSubtype="0" fill="hold" grpId="0" nodeType="withEffect">
                                  <p:stCondLst>
                                    <p:cond delay="78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450"/>
                                        <p:tgtEl>
                                          <p:spTgt spid="14"/>
                                        </p:tgtEl>
                                      </p:cBhvr>
                                    </p:animEffect>
                                  </p:childTnLst>
                                </p:cTn>
                              </p:par>
                              <p:par>
                                <p:cTn id="68" presetID="10" presetClass="entr" presetSubtype="0" fill="hold" grpId="0" nodeType="withEffect">
                                  <p:stCondLst>
                                    <p:cond delay="91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450"/>
                                        <p:tgtEl>
                                          <p:spTgt spid="13"/>
                                        </p:tgtEl>
                                      </p:cBhvr>
                                    </p:animEffect>
                                  </p:childTnLst>
                                </p:cTn>
                              </p:par>
                              <p:par>
                                <p:cTn id="71" presetID="10" presetClass="entr" presetSubtype="0" fill="hold" grpId="0" nodeType="withEffect">
                                  <p:stCondLst>
                                    <p:cond delay="104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450"/>
                                        <p:tgtEl>
                                          <p:spTgt spid="16"/>
                                        </p:tgtEl>
                                      </p:cBhvr>
                                    </p:animEffect>
                                  </p:childTnLst>
                                </p:cTn>
                              </p:par>
                              <p:par>
                                <p:cTn id="74" presetID="10" presetClass="entr" presetSubtype="0" fill="hold" grpId="0" nodeType="withEffect">
                                  <p:stCondLst>
                                    <p:cond delay="104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450"/>
                                        <p:tgtEl>
                                          <p:spTgt spid="20"/>
                                        </p:tgtEl>
                                      </p:cBhvr>
                                    </p:animEffect>
                                  </p:childTnLst>
                                </p:cTn>
                              </p:par>
                              <p:par>
                                <p:cTn id="77" presetID="10" presetClass="entr" presetSubtype="0" fill="hold" grpId="0" nodeType="withEffect">
                                  <p:stCondLst>
                                    <p:cond delay="104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450"/>
                                        <p:tgtEl>
                                          <p:spTgt spid="15"/>
                                        </p:tgtEl>
                                      </p:cBhvr>
                                    </p:animEffect>
                                  </p:childTnLst>
                                </p:cTn>
                              </p:par>
                              <p:par>
                                <p:cTn id="80" presetID="10" presetClass="entr" presetSubtype="0" fill="hold" grpId="0" nodeType="withEffect">
                                  <p:stCondLst>
                                    <p:cond delay="104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0E7490"/>
                </a:solidFill>
                <a:latin typeface="Courier New" pitchFamily="34" charset="0"/>
                <a:ea typeface="Courier New" pitchFamily="34" charset="-122"/>
                <a:cs typeface="Courier New" pitchFamily="34" charset="-120"/>
              </a:rPr>
              <a:t>SECTION 01 — BREAK THE COLLEGE BUBBLE</a:t>
            </a:r>
            <a:endParaRPr lang="en-US" sz="1250" dirty="0"/>
          </a:p>
        </p:txBody>
      </p:sp>
      <p:sp>
        <p:nvSpPr>
          <p:cNvPr id="3" name="Text 1"/>
          <p:cNvSpPr txBox="1"/>
          <p:nvPr/>
        </p:nvSpPr>
        <p:spPr>
          <a:xfrm>
            <a:off x="502920" y="841248"/>
            <a:ext cx="10058400" cy="685800"/>
          </a:xfrm>
          <a:prstGeom prst="rect">
            <a:avLst/>
          </a:prstGeom>
          <a:noFill/>
          <a:ln/>
        </p:spPr>
        <p:txBody>
          <a:bodyPr wrap="square" lIns="0" tIns="0" rIns="0" bIns="0" rtlCol="0" anchor="ctr"/>
          <a:lstStyle/>
          <a:p>
            <a:pPr marL="0" indent="0">
              <a:buNone/>
            </a:pPr>
            <a:r>
              <a:rPr lang="en-US" sz="3400" b="1" dirty="0">
                <a:solidFill>
                  <a:srgbClr val="0F172A"/>
                </a:solidFill>
                <a:latin typeface="Arial" pitchFamily="34" charset="0"/>
                <a:ea typeface="Arial" pitchFamily="34" charset="-122"/>
                <a:cs typeface="Arial" pitchFamily="34" charset="-120"/>
              </a:rPr>
              <a:t>Skills That Truly Matter</a:t>
            </a:r>
            <a:endParaRPr lang="en-US" sz="3400" dirty="0"/>
          </a:p>
        </p:txBody>
      </p:sp>
      <p:sp>
        <p:nvSpPr>
          <p:cNvPr id="4" name="Shape 2"/>
          <p:cNvSpPr/>
          <p:nvPr/>
        </p:nvSpPr>
        <p:spPr>
          <a:xfrm>
            <a:off x="502920" y="1828800"/>
            <a:ext cx="2053742" cy="2880360"/>
          </a:xfrm>
          <a:prstGeom prst="roundRect">
            <a:avLst>
              <a:gd name="adj" fmla="val 5343"/>
            </a:avLst>
          </a:prstGeom>
          <a:solidFill>
            <a:srgbClr val="F1F5F9"/>
          </a:solidFill>
          <a:ln/>
          <a:effectLst>
            <a:outerShdw blurRad="76200" dist="19050" dir="5400000" algn="bl" rotWithShape="0">
              <a:srgbClr val="0A0E1A">
                <a:alpha val="8000"/>
              </a:srgbClr>
            </a:outerShdw>
          </a:effectLst>
        </p:spPr>
      </p:sp>
      <p:sp>
        <p:nvSpPr>
          <p:cNvPr id="5" name="Shape 3"/>
          <p:cNvSpPr/>
          <p:nvPr/>
        </p:nvSpPr>
        <p:spPr>
          <a:xfrm>
            <a:off x="1200607" y="2093976"/>
            <a:ext cx="658368" cy="658368"/>
          </a:xfrm>
          <a:prstGeom prst="ellipse">
            <a:avLst/>
          </a:prstGeom>
          <a:solidFill>
            <a:srgbClr val="0E7490"/>
          </a:solidFill>
          <a:ln/>
        </p:spPr>
      </p:sp>
      <p:pic>
        <p:nvPicPr>
          <p:cNvPr id="6" name="Image 0" descr="/home/claude/icons/target.png"/>
          <p:cNvPicPr>
            <a:picLocks noChangeAspect="1"/>
          </p:cNvPicPr>
          <p:nvPr/>
        </p:nvPicPr>
        <p:blipFill>
          <a:blip r:embed="rId3"/>
          <a:stretch>
            <a:fillRect/>
          </a:stretch>
        </p:blipFill>
        <p:spPr>
          <a:xfrm>
            <a:off x="1358616" y="2251984"/>
            <a:ext cx="342351" cy="342351"/>
          </a:xfrm>
          <a:prstGeom prst="rect">
            <a:avLst/>
          </a:prstGeom>
        </p:spPr>
      </p:pic>
      <p:sp>
        <p:nvSpPr>
          <p:cNvPr id="7" name="Text 4"/>
          <p:cNvSpPr txBox="1"/>
          <p:nvPr/>
        </p:nvSpPr>
        <p:spPr>
          <a:xfrm>
            <a:off x="640080" y="1938528"/>
            <a:ext cx="548640" cy="274320"/>
          </a:xfrm>
          <a:prstGeom prst="rect">
            <a:avLst/>
          </a:prstGeom>
          <a:noFill/>
          <a:ln/>
        </p:spPr>
        <p:txBody>
          <a:bodyPr wrap="square" lIns="0" tIns="0" rIns="0" bIns="0" rtlCol="0" anchor="ctr"/>
          <a:lstStyle/>
          <a:p>
            <a:pPr marL="0" indent="0">
              <a:buNone/>
            </a:pPr>
            <a:r>
              <a:rPr lang="en-US" sz="1100" b="1" dirty="0">
                <a:solidFill>
                  <a:srgbClr val="64748B"/>
                </a:solidFill>
                <a:latin typeface="Courier New" pitchFamily="34" charset="0"/>
                <a:ea typeface="Courier New" pitchFamily="34" charset="-122"/>
                <a:cs typeface="Courier New" pitchFamily="34" charset="-120"/>
              </a:rPr>
              <a:t>01</a:t>
            </a:r>
            <a:endParaRPr lang="en-US" sz="1100" dirty="0"/>
          </a:p>
        </p:txBody>
      </p:sp>
      <p:sp>
        <p:nvSpPr>
          <p:cNvPr id="8" name="Text 5"/>
          <p:cNvSpPr txBox="1"/>
          <p:nvPr/>
        </p:nvSpPr>
        <p:spPr>
          <a:xfrm>
            <a:off x="630936" y="2880360"/>
            <a:ext cx="1797710" cy="594360"/>
          </a:xfrm>
          <a:prstGeom prst="rect">
            <a:avLst/>
          </a:prstGeom>
          <a:noFill/>
          <a:ln/>
        </p:spPr>
        <p:txBody>
          <a:bodyPr wrap="square" lIns="0" tIns="0" rIns="0" bIns="0" rtlCol="0" anchor="ctr"/>
          <a:lstStyle/>
          <a:p>
            <a:pPr marL="0" indent="0" algn="ctr">
              <a:lnSpc>
                <a:spcPts val="1600"/>
              </a:lnSpc>
              <a:buNone/>
            </a:pPr>
            <a:r>
              <a:rPr lang="en-US" sz="1450" b="1" dirty="0">
                <a:solidFill>
                  <a:srgbClr val="0F172A"/>
                </a:solidFill>
                <a:latin typeface="Arial" pitchFamily="34" charset="0"/>
                <a:ea typeface="Arial" pitchFamily="34" charset="-122"/>
                <a:cs typeface="Arial" pitchFamily="34" charset="-120"/>
              </a:rPr>
              <a:t>Problem Solving</a:t>
            </a:r>
            <a:endParaRPr lang="en-US" sz="1450" dirty="0"/>
          </a:p>
        </p:txBody>
      </p:sp>
      <p:sp>
        <p:nvSpPr>
          <p:cNvPr id="9" name="Text 6"/>
          <p:cNvSpPr txBox="1"/>
          <p:nvPr/>
        </p:nvSpPr>
        <p:spPr>
          <a:xfrm>
            <a:off x="667512" y="3520440"/>
            <a:ext cx="1724558" cy="1051560"/>
          </a:xfrm>
          <a:prstGeom prst="rect">
            <a:avLst/>
          </a:prstGeom>
          <a:noFill/>
          <a:ln/>
        </p:spPr>
        <p:txBody>
          <a:bodyPr wrap="square" lIns="0" tIns="0" rIns="0" bIns="0" rtlCol="0" anchor="ctr"/>
          <a:lstStyle/>
          <a:p>
            <a:pPr marL="0" indent="0" algn="ctr">
              <a:lnSpc>
                <a:spcPts val="1300"/>
              </a:lnSpc>
              <a:buNone/>
            </a:pPr>
            <a:r>
              <a:rPr lang="en-US" sz="1050" dirty="0">
                <a:solidFill>
                  <a:srgbClr val="64748B"/>
                </a:solidFill>
                <a:latin typeface="Calibri" pitchFamily="34" charset="0"/>
                <a:ea typeface="Calibri" pitchFamily="34" charset="-122"/>
                <a:cs typeface="Calibri" pitchFamily="34" charset="-120"/>
              </a:rPr>
              <a:t>Can you break a real problem into smaller problems?</a:t>
            </a:r>
            <a:endParaRPr lang="en-US" sz="1050" dirty="0"/>
          </a:p>
        </p:txBody>
      </p:sp>
      <p:sp>
        <p:nvSpPr>
          <p:cNvPr id="10" name="Shape 7"/>
          <p:cNvSpPr/>
          <p:nvPr/>
        </p:nvSpPr>
        <p:spPr>
          <a:xfrm>
            <a:off x="2785262" y="1828800"/>
            <a:ext cx="2053742" cy="2880360"/>
          </a:xfrm>
          <a:prstGeom prst="roundRect">
            <a:avLst>
              <a:gd name="adj" fmla="val 5343"/>
            </a:avLst>
          </a:prstGeom>
          <a:solidFill>
            <a:srgbClr val="F1F5F9"/>
          </a:solidFill>
          <a:ln/>
          <a:effectLst>
            <a:outerShdw blurRad="76200" dist="19050" dir="5400000" algn="bl" rotWithShape="0">
              <a:srgbClr val="0A0E1A">
                <a:alpha val="8000"/>
              </a:srgbClr>
            </a:outerShdw>
          </a:effectLst>
        </p:spPr>
      </p:sp>
      <p:sp>
        <p:nvSpPr>
          <p:cNvPr id="11" name="Shape 8"/>
          <p:cNvSpPr/>
          <p:nvPr/>
        </p:nvSpPr>
        <p:spPr>
          <a:xfrm>
            <a:off x="3482950" y="2093976"/>
            <a:ext cx="658368" cy="658368"/>
          </a:xfrm>
          <a:prstGeom prst="ellipse">
            <a:avLst/>
          </a:prstGeom>
          <a:solidFill>
            <a:srgbClr val="7C3AED"/>
          </a:solidFill>
          <a:ln/>
        </p:spPr>
      </p:sp>
      <p:pic>
        <p:nvPicPr>
          <p:cNvPr id="12" name="Image 1" descr="/home/claude/icons/layers.png"/>
          <p:cNvPicPr>
            <a:picLocks noChangeAspect="1"/>
          </p:cNvPicPr>
          <p:nvPr/>
        </p:nvPicPr>
        <p:blipFill>
          <a:blip r:embed="rId4"/>
          <a:stretch>
            <a:fillRect/>
          </a:stretch>
        </p:blipFill>
        <p:spPr>
          <a:xfrm>
            <a:off x="3640958" y="2251984"/>
            <a:ext cx="342351" cy="342351"/>
          </a:xfrm>
          <a:prstGeom prst="rect">
            <a:avLst/>
          </a:prstGeom>
        </p:spPr>
      </p:pic>
      <p:sp>
        <p:nvSpPr>
          <p:cNvPr id="13" name="Text 9"/>
          <p:cNvSpPr txBox="1"/>
          <p:nvPr/>
        </p:nvSpPr>
        <p:spPr>
          <a:xfrm>
            <a:off x="2922422" y="1938528"/>
            <a:ext cx="548640" cy="274320"/>
          </a:xfrm>
          <a:prstGeom prst="rect">
            <a:avLst/>
          </a:prstGeom>
          <a:noFill/>
          <a:ln/>
        </p:spPr>
        <p:txBody>
          <a:bodyPr wrap="square" lIns="0" tIns="0" rIns="0" bIns="0" rtlCol="0" anchor="ctr"/>
          <a:lstStyle/>
          <a:p>
            <a:pPr marL="0" indent="0">
              <a:buNone/>
            </a:pPr>
            <a:r>
              <a:rPr lang="en-US" sz="1100" b="1" dirty="0">
                <a:solidFill>
                  <a:srgbClr val="64748B"/>
                </a:solidFill>
                <a:latin typeface="Courier New" pitchFamily="34" charset="0"/>
                <a:ea typeface="Courier New" pitchFamily="34" charset="-122"/>
                <a:cs typeface="Courier New" pitchFamily="34" charset="-120"/>
              </a:rPr>
              <a:t>02</a:t>
            </a:r>
            <a:endParaRPr lang="en-US" sz="1100" dirty="0"/>
          </a:p>
        </p:txBody>
      </p:sp>
      <p:sp>
        <p:nvSpPr>
          <p:cNvPr id="14" name="Text 10"/>
          <p:cNvSpPr txBox="1"/>
          <p:nvPr/>
        </p:nvSpPr>
        <p:spPr>
          <a:xfrm>
            <a:off x="2913278" y="2880360"/>
            <a:ext cx="1797710" cy="594360"/>
          </a:xfrm>
          <a:prstGeom prst="rect">
            <a:avLst/>
          </a:prstGeom>
          <a:noFill/>
          <a:ln/>
        </p:spPr>
        <p:txBody>
          <a:bodyPr wrap="square" lIns="0" tIns="0" rIns="0" bIns="0" rtlCol="0" anchor="ctr"/>
          <a:lstStyle/>
          <a:p>
            <a:pPr marL="0" indent="0" algn="ctr">
              <a:lnSpc>
                <a:spcPts val="1600"/>
              </a:lnSpc>
              <a:buNone/>
            </a:pPr>
            <a:r>
              <a:rPr lang="en-US" sz="1450" b="1" dirty="0">
                <a:solidFill>
                  <a:srgbClr val="0F172A"/>
                </a:solidFill>
                <a:latin typeface="Arial" pitchFamily="34" charset="0"/>
                <a:ea typeface="Arial" pitchFamily="34" charset="-122"/>
                <a:cs typeface="Arial" pitchFamily="34" charset="-120"/>
              </a:rPr>
              <a:t>Strong Fundamentals</a:t>
            </a:r>
            <a:endParaRPr lang="en-US" sz="1450" dirty="0"/>
          </a:p>
        </p:txBody>
      </p:sp>
      <p:sp>
        <p:nvSpPr>
          <p:cNvPr id="15" name="Text 11"/>
          <p:cNvSpPr txBox="1"/>
          <p:nvPr/>
        </p:nvSpPr>
        <p:spPr>
          <a:xfrm>
            <a:off x="2949854" y="3520440"/>
            <a:ext cx="1724558" cy="1051560"/>
          </a:xfrm>
          <a:prstGeom prst="rect">
            <a:avLst/>
          </a:prstGeom>
          <a:noFill/>
          <a:ln/>
        </p:spPr>
        <p:txBody>
          <a:bodyPr wrap="square" lIns="0" tIns="0" rIns="0" bIns="0" rtlCol="0" anchor="ctr"/>
          <a:lstStyle/>
          <a:p>
            <a:pPr marL="0" indent="0" algn="ctr">
              <a:lnSpc>
                <a:spcPts val="1300"/>
              </a:lnSpc>
              <a:buNone/>
            </a:pPr>
            <a:r>
              <a:rPr lang="en-US" sz="1050" dirty="0">
                <a:solidFill>
                  <a:srgbClr val="64748B"/>
                </a:solidFill>
                <a:latin typeface="Calibri" pitchFamily="34" charset="0"/>
                <a:ea typeface="Calibri" pitchFamily="34" charset="-122"/>
                <a:cs typeface="Calibri" pitchFamily="34" charset="-120"/>
              </a:rPr>
              <a:t>Programming, databases, APIs, networking, Git, etc.</a:t>
            </a:r>
            <a:endParaRPr lang="en-US" sz="1050" dirty="0"/>
          </a:p>
        </p:txBody>
      </p:sp>
      <p:sp>
        <p:nvSpPr>
          <p:cNvPr id="16" name="Shape 12"/>
          <p:cNvSpPr/>
          <p:nvPr/>
        </p:nvSpPr>
        <p:spPr>
          <a:xfrm>
            <a:off x="5067605" y="1828800"/>
            <a:ext cx="2053742" cy="2880360"/>
          </a:xfrm>
          <a:prstGeom prst="roundRect">
            <a:avLst>
              <a:gd name="adj" fmla="val 5343"/>
            </a:avLst>
          </a:prstGeom>
          <a:solidFill>
            <a:srgbClr val="F1F5F9"/>
          </a:solidFill>
          <a:ln/>
          <a:effectLst>
            <a:outerShdw blurRad="76200" dist="19050" dir="5400000" algn="bl" rotWithShape="0">
              <a:srgbClr val="0A0E1A">
                <a:alpha val="8000"/>
              </a:srgbClr>
            </a:outerShdw>
          </a:effectLst>
        </p:spPr>
      </p:sp>
      <p:sp>
        <p:nvSpPr>
          <p:cNvPr id="17" name="Shape 13"/>
          <p:cNvSpPr/>
          <p:nvPr/>
        </p:nvSpPr>
        <p:spPr>
          <a:xfrm>
            <a:off x="5765292" y="2093976"/>
            <a:ext cx="658368" cy="658368"/>
          </a:xfrm>
          <a:prstGeom prst="ellipse">
            <a:avLst/>
          </a:prstGeom>
          <a:solidFill>
            <a:srgbClr val="EA580C"/>
          </a:solidFill>
          <a:ln/>
        </p:spPr>
      </p:sp>
      <p:pic>
        <p:nvPicPr>
          <p:cNvPr id="18" name="Image 2" descr="/home/claude/icons/message.png"/>
          <p:cNvPicPr>
            <a:picLocks noChangeAspect="1"/>
          </p:cNvPicPr>
          <p:nvPr/>
        </p:nvPicPr>
        <p:blipFill>
          <a:blip r:embed="rId5"/>
          <a:stretch>
            <a:fillRect/>
          </a:stretch>
        </p:blipFill>
        <p:spPr>
          <a:xfrm>
            <a:off x="5923300" y="2251984"/>
            <a:ext cx="342351" cy="342351"/>
          </a:xfrm>
          <a:prstGeom prst="rect">
            <a:avLst/>
          </a:prstGeom>
        </p:spPr>
      </p:pic>
      <p:sp>
        <p:nvSpPr>
          <p:cNvPr id="19" name="Text 14"/>
          <p:cNvSpPr txBox="1"/>
          <p:nvPr/>
        </p:nvSpPr>
        <p:spPr>
          <a:xfrm>
            <a:off x="5204765" y="1938528"/>
            <a:ext cx="548640" cy="274320"/>
          </a:xfrm>
          <a:prstGeom prst="rect">
            <a:avLst/>
          </a:prstGeom>
          <a:noFill/>
          <a:ln/>
        </p:spPr>
        <p:txBody>
          <a:bodyPr wrap="square" lIns="0" tIns="0" rIns="0" bIns="0" rtlCol="0" anchor="ctr"/>
          <a:lstStyle/>
          <a:p>
            <a:pPr marL="0" indent="0">
              <a:buNone/>
            </a:pPr>
            <a:r>
              <a:rPr lang="en-US" sz="1100" b="1" dirty="0">
                <a:solidFill>
                  <a:srgbClr val="64748B"/>
                </a:solidFill>
                <a:latin typeface="Courier New" pitchFamily="34" charset="0"/>
                <a:ea typeface="Courier New" pitchFamily="34" charset="-122"/>
                <a:cs typeface="Courier New" pitchFamily="34" charset="-120"/>
              </a:rPr>
              <a:t>03</a:t>
            </a:r>
            <a:endParaRPr lang="en-US" sz="1100" dirty="0"/>
          </a:p>
        </p:txBody>
      </p:sp>
      <p:sp>
        <p:nvSpPr>
          <p:cNvPr id="20" name="Text 15"/>
          <p:cNvSpPr txBox="1"/>
          <p:nvPr/>
        </p:nvSpPr>
        <p:spPr>
          <a:xfrm>
            <a:off x="5195621" y="2880360"/>
            <a:ext cx="1797710" cy="594360"/>
          </a:xfrm>
          <a:prstGeom prst="rect">
            <a:avLst/>
          </a:prstGeom>
          <a:noFill/>
          <a:ln/>
        </p:spPr>
        <p:txBody>
          <a:bodyPr wrap="square" lIns="0" tIns="0" rIns="0" bIns="0" rtlCol="0" anchor="ctr"/>
          <a:lstStyle/>
          <a:p>
            <a:pPr marL="0" indent="0" algn="ctr">
              <a:lnSpc>
                <a:spcPts val="1600"/>
              </a:lnSpc>
              <a:buNone/>
            </a:pPr>
            <a:r>
              <a:rPr lang="en-US" sz="1450" b="1" dirty="0">
                <a:solidFill>
                  <a:srgbClr val="0F172A"/>
                </a:solidFill>
                <a:latin typeface="Arial" pitchFamily="34" charset="0"/>
                <a:ea typeface="Arial" pitchFamily="34" charset="-122"/>
                <a:cs typeface="Arial" pitchFamily="34" charset="-120"/>
              </a:rPr>
              <a:t>Communication</a:t>
            </a:r>
            <a:endParaRPr lang="en-US" sz="1450" dirty="0"/>
          </a:p>
        </p:txBody>
      </p:sp>
      <p:sp>
        <p:nvSpPr>
          <p:cNvPr id="21" name="Text 16"/>
          <p:cNvSpPr txBox="1"/>
          <p:nvPr/>
        </p:nvSpPr>
        <p:spPr>
          <a:xfrm>
            <a:off x="5232197" y="3520440"/>
            <a:ext cx="1724558" cy="1051560"/>
          </a:xfrm>
          <a:prstGeom prst="rect">
            <a:avLst/>
          </a:prstGeom>
          <a:noFill/>
          <a:ln/>
        </p:spPr>
        <p:txBody>
          <a:bodyPr wrap="square" lIns="0" tIns="0" rIns="0" bIns="0" rtlCol="0" anchor="ctr"/>
          <a:lstStyle/>
          <a:p>
            <a:pPr marL="0" indent="0" algn="ctr">
              <a:lnSpc>
                <a:spcPts val="1300"/>
              </a:lnSpc>
              <a:buNone/>
            </a:pPr>
            <a:r>
              <a:rPr lang="en-US" sz="1050" dirty="0">
                <a:solidFill>
                  <a:srgbClr val="64748B"/>
                </a:solidFill>
                <a:latin typeface="Calibri" pitchFamily="34" charset="0"/>
                <a:ea typeface="Calibri" pitchFamily="34" charset="-122"/>
                <a:cs typeface="Calibri" pitchFamily="34" charset="-120"/>
              </a:rPr>
              <a:t>Can you explain what you built — and why?</a:t>
            </a:r>
            <a:endParaRPr lang="en-US" sz="1050" dirty="0"/>
          </a:p>
        </p:txBody>
      </p:sp>
      <p:sp>
        <p:nvSpPr>
          <p:cNvPr id="22" name="Shape 17"/>
          <p:cNvSpPr/>
          <p:nvPr/>
        </p:nvSpPr>
        <p:spPr>
          <a:xfrm>
            <a:off x="7349947" y="1828800"/>
            <a:ext cx="2053742" cy="2880360"/>
          </a:xfrm>
          <a:prstGeom prst="roundRect">
            <a:avLst>
              <a:gd name="adj" fmla="val 5343"/>
            </a:avLst>
          </a:prstGeom>
          <a:solidFill>
            <a:srgbClr val="F1F5F9"/>
          </a:solidFill>
          <a:ln/>
          <a:effectLst>
            <a:outerShdw blurRad="76200" dist="19050" dir="5400000" algn="bl" rotWithShape="0">
              <a:srgbClr val="0A0E1A">
                <a:alpha val="8000"/>
              </a:srgbClr>
            </a:outerShdw>
          </a:effectLst>
        </p:spPr>
      </p:sp>
      <p:sp>
        <p:nvSpPr>
          <p:cNvPr id="23" name="Shape 18"/>
          <p:cNvSpPr/>
          <p:nvPr/>
        </p:nvSpPr>
        <p:spPr>
          <a:xfrm>
            <a:off x="8047634" y="2093976"/>
            <a:ext cx="658368" cy="658368"/>
          </a:xfrm>
          <a:prstGeom prst="ellipse">
            <a:avLst/>
          </a:prstGeom>
          <a:solidFill>
            <a:srgbClr val="15803D"/>
          </a:solidFill>
          <a:ln/>
        </p:spPr>
      </p:sp>
      <p:pic>
        <p:nvPicPr>
          <p:cNvPr id="24" name="Image 3" descr="/home/claude/icons/users.png"/>
          <p:cNvPicPr>
            <a:picLocks noChangeAspect="1"/>
          </p:cNvPicPr>
          <p:nvPr/>
        </p:nvPicPr>
        <p:blipFill>
          <a:blip r:embed="rId6"/>
          <a:stretch>
            <a:fillRect/>
          </a:stretch>
        </p:blipFill>
        <p:spPr>
          <a:xfrm>
            <a:off x="8205643" y="2251984"/>
            <a:ext cx="342351" cy="342351"/>
          </a:xfrm>
          <a:prstGeom prst="rect">
            <a:avLst/>
          </a:prstGeom>
        </p:spPr>
      </p:pic>
      <p:sp>
        <p:nvSpPr>
          <p:cNvPr id="25" name="Text 19"/>
          <p:cNvSpPr txBox="1"/>
          <p:nvPr/>
        </p:nvSpPr>
        <p:spPr>
          <a:xfrm>
            <a:off x="7487107" y="1938528"/>
            <a:ext cx="548640" cy="274320"/>
          </a:xfrm>
          <a:prstGeom prst="rect">
            <a:avLst/>
          </a:prstGeom>
          <a:noFill/>
          <a:ln/>
        </p:spPr>
        <p:txBody>
          <a:bodyPr wrap="square" lIns="0" tIns="0" rIns="0" bIns="0" rtlCol="0" anchor="ctr"/>
          <a:lstStyle/>
          <a:p>
            <a:pPr marL="0" indent="0">
              <a:buNone/>
            </a:pPr>
            <a:r>
              <a:rPr lang="en-US" sz="1100" b="1" dirty="0">
                <a:solidFill>
                  <a:srgbClr val="64748B"/>
                </a:solidFill>
                <a:latin typeface="Courier New" pitchFamily="34" charset="0"/>
                <a:ea typeface="Courier New" pitchFamily="34" charset="-122"/>
                <a:cs typeface="Courier New" pitchFamily="34" charset="-120"/>
              </a:rPr>
              <a:t>04</a:t>
            </a:r>
            <a:endParaRPr lang="en-US" sz="1100" dirty="0"/>
          </a:p>
        </p:txBody>
      </p:sp>
      <p:sp>
        <p:nvSpPr>
          <p:cNvPr id="26" name="Text 20"/>
          <p:cNvSpPr txBox="1"/>
          <p:nvPr/>
        </p:nvSpPr>
        <p:spPr>
          <a:xfrm>
            <a:off x="7477963" y="2880360"/>
            <a:ext cx="1797710" cy="594360"/>
          </a:xfrm>
          <a:prstGeom prst="rect">
            <a:avLst/>
          </a:prstGeom>
          <a:noFill/>
          <a:ln/>
        </p:spPr>
        <p:txBody>
          <a:bodyPr wrap="square" lIns="0" tIns="0" rIns="0" bIns="0" rtlCol="0" anchor="ctr"/>
          <a:lstStyle/>
          <a:p>
            <a:pPr marL="0" indent="0" algn="ctr">
              <a:lnSpc>
                <a:spcPts val="1600"/>
              </a:lnSpc>
              <a:buNone/>
            </a:pPr>
            <a:r>
              <a:rPr lang="en-US" sz="1450" b="1" dirty="0">
                <a:solidFill>
                  <a:srgbClr val="0F172A"/>
                </a:solidFill>
                <a:latin typeface="Arial" pitchFamily="34" charset="0"/>
                <a:ea typeface="Arial" pitchFamily="34" charset="-122"/>
                <a:cs typeface="Arial" pitchFamily="34" charset="-120"/>
              </a:rPr>
              <a:t>Teamwork</a:t>
            </a:r>
            <a:endParaRPr lang="en-US" sz="1450" dirty="0"/>
          </a:p>
        </p:txBody>
      </p:sp>
      <p:sp>
        <p:nvSpPr>
          <p:cNvPr id="27" name="Text 21"/>
          <p:cNvSpPr txBox="1"/>
          <p:nvPr/>
        </p:nvSpPr>
        <p:spPr>
          <a:xfrm>
            <a:off x="7514539" y="3520440"/>
            <a:ext cx="1724558" cy="1051560"/>
          </a:xfrm>
          <a:prstGeom prst="rect">
            <a:avLst/>
          </a:prstGeom>
          <a:noFill/>
          <a:ln/>
        </p:spPr>
        <p:txBody>
          <a:bodyPr wrap="square" lIns="0" tIns="0" rIns="0" bIns="0" rtlCol="0" anchor="ctr"/>
          <a:lstStyle/>
          <a:p>
            <a:pPr marL="0" indent="0" algn="ctr">
              <a:lnSpc>
                <a:spcPts val="1300"/>
              </a:lnSpc>
              <a:buNone/>
            </a:pPr>
            <a:r>
              <a:rPr lang="en-US" sz="1050" dirty="0">
                <a:solidFill>
                  <a:srgbClr val="64748B"/>
                </a:solidFill>
                <a:latin typeface="Calibri" pitchFamily="34" charset="0"/>
                <a:ea typeface="Calibri" pitchFamily="34" charset="-122"/>
                <a:cs typeface="Calibri" pitchFamily="34" charset="-120"/>
              </a:rPr>
              <a:t>Real projects are built by teams, not individuals.</a:t>
            </a:r>
            <a:endParaRPr lang="en-US" sz="1050" dirty="0"/>
          </a:p>
        </p:txBody>
      </p:sp>
      <p:sp>
        <p:nvSpPr>
          <p:cNvPr id="28" name="Shape 22"/>
          <p:cNvSpPr/>
          <p:nvPr/>
        </p:nvSpPr>
        <p:spPr>
          <a:xfrm>
            <a:off x="9632290" y="1828800"/>
            <a:ext cx="2053742" cy="2880360"/>
          </a:xfrm>
          <a:prstGeom prst="roundRect">
            <a:avLst>
              <a:gd name="adj" fmla="val 5343"/>
            </a:avLst>
          </a:prstGeom>
          <a:solidFill>
            <a:srgbClr val="F1F5F9"/>
          </a:solidFill>
          <a:ln/>
          <a:effectLst>
            <a:outerShdw blurRad="76200" dist="19050" dir="5400000" algn="bl" rotWithShape="0">
              <a:srgbClr val="0A0E1A">
                <a:alpha val="8000"/>
              </a:srgbClr>
            </a:outerShdw>
          </a:effectLst>
        </p:spPr>
      </p:sp>
      <p:sp>
        <p:nvSpPr>
          <p:cNvPr id="29" name="Shape 23"/>
          <p:cNvSpPr/>
          <p:nvPr/>
        </p:nvSpPr>
        <p:spPr>
          <a:xfrm>
            <a:off x="10329977" y="2093976"/>
            <a:ext cx="658368" cy="658368"/>
          </a:xfrm>
          <a:prstGeom prst="ellipse">
            <a:avLst/>
          </a:prstGeom>
          <a:solidFill>
            <a:srgbClr val="DB2777"/>
          </a:solidFill>
          <a:ln/>
        </p:spPr>
      </p:sp>
      <p:pic>
        <p:nvPicPr>
          <p:cNvPr id="30" name="Image 4" descr="/home/claude/icons/cpu.png"/>
          <p:cNvPicPr>
            <a:picLocks noChangeAspect="1"/>
          </p:cNvPicPr>
          <p:nvPr/>
        </p:nvPicPr>
        <p:blipFill>
          <a:blip r:embed="rId7"/>
          <a:stretch>
            <a:fillRect/>
          </a:stretch>
        </p:blipFill>
        <p:spPr>
          <a:xfrm>
            <a:off x="10487985" y="2251984"/>
            <a:ext cx="342351" cy="342351"/>
          </a:xfrm>
          <a:prstGeom prst="rect">
            <a:avLst/>
          </a:prstGeom>
        </p:spPr>
      </p:pic>
      <p:sp>
        <p:nvSpPr>
          <p:cNvPr id="31" name="Text 24"/>
          <p:cNvSpPr txBox="1"/>
          <p:nvPr/>
        </p:nvSpPr>
        <p:spPr>
          <a:xfrm>
            <a:off x="9769450" y="1938528"/>
            <a:ext cx="548640" cy="274320"/>
          </a:xfrm>
          <a:prstGeom prst="rect">
            <a:avLst/>
          </a:prstGeom>
          <a:noFill/>
          <a:ln/>
        </p:spPr>
        <p:txBody>
          <a:bodyPr wrap="square" lIns="0" tIns="0" rIns="0" bIns="0" rtlCol="0" anchor="ctr"/>
          <a:lstStyle/>
          <a:p>
            <a:pPr marL="0" indent="0">
              <a:buNone/>
            </a:pPr>
            <a:r>
              <a:rPr lang="en-US" sz="1100" b="1" dirty="0">
                <a:solidFill>
                  <a:srgbClr val="64748B"/>
                </a:solidFill>
                <a:latin typeface="Courier New" pitchFamily="34" charset="0"/>
                <a:ea typeface="Courier New" pitchFamily="34" charset="-122"/>
                <a:cs typeface="Courier New" pitchFamily="34" charset="-120"/>
              </a:rPr>
              <a:t>05</a:t>
            </a:r>
            <a:endParaRPr lang="en-US" sz="1100" dirty="0"/>
          </a:p>
        </p:txBody>
      </p:sp>
      <p:sp>
        <p:nvSpPr>
          <p:cNvPr id="32" name="Text 25"/>
          <p:cNvSpPr txBox="1"/>
          <p:nvPr/>
        </p:nvSpPr>
        <p:spPr>
          <a:xfrm>
            <a:off x="9749289" y="2880360"/>
            <a:ext cx="1797710" cy="594360"/>
          </a:xfrm>
          <a:prstGeom prst="rect">
            <a:avLst/>
          </a:prstGeom>
          <a:noFill/>
          <a:ln/>
        </p:spPr>
        <p:txBody>
          <a:bodyPr wrap="square" lIns="0" tIns="0" rIns="0" bIns="0" rtlCol="0" anchor="ctr"/>
          <a:lstStyle/>
          <a:p>
            <a:pPr marL="0" indent="0" algn="ctr">
              <a:lnSpc>
                <a:spcPts val="1600"/>
              </a:lnSpc>
              <a:buNone/>
            </a:pPr>
            <a:r>
              <a:rPr lang="en-US" sz="1450" b="1" dirty="0">
                <a:solidFill>
                  <a:srgbClr val="0F172A"/>
                </a:solidFill>
                <a:latin typeface="Arial" pitchFamily="34" charset="0"/>
                <a:ea typeface="Arial" pitchFamily="34" charset="-122"/>
                <a:cs typeface="Arial" pitchFamily="34" charset="-120"/>
              </a:rPr>
              <a:t>AI Literacy</a:t>
            </a:r>
            <a:endParaRPr lang="en-US" sz="1450" dirty="0"/>
          </a:p>
        </p:txBody>
      </p:sp>
      <p:sp>
        <p:nvSpPr>
          <p:cNvPr id="33" name="Text 26"/>
          <p:cNvSpPr txBox="1"/>
          <p:nvPr/>
        </p:nvSpPr>
        <p:spPr>
          <a:xfrm>
            <a:off x="9796882" y="3520440"/>
            <a:ext cx="1724558" cy="1051560"/>
          </a:xfrm>
          <a:prstGeom prst="rect">
            <a:avLst/>
          </a:prstGeom>
          <a:noFill/>
          <a:ln/>
        </p:spPr>
        <p:txBody>
          <a:bodyPr wrap="square" lIns="0" tIns="0" rIns="0" bIns="0" rtlCol="0" anchor="ctr"/>
          <a:lstStyle/>
          <a:p>
            <a:pPr marL="0" indent="0" algn="ctr">
              <a:lnSpc>
                <a:spcPts val="1300"/>
              </a:lnSpc>
              <a:buNone/>
            </a:pPr>
            <a:r>
              <a:rPr lang="en-US" sz="1050" dirty="0">
                <a:solidFill>
                  <a:srgbClr val="64748B"/>
                </a:solidFill>
                <a:latin typeface="Calibri" pitchFamily="34" charset="0"/>
                <a:ea typeface="Calibri" pitchFamily="34" charset="-122"/>
                <a:cs typeface="Calibri" pitchFamily="34" charset="-120"/>
              </a:rPr>
              <a:t>Knowing how to use AI effectively is now a core skill.</a:t>
            </a:r>
            <a:endParaRPr lang="en-US" sz="1050" dirty="0"/>
          </a:p>
        </p:txBody>
      </p:sp>
      <p:sp>
        <p:nvSpPr>
          <p:cNvPr id="34" name="Shape 27"/>
          <p:cNvSpPr/>
          <p:nvPr/>
        </p:nvSpPr>
        <p:spPr>
          <a:xfrm>
            <a:off x="502920" y="5074920"/>
            <a:ext cx="11183112" cy="868680"/>
          </a:xfrm>
          <a:prstGeom prst="roundRect">
            <a:avLst>
              <a:gd name="adj" fmla="val 12632"/>
            </a:avLst>
          </a:prstGeom>
          <a:solidFill>
            <a:srgbClr val="0F172A"/>
          </a:solidFill>
          <a:ln/>
        </p:spPr>
      </p:sp>
      <p:sp>
        <p:nvSpPr>
          <p:cNvPr id="35" name="Shape 28"/>
          <p:cNvSpPr/>
          <p:nvPr/>
        </p:nvSpPr>
        <p:spPr>
          <a:xfrm>
            <a:off x="877824" y="5239512"/>
            <a:ext cx="530352" cy="530352"/>
          </a:xfrm>
          <a:prstGeom prst="ellipse">
            <a:avLst/>
          </a:prstGeom>
          <a:solidFill>
            <a:srgbClr val="22D3EE"/>
          </a:solidFill>
          <a:ln/>
        </p:spPr>
      </p:sp>
      <p:pic>
        <p:nvPicPr>
          <p:cNvPr id="36" name="Image 5" descr="/home/claude/icons/message.png"/>
          <p:cNvPicPr>
            <a:picLocks noChangeAspect="1"/>
          </p:cNvPicPr>
          <p:nvPr/>
        </p:nvPicPr>
        <p:blipFill>
          <a:blip r:embed="rId5"/>
          <a:stretch>
            <a:fillRect/>
          </a:stretch>
        </p:blipFill>
        <p:spPr>
          <a:xfrm>
            <a:off x="1010412" y="5372100"/>
            <a:ext cx="265176" cy="265176"/>
          </a:xfrm>
          <a:prstGeom prst="rect">
            <a:avLst/>
          </a:prstGeom>
        </p:spPr>
      </p:pic>
      <p:sp>
        <p:nvSpPr>
          <p:cNvPr id="37" name="Text 29"/>
          <p:cNvSpPr txBox="1"/>
          <p:nvPr/>
        </p:nvSpPr>
        <p:spPr>
          <a:xfrm>
            <a:off x="1554480" y="5193792"/>
            <a:ext cx="9966960" cy="621792"/>
          </a:xfrm>
          <a:prstGeom prst="rect">
            <a:avLst/>
          </a:prstGeom>
          <a:noFill/>
          <a:ln/>
        </p:spPr>
        <p:txBody>
          <a:bodyPr wrap="square" lIns="0" tIns="0" rIns="0" bIns="0" rtlCol="0" anchor="ctr"/>
          <a:lstStyle/>
          <a:p>
            <a:pPr marL="0" indent="0">
              <a:buNone/>
            </a:pPr>
            <a:r>
              <a:rPr lang="en-US" sz="1550" i="1" dirty="0">
                <a:solidFill>
                  <a:srgbClr val="FFFFFF"/>
                </a:solidFill>
                <a:latin typeface="Arial" pitchFamily="34" charset="0"/>
                <a:ea typeface="Arial" pitchFamily="34" charset="-122"/>
                <a:cs typeface="Arial" pitchFamily="34" charset="-120"/>
              </a:rPr>
              <a:t>“Companies don’t just hire people who can code. They hire people who can solve problems.”</a:t>
            </a:r>
            <a:endParaRPr lang="en-US" sz="1550" dirty="0"/>
          </a:p>
        </p:txBody>
      </p:sp>
      <p:sp>
        <p:nvSpPr>
          <p:cNvPr id="39" name="Text 30"/>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01 / 12</a:t>
            </a:r>
            <a:endParaRPr lang="en-US" sz="900" dirty="0"/>
          </a:p>
        </p:txBody>
      </p:sp>
      <p:sp>
        <p:nvSpPr>
          <p:cNvPr id="40" name="Text 31"/>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41" name="TWS Logo" descr="Tekki Web Solutions logo"/>
          <p:cNvPicPr>
            <a:picLocks noChangeAspect="1"/>
          </p:cNvPicPr>
          <p:nvPr/>
        </p:nvPicPr>
        <p:blipFill>
          <a:blip r:embed="rId8"/>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50"/>
                                        <p:tgtEl>
                                          <p:spTgt spid="5"/>
                                        </p:tgtEl>
                                      </p:cBhvr>
                                    </p:animEffect>
                                  </p:childTnLst>
                                </p:cTn>
                              </p:par>
                              <p:par>
                                <p:cTn id="20" presetID="10" presetClass="entr" presetSubtype="0" fill="hold" grpId="0" nodeType="withEffect">
                                  <p:stCondLst>
                                    <p:cond delay="2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50"/>
                                        <p:tgtEl>
                                          <p:spTgt spid="6"/>
                                        </p:tgtEl>
                                      </p:cBhvr>
                                    </p:animEffect>
                                  </p:childTnLst>
                                </p:cTn>
                              </p:par>
                              <p:par>
                                <p:cTn id="23" presetID="10" presetClass="entr" presetSubtype="0" fill="hold" grpId="0" nodeType="withEffect">
                                  <p:stCondLst>
                                    <p:cond delay="2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2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0" nodeType="withEffect">
                                  <p:stCondLst>
                                    <p:cond delay="39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50"/>
                                        <p:tgtEl>
                                          <p:spTgt spid="11"/>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50"/>
                                        <p:tgtEl>
                                          <p:spTgt spid="12"/>
                                        </p:tgtEl>
                                      </p:cBhvr>
                                    </p:animEffect>
                                  </p:childTnLst>
                                </p:cTn>
                              </p:par>
                              <p:par>
                                <p:cTn id="41" presetID="10" presetClass="entr" presetSubtype="0" fill="hold" grpId="0" nodeType="withEffect">
                                  <p:stCondLst>
                                    <p:cond delay="3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39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52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52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2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50"/>
                                        <p:tgtEl>
                                          <p:spTgt spid="17"/>
                                        </p:tgtEl>
                                      </p:cBhvr>
                                    </p:animEffect>
                                  </p:childTnLst>
                                </p:cTn>
                              </p:par>
                              <p:par>
                                <p:cTn id="56" presetID="10" presetClass="entr" presetSubtype="0" fill="hold" grpId="0" nodeType="withEffect">
                                  <p:stCondLst>
                                    <p:cond delay="52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childTnLst>
                                </p:cTn>
                              </p:par>
                              <p:par>
                                <p:cTn id="59" presetID="10" presetClass="entr" presetSubtype="0" fill="hold" grpId="0" nodeType="withEffect">
                                  <p:stCondLst>
                                    <p:cond delay="52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grpId="0" nodeType="withEffect">
                                  <p:stCondLst>
                                    <p:cond delay="52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grpId="0" nodeType="withEffect">
                                  <p:stCondLst>
                                    <p:cond delay="6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65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65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50"/>
                                        <p:tgtEl>
                                          <p:spTgt spid="23"/>
                                        </p:tgtEl>
                                      </p:cBhvr>
                                    </p:animEffect>
                                  </p:childTnLst>
                                </p:cTn>
                              </p:par>
                              <p:par>
                                <p:cTn id="74" presetID="10" presetClass="entr" presetSubtype="0" fill="hold" grpId="0" nodeType="withEffect">
                                  <p:stCondLst>
                                    <p:cond delay="65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450"/>
                                        <p:tgtEl>
                                          <p:spTgt spid="24"/>
                                        </p:tgtEl>
                                      </p:cBhvr>
                                    </p:animEffect>
                                  </p:childTnLst>
                                </p:cTn>
                              </p:par>
                              <p:par>
                                <p:cTn id="77" presetID="10" presetClass="entr" presetSubtype="0" fill="hold" grpId="0" nodeType="withEffect">
                                  <p:stCondLst>
                                    <p:cond delay="65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50"/>
                                        <p:tgtEl>
                                          <p:spTgt spid="26"/>
                                        </p:tgtEl>
                                      </p:cBhvr>
                                    </p:animEffect>
                                  </p:childTnLst>
                                </p:cTn>
                              </p:par>
                              <p:par>
                                <p:cTn id="80" presetID="10" presetClass="entr" presetSubtype="0" fill="hold" grpId="0" nodeType="withEffect">
                                  <p:stCondLst>
                                    <p:cond delay="65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450"/>
                                        <p:tgtEl>
                                          <p:spTgt spid="27"/>
                                        </p:tgtEl>
                                      </p:cBhvr>
                                    </p:animEffect>
                                  </p:childTnLst>
                                </p:cTn>
                              </p:par>
                              <p:par>
                                <p:cTn id="83" presetID="10" presetClass="entr" presetSubtype="0" fill="hold" grpId="0" nodeType="withEffect">
                                  <p:stCondLst>
                                    <p:cond delay="78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450"/>
                                        <p:tgtEl>
                                          <p:spTgt spid="28"/>
                                        </p:tgtEl>
                                      </p:cBhvr>
                                    </p:animEffect>
                                  </p:childTnLst>
                                </p:cTn>
                              </p:par>
                              <p:par>
                                <p:cTn id="86" presetID="10" presetClass="entr" presetSubtype="0" fill="hold" grpId="0" nodeType="withEffect">
                                  <p:stCondLst>
                                    <p:cond delay="78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78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450"/>
                                        <p:tgtEl>
                                          <p:spTgt spid="29"/>
                                        </p:tgtEl>
                                      </p:cBhvr>
                                    </p:animEffect>
                                  </p:childTnLst>
                                </p:cTn>
                              </p:par>
                              <p:par>
                                <p:cTn id="92" presetID="10" presetClass="entr" presetSubtype="0" fill="hold" grpId="0" nodeType="withEffect">
                                  <p:stCondLst>
                                    <p:cond delay="78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450"/>
                                        <p:tgtEl>
                                          <p:spTgt spid="30"/>
                                        </p:tgtEl>
                                      </p:cBhvr>
                                    </p:animEffect>
                                  </p:childTnLst>
                                </p:cTn>
                              </p:par>
                              <p:par>
                                <p:cTn id="95" presetID="10" presetClass="entr" presetSubtype="0" fill="hold" grpId="0" nodeType="withEffect">
                                  <p:stCondLst>
                                    <p:cond delay="78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78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91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91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50"/>
                                        <p:tgtEl>
                                          <p:spTgt spid="37"/>
                                        </p:tgtEl>
                                      </p:cBhvr>
                                    </p:animEffect>
                                  </p:childTnLst>
                                </p:cTn>
                              </p:par>
                              <p:par>
                                <p:cTn id="107" presetID="10" presetClass="entr" presetSubtype="0" fill="hold" grpId="0" nodeType="withEffect">
                                  <p:stCondLst>
                                    <p:cond delay="910"/>
                                  </p:stCondLst>
                                  <p:childTnLst>
                                    <p:set>
                                      <p:cBhvr>
                                        <p:cTn id="108" dur="1" fill="hold">
                                          <p:stCondLst>
                                            <p:cond delay="0"/>
                                          </p:stCondLst>
                                        </p:cTn>
                                        <p:tgtEl>
                                          <p:spTgt spid="35"/>
                                        </p:tgtEl>
                                        <p:attrNameLst>
                                          <p:attrName>style.visibility</p:attrName>
                                        </p:attrNameLst>
                                      </p:cBhvr>
                                      <p:to>
                                        <p:strVal val="visible"/>
                                      </p:to>
                                    </p:set>
                                    <p:animEffect transition="in" filter="fade">
                                      <p:cBhvr>
                                        <p:cTn id="109" dur="450"/>
                                        <p:tgtEl>
                                          <p:spTgt spid="35"/>
                                        </p:tgtEl>
                                      </p:cBhvr>
                                    </p:animEffect>
                                  </p:childTnLst>
                                </p:cTn>
                              </p:par>
                              <p:par>
                                <p:cTn id="110" presetID="10" presetClass="entr" presetSubtype="0" fill="hold" grpId="0" nodeType="withEffect">
                                  <p:stCondLst>
                                    <p:cond delay="91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45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EA580C"/>
                </a:solidFill>
                <a:latin typeface="Courier New" pitchFamily="34" charset="0"/>
                <a:ea typeface="Courier New" pitchFamily="34" charset="-122"/>
                <a:cs typeface="Courier New" pitchFamily="34" charset="-120"/>
              </a:rPr>
              <a:t>SECTION 02 — COMMON STUDENT MISTAKES</a:t>
            </a:r>
            <a:endParaRPr lang="en-US" sz="1250" dirty="0"/>
          </a:p>
        </p:txBody>
      </p:sp>
      <p:sp>
        <p:nvSpPr>
          <p:cNvPr id="3" name="Text 1"/>
          <p:cNvSpPr txBox="1"/>
          <p:nvPr/>
        </p:nvSpPr>
        <p:spPr>
          <a:xfrm>
            <a:off x="502920" y="841248"/>
            <a:ext cx="10972800" cy="640080"/>
          </a:xfrm>
          <a:prstGeom prst="rect">
            <a:avLst/>
          </a:prstGeom>
          <a:noFill/>
          <a:ln/>
        </p:spPr>
        <p:txBody>
          <a:bodyPr wrap="square" lIns="0" tIns="0" rIns="0" bIns="0" rtlCol="0" anchor="ctr"/>
          <a:lstStyle/>
          <a:p>
            <a:pPr marL="0" indent="0">
              <a:buNone/>
            </a:pPr>
            <a:r>
              <a:rPr lang="en-US" sz="2900" b="1" dirty="0">
                <a:solidFill>
                  <a:srgbClr val="0F172A"/>
                </a:solidFill>
                <a:latin typeface="Arial" pitchFamily="34" charset="0"/>
                <a:ea typeface="Arial" pitchFamily="34" charset="-122"/>
                <a:cs typeface="Arial" pitchFamily="34" charset="-120"/>
              </a:rPr>
              <a:t>The Most Common Mistakes Students Make</a:t>
            </a:r>
            <a:endParaRPr lang="en-US" sz="2900" dirty="0"/>
          </a:p>
        </p:txBody>
      </p:sp>
      <p:sp>
        <p:nvSpPr>
          <p:cNvPr id="4" name="Shape 2"/>
          <p:cNvSpPr/>
          <p:nvPr/>
        </p:nvSpPr>
        <p:spPr>
          <a:xfrm>
            <a:off x="502920" y="1645920"/>
            <a:ext cx="5440680" cy="2194560"/>
          </a:xfrm>
          <a:prstGeom prst="roundRect">
            <a:avLst>
              <a:gd name="adj" fmla="val 5000"/>
            </a:avLst>
          </a:prstGeom>
          <a:solidFill>
            <a:srgbClr val="F1F5F9"/>
          </a:solidFill>
          <a:ln/>
        </p:spPr>
      </p:sp>
      <p:sp>
        <p:nvSpPr>
          <p:cNvPr id="5" name="Shape 3"/>
          <p:cNvSpPr/>
          <p:nvPr/>
        </p:nvSpPr>
        <p:spPr>
          <a:xfrm>
            <a:off x="708660" y="1851660"/>
            <a:ext cx="502920" cy="502920"/>
          </a:xfrm>
          <a:prstGeom prst="ellipse">
            <a:avLst/>
          </a:prstGeom>
          <a:solidFill>
            <a:srgbClr val="EA580C"/>
          </a:solidFill>
          <a:ln/>
        </p:spPr>
      </p:sp>
      <p:pic>
        <p:nvPicPr>
          <p:cNvPr id="6" name="Image 0" descr="/home/claude/icons/alert.png"/>
          <p:cNvPicPr>
            <a:picLocks noChangeAspect="1"/>
          </p:cNvPicPr>
          <p:nvPr/>
        </p:nvPicPr>
        <p:blipFill>
          <a:blip r:embed="rId3"/>
          <a:stretch>
            <a:fillRect/>
          </a:stretch>
        </p:blipFill>
        <p:spPr>
          <a:xfrm>
            <a:off x="834390" y="1977390"/>
            <a:ext cx="251460" cy="251460"/>
          </a:xfrm>
          <a:prstGeom prst="rect">
            <a:avLst/>
          </a:prstGeom>
        </p:spPr>
      </p:pic>
      <p:sp>
        <p:nvSpPr>
          <p:cNvPr id="7" name="Text 4"/>
          <p:cNvSpPr txBox="1"/>
          <p:nvPr/>
        </p:nvSpPr>
        <p:spPr>
          <a:xfrm>
            <a:off x="1325880" y="1865376"/>
            <a:ext cx="4434840"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1 · Learning Too Many Technologies</a:t>
            </a:r>
            <a:endParaRPr lang="en-US" sz="1450" dirty="0"/>
          </a:p>
        </p:txBody>
      </p:sp>
      <p:sp>
        <p:nvSpPr>
          <p:cNvPr id="8" name="Text 5"/>
          <p:cNvSpPr txBox="1"/>
          <p:nvPr/>
        </p:nvSpPr>
        <p:spPr>
          <a:xfrm>
            <a:off x="777240" y="2560320"/>
            <a:ext cx="4892040" cy="640080"/>
          </a:xfrm>
          <a:prstGeom prst="rect">
            <a:avLst/>
          </a:prstGeom>
          <a:noFill/>
          <a:ln/>
        </p:spPr>
        <p:txBody>
          <a:bodyPr wrap="square" lIns="0" tIns="0" rIns="0" bIns="0" rtlCol="0" anchor="ctr"/>
          <a:lstStyle/>
          <a:p>
            <a:pPr marL="0" indent="0">
              <a:lnSpc>
                <a:spcPts val="1500"/>
              </a:lnSpc>
              <a:buNone/>
            </a:pPr>
            <a:r>
              <a:rPr lang="en-US" sz="1100" dirty="0">
                <a:solidFill>
                  <a:srgbClr val="64748B"/>
                </a:solidFill>
                <a:latin typeface="Courier New" pitchFamily="34" charset="0"/>
                <a:ea typeface="Courier New" pitchFamily="34" charset="-122"/>
                <a:cs typeface="Courier New" pitchFamily="34" charset="-120"/>
              </a:rPr>
              <a:t>React + Angular + Vue + Java + Python</a:t>
            </a:r>
            <a:endParaRPr lang="en-US" sz="1100" dirty="0"/>
          </a:p>
          <a:p>
            <a:pPr marL="0" indent="0">
              <a:lnSpc>
                <a:spcPts val="1500"/>
              </a:lnSpc>
              <a:buNone/>
            </a:pPr>
            <a:r>
              <a:rPr lang="en-US" sz="1100" dirty="0">
                <a:solidFill>
                  <a:srgbClr val="64748B"/>
                </a:solidFill>
                <a:latin typeface="Courier New" pitchFamily="34" charset="0"/>
                <a:ea typeface="Courier New" pitchFamily="34" charset="-122"/>
                <a:cs typeface="Courier New" pitchFamily="34" charset="-120"/>
              </a:rPr>
              <a:t>+ .NET + AWS + ML + ...</a:t>
            </a:r>
            <a:endParaRPr lang="en-US" sz="1100" dirty="0"/>
          </a:p>
        </p:txBody>
      </p:sp>
      <p:sp>
        <p:nvSpPr>
          <p:cNvPr id="9" name="Shape 6"/>
          <p:cNvSpPr/>
          <p:nvPr/>
        </p:nvSpPr>
        <p:spPr>
          <a:xfrm>
            <a:off x="777240" y="3337560"/>
            <a:ext cx="4892040" cy="457200"/>
          </a:xfrm>
          <a:prstGeom prst="roundRect">
            <a:avLst>
              <a:gd name="adj" fmla="val 16000"/>
            </a:avLst>
          </a:prstGeom>
          <a:solidFill>
            <a:srgbClr val="0F172A"/>
          </a:solidFill>
          <a:ln/>
        </p:spPr>
      </p:sp>
      <p:sp>
        <p:nvSpPr>
          <p:cNvPr id="10" name="Text 7"/>
          <p:cNvSpPr txBox="1"/>
          <p:nvPr/>
        </p:nvSpPr>
        <p:spPr>
          <a:xfrm>
            <a:off x="777240" y="3337560"/>
            <a:ext cx="4892040" cy="457200"/>
          </a:xfrm>
          <a:prstGeom prst="rect">
            <a:avLst/>
          </a:prstGeom>
          <a:noFill/>
          <a:ln/>
        </p:spPr>
        <p:txBody>
          <a:bodyPr wrap="square" lIns="0" tIns="0" rIns="0" bIns="0" rtlCol="0" anchor="ctr"/>
          <a:lstStyle/>
          <a:p>
            <a:pPr marL="0" indent="0" algn="ctr">
              <a:buNone/>
            </a:pPr>
            <a:r>
              <a:rPr lang="en-US" sz="1100" b="1" kern="0" spc="50" dirty="0">
                <a:solidFill>
                  <a:srgbClr val="FDBA74"/>
                </a:solidFill>
                <a:latin typeface="Courier New" pitchFamily="34" charset="0"/>
                <a:ea typeface="Courier New" pitchFamily="34" charset="-122"/>
                <a:cs typeface="Courier New" pitchFamily="34" charset="-120"/>
              </a:rPr>
              <a:t>DON'T TRY TO BECOME EVERYTHING</a:t>
            </a:r>
            <a:endParaRPr lang="en-US" sz="1100" dirty="0"/>
          </a:p>
        </p:txBody>
      </p:sp>
      <p:sp>
        <p:nvSpPr>
          <p:cNvPr id="11" name="Shape 8"/>
          <p:cNvSpPr/>
          <p:nvPr/>
        </p:nvSpPr>
        <p:spPr>
          <a:xfrm>
            <a:off x="6245352" y="1645920"/>
            <a:ext cx="5440680" cy="2194560"/>
          </a:xfrm>
          <a:prstGeom prst="roundRect">
            <a:avLst>
              <a:gd name="adj" fmla="val 5000"/>
            </a:avLst>
          </a:prstGeom>
          <a:solidFill>
            <a:srgbClr val="F1F5F9"/>
          </a:solidFill>
          <a:ln/>
        </p:spPr>
      </p:sp>
      <p:sp>
        <p:nvSpPr>
          <p:cNvPr id="12" name="Shape 9"/>
          <p:cNvSpPr/>
          <p:nvPr/>
        </p:nvSpPr>
        <p:spPr>
          <a:xfrm>
            <a:off x="6451092" y="1851660"/>
            <a:ext cx="502920" cy="502920"/>
          </a:xfrm>
          <a:prstGeom prst="ellipse">
            <a:avLst/>
          </a:prstGeom>
          <a:solidFill>
            <a:srgbClr val="DC2626"/>
          </a:solidFill>
          <a:ln/>
        </p:spPr>
      </p:sp>
      <p:pic>
        <p:nvPicPr>
          <p:cNvPr id="13" name="Image 1" descr="/home/claude/icons/bookopen.png"/>
          <p:cNvPicPr>
            <a:picLocks noChangeAspect="1"/>
          </p:cNvPicPr>
          <p:nvPr/>
        </p:nvPicPr>
        <p:blipFill>
          <a:blip r:embed="rId4"/>
          <a:stretch>
            <a:fillRect/>
          </a:stretch>
        </p:blipFill>
        <p:spPr>
          <a:xfrm>
            <a:off x="6576822" y="1977390"/>
            <a:ext cx="251460" cy="251460"/>
          </a:xfrm>
          <a:prstGeom prst="rect">
            <a:avLst/>
          </a:prstGeom>
        </p:spPr>
      </p:pic>
      <p:sp>
        <p:nvSpPr>
          <p:cNvPr id="14" name="Text 10"/>
          <p:cNvSpPr txBox="1"/>
          <p:nvPr/>
        </p:nvSpPr>
        <p:spPr>
          <a:xfrm>
            <a:off x="7068312" y="1865376"/>
            <a:ext cx="4434840"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2 · Watching Tutorials, Never Building</a:t>
            </a:r>
            <a:endParaRPr lang="en-US" sz="1450" dirty="0"/>
          </a:p>
        </p:txBody>
      </p:sp>
      <p:sp>
        <p:nvSpPr>
          <p:cNvPr id="15" name="Text 11"/>
          <p:cNvSpPr txBox="1"/>
          <p:nvPr/>
        </p:nvSpPr>
        <p:spPr>
          <a:xfrm>
            <a:off x="6519672" y="2606040"/>
            <a:ext cx="4892040" cy="320040"/>
          </a:xfrm>
          <a:prstGeom prst="rect">
            <a:avLst/>
          </a:prstGeom>
          <a:noFill/>
          <a:ln/>
        </p:spPr>
        <p:txBody>
          <a:bodyPr wrap="square" lIns="0" tIns="0" rIns="0" bIns="0" rtlCol="0" anchor="ctr"/>
          <a:lstStyle/>
          <a:p>
            <a:pPr marL="0" indent="0">
              <a:buNone/>
            </a:pPr>
            <a:r>
              <a:rPr lang="en-US" sz="1100" dirty="0">
                <a:solidFill>
                  <a:srgbClr val="DC2626"/>
                </a:solidFill>
                <a:latin typeface="Courier New" pitchFamily="34" charset="0"/>
                <a:ea typeface="Courier New" pitchFamily="34" charset="-122"/>
                <a:cs typeface="Courier New" pitchFamily="34" charset="-120"/>
              </a:rPr>
              <a:t>Tutorial → Tutorial → Tutorial → ❌</a:t>
            </a:r>
            <a:endParaRPr lang="en-US" sz="1100" dirty="0"/>
          </a:p>
        </p:txBody>
      </p:sp>
      <p:sp>
        <p:nvSpPr>
          <p:cNvPr id="16" name="Text 12"/>
          <p:cNvSpPr txBox="1"/>
          <p:nvPr/>
        </p:nvSpPr>
        <p:spPr>
          <a:xfrm>
            <a:off x="6519672" y="3017520"/>
            <a:ext cx="4892040" cy="320040"/>
          </a:xfrm>
          <a:prstGeom prst="rect">
            <a:avLst/>
          </a:prstGeom>
          <a:noFill/>
          <a:ln/>
        </p:spPr>
        <p:txBody>
          <a:bodyPr wrap="square" lIns="0" tIns="0" rIns="0" bIns="0" rtlCol="0" anchor="ctr"/>
          <a:lstStyle/>
          <a:p>
            <a:pPr marL="0" indent="0">
              <a:buNone/>
            </a:pPr>
            <a:r>
              <a:rPr lang="en-US" sz="1100" b="1" dirty="0">
                <a:solidFill>
                  <a:srgbClr val="15803D"/>
                </a:solidFill>
                <a:latin typeface="Courier New" pitchFamily="34" charset="0"/>
                <a:ea typeface="Courier New" pitchFamily="34" charset="-122"/>
                <a:cs typeface="Courier New" pitchFamily="34" charset="-120"/>
              </a:rPr>
              <a:t>Learn → Build → Break → Fix → ✅</a:t>
            </a:r>
            <a:endParaRPr lang="en-US" sz="1100" dirty="0"/>
          </a:p>
        </p:txBody>
      </p:sp>
      <p:sp>
        <p:nvSpPr>
          <p:cNvPr id="17" name="Text 13"/>
          <p:cNvSpPr txBox="1"/>
          <p:nvPr/>
        </p:nvSpPr>
        <p:spPr>
          <a:xfrm>
            <a:off x="6519672" y="3364992"/>
            <a:ext cx="489204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Skill comes from the second loop, not the first.</a:t>
            </a:r>
            <a:endParaRPr lang="en-US" sz="1100" dirty="0"/>
          </a:p>
        </p:txBody>
      </p:sp>
      <p:sp>
        <p:nvSpPr>
          <p:cNvPr id="18" name="Shape 14"/>
          <p:cNvSpPr/>
          <p:nvPr/>
        </p:nvSpPr>
        <p:spPr>
          <a:xfrm>
            <a:off x="502920" y="4069080"/>
            <a:ext cx="5440680" cy="2194560"/>
          </a:xfrm>
          <a:prstGeom prst="roundRect">
            <a:avLst>
              <a:gd name="adj" fmla="val 5000"/>
            </a:avLst>
          </a:prstGeom>
          <a:solidFill>
            <a:srgbClr val="F1F5F9"/>
          </a:solidFill>
          <a:ln/>
        </p:spPr>
      </p:sp>
      <p:sp>
        <p:nvSpPr>
          <p:cNvPr id="19" name="Shape 15"/>
          <p:cNvSpPr/>
          <p:nvPr/>
        </p:nvSpPr>
        <p:spPr>
          <a:xfrm>
            <a:off x="708660" y="4274820"/>
            <a:ext cx="502920" cy="502920"/>
          </a:xfrm>
          <a:prstGeom prst="ellipse">
            <a:avLst/>
          </a:prstGeom>
          <a:solidFill>
            <a:srgbClr val="7C3AED"/>
          </a:solidFill>
          <a:ln/>
        </p:spPr>
      </p:sp>
      <p:pic>
        <p:nvPicPr>
          <p:cNvPr id="20" name="Image 2" descr="/home/claude/icons/clock.png"/>
          <p:cNvPicPr>
            <a:picLocks noChangeAspect="1"/>
          </p:cNvPicPr>
          <p:nvPr/>
        </p:nvPicPr>
        <p:blipFill>
          <a:blip r:embed="rId5"/>
          <a:stretch>
            <a:fillRect/>
          </a:stretch>
        </p:blipFill>
        <p:spPr>
          <a:xfrm>
            <a:off x="834390" y="4400550"/>
            <a:ext cx="251460" cy="251460"/>
          </a:xfrm>
          <a:prstGeom prst="rect">
            <a:avLst/>
          </a:prstGeom>
        </p:spPr>
      </p:pic>
      <p:sp>
        <p:nvSpPr>
          <p:cNvPr id="21" name="Text 16"/>
          <p:cNvSpPr txBox="1"/>
          <p:nvPr/>
        </p:nvSpPr>
        <p:spPr>
          <a:xfrm>
            <a:off x="1325880" y="4288536"/>
            <a:ext cx="4434840"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3 · Thinking "I Have Time"</a:t>
            </a:r>
            <a:endParaRPr lang="en-US" sz="1450" dirty="0"/>
          </a:p>
        </p:txBody>
      </p:sp>
      <p:sp>
        <p:nvSpPr>
          <p:cNvPr id="22" name="Shape 17"/>
          <p:cNvSpPr/>
          <p:nvPr/>
        </p:nvSpPr>
        <p:spPr>
          <a:xfrm>
            <a:off x="777240" y="5120640"/>
            <a:ext cx="1017270" cy="502920"/>
          </a:xfrm>
          <a:prstGeom prst="roundRect">
            <a:avLst>
              <a:gd name="adj" fmla="val 14545"/>
            </a:avLst>
          </a:prstGeom>
          <a:solidFill>
            <a:srgbClr val="FFFFFF"/>
          </a:solidFill>
          <a:ln w="12700">
            <a:solidFill>
              <a:srgbClr val="CBD5E1"/>
            </a:solidFill>
            <a:prstDash val="solid"/>
          </a:ln>
        </p:spPr>
      </p:sp>
      <p:sp>
        <p:nvSpPr>
          <p:cNvPr id="23" name="Text 18"/>
          <p:cNvSpPr txBox="1"/>
          <p:nvPr/>
        </p:nvSpPr>
        <p:spPr>
          <a:xfrm>
            <a:off x="777240" y="5120640"/>
            <a:ext cx="1017270" cy="502920"/>
          </a:xfrm>
          <a:prstGeom prst="rect">
            <a:avLst/>
          </a:prstGeom>
          <a:noFill/>
          <a:ln/>
        </p:spPr>
        <p:txBody>
          <a:bodyPr wrap="square" lIns="0" tIns="0" rIns="0" bIns="0"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4th Year</a:t>
            </a:r>
            <a:endParaRPr lang="en-US" sz="950" dirty="0"/>
          </a:p>
        </p:txBody>
      </p:sp>
      <p:sp>
        <p:nvSpPr>
          <p:cNvPr id="24" name="Text 19"/>
          <p:cNvSpPr txBox="1"/>
          <p:nvPr/>
        </p:nvSpPr>
        <p:spPr>
          <a:xfrm>
            <a:off x="1794510" y="5120640"/>
            <a:ext cx="27432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5" name="Shape 20"/>
          <p:cNvSpPr/>
          <p:nvPr/>
        </p:nvSpPr>
        <p:spPr>
          <a:xfrm>
            <a:off x="2068830" y="5120640"/>
            <a:ext cx="1017270" cy="502920"/>
          </a:xfrm>
          <a:prstGeom prst="roundRect">
            <a:avLst>
              <a:gd name="adj" fmla="val 14545"/>
            </a:avLst>
          </a:prstGeom>
          <a:solidFill>
            <a:srgbClr val="FFFFFF"/>
          </a:solidFill>
          <a:ln w="12700">
            <a:solidFill>
              <a:srgbClr val="CBD5E1"/>
            </a:solidFill>
            <a:prstDash val="solid"/>
          </a:ln>
        </p:spPr>
      </p:sp>
      <p:sp>
        <p:nvSpPr>
          <p:cNvPr id="26" name="Text 21"/>
          <p:cNvSpPr txBox="1"/>
          <p:nvPr/>
        </p:nvSpPr>
        <p:spPr>
          <a:xfrm>
            <a:off x="2068830" y="5120640"/>
            <a:ext cx="1017270" cy="502920"/>
          </a:xfrm>
          <a:prstGeom prst="rect">
            <a:avLst/>
          </a:prstGeom>
          <a:noFill/>
          <a:ln/>
        </p:spPr>
        <p:txBody>
          <a:bodyPr wrap="square" lIns="0" tIns="0" rIns="0" bIns="0"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Placement</a:t>
            </a:r>
            <a:endParaRPr lang="en-US" sz="950" dirty="0"/>
          </a:p>
        </p:txBody>
      </p:sp>
      <p:sp>
        <p:nvSpPr>
          <p:cNvPr id="27" name="Text 22"/>
          <p:cNvSpPr txBox="1"/>
          <p:nvPr/>
        </p:nvSpPr>
        <p:spPr>
          <a:xfrm>
            <a:off x="3086100" y="5120640"/>
            <a:ext cx="27432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8" name="Shape 23"/>
          <p:cNvSpPr/>
          <p:nvPr/>
        </p:nvSpPr>
        <p:spPr>
          <a:xfrm>
            <a:off x="3360420" y="5120640"/>
            <a:ext cx="1017270" cy="502920"/>
          </a:xfrm>
          <a:prstGeom prst="roundRect">
            <a:avLst>
              <a:gd name="adj" fmla="val 14545"/>
            </a:avLst>
          </a:prstGeom>
          <a:solidFill>
            <a:srgbClr val="FFFFFF"/>
          </a:solidFill>
          <a:ln w="12700">
            <a:solidFill>
              <a:srgbClr val="CBD5E1"/>
            </a:solidFill>
            <a:prstDash val="solid"/>
          </a:ln>
        </p:spPr>
      </p:sp>
      <p:sp>
        <p:nvSpPr>
          <p:cNvPr id="29" name="Text 24"/>
          <p:cNvSpPr txBox="1"/>
          <p:nvPr/>
        </p:nvSpPr>
        <p:spPr>
          <a:xfrm>
            <a:off x="3360420" y="5120640"/>
            <a:ext cx="1017270" cy="502920"/>
          </a:xfrm>
          <a:prstGeom prst="rect">
            <a:avLst/>
          </a:prstGeom>
          <a:noFill/>
          <a:ln/>
        </p:spPr>
        <p:txBody>
          <a:bodyPr wrap="square" lIns="0" tIns="0" rIns="0" bIns="0"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Graduation</a:t>
            </a:r>
            <a:endParaRPr lang="en-US" sz="950" dirty="0"/>
          </a:p>
        </p:txBody>
      </p:sp>
      <p:sp>
        <p:nvSpPr>
          <p:cNvPr id="30" name="Text 25"/>
          <p:cNvSpPr txBox="1"/>
          <p:nvPr/>
        </p:nvSpPr>
        <p:spPr>
          <a:xfrm>
            <a:off x="4377690" y="5120640"/>
            <a:ext cx="274320" cy="502920"/>
          </a:xfrm>
          <a:prstGeom prst="rect">
            <a:avLst/>
          </a:prstGeom>
          <a:noFill/>
          <a:ln/>
        </p:spPr>
        <p:txBody>
          <a:bodyPr wrap="square" lIns="0" tIns="0" rIns="0" bIns="0"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1" name="Shape 26"/>
          <p:cNvSpPr/>
          <p:nvPr/>
        </p:nvSpPr>
        <p:spPr>
          <a:xfrm>
            <a:off x="4652010" y="5120640"/>
            <a:ext cx="1017270" cy="502920"/>
          </a:xfrm>
          <a:prstGeom prst="roundRect">
            <a:avLst>
              <a:gd name="adj" fmla="val 14545"/>
            </a:avLst>
          </a:prstGeom>
          <a:solidFill>
            <a:srgbClr val="FFFFFF"/>
          </a:solidFill>
          <a:ln w="12700">
            <a:solidFill>
              <a:srgbClr val="CBD5E1"/>
            </a:solidFill>
            <a:prstDash val="solid"/>
          </a:ln>
        </p:spPr>
      </p:sp>
      <p:sp>
        <p:nvSpPr>
          <p:cNvPr id="32" name="Text 27"/>
          <p:cNvSpPr txBox="1"/>
          <p:nvPr/>
        </p:nvSpPr>
        <p:spPr>
          <a:xfrm>
            <a:off x="4652010" y="5120640"/>
            <a:ext cx="1017270" cy="502920"/>
          </a:xfrm>
          <a:prstGeom prst="rect">
            <a:avLst/>
          </a:prstGeom>
          <a:noFill/>
          <a:ln/>
        </p:spPr>
        <p:txBody>
          <a:bodyPr wrap="square" lIns="0" tIns="0" rIns="0" bIns="0" rtlCol="0" anchor="ctr"/>
          <a:lstStyle/>
          <a:p>
            <a:pPr marL="0" indent="0" algn="ctr">
              <a:buNone/>
            </a:pPr>
            <a:r>
              <a:rPr lang="en-US" sz="950" b="1" dirty="0">
                <a:solidFill>
                  <a:srgbClr val="0F172A"/>
                </a:solidFill>
                <a:latin typeface="Calibri" pitchFamily="34" charset="0"/>
                <a:ea typeface="Calibri" pitchFamily="34" charset="-122"/>
                <a:cs typeface="Calibri" pitchFamily="34" charset="-120"/>
              </a:rPr>
              <a:t>Job</a:t>
            </a:r>
            <a:endParaRPr lang="en-US" sz="950" dirty="0"/>
          </a:p>
        </p:txBody>
      </p:sp>
      <p:sp>
        <p:nvSpPr>
          <p:cNvPr id="33" name="Text 28"/>
          <p:cNvSpPr txBox="1"/>
          <p:nvPr/>
        </p:nvSpPr>
        <p:spPr>
          <a:xfrm>
            <a:off x="777240" y="5852160"/>
            <a:ext cx="4892040" cy="365760"/>
          </a:xfrm>
          <a:prstGeom prst="rect">
            <a:avLst/>
          </a:prstGeom>
          <a:noFill/>
          <a:ln/>
        </p:spPr>
        <p:txBody>
          <a:bodyPr wrap="square" lIns="0" tIns="0" rIns="0" bIns="0" rtlCol="0" anchor="ctr"/>
          <a:lstStyle/>
          <a:p>
            <a:pPr marL="0" indent="0">
              <a:buNone/>
            </a:pPr>
            <a:r>
              <a:rPr lang="en-US" sz="1150" b="1" dirty="0">
                <a:solidFill>
                  <a:srgbClr val="6D28D9"/>
                </a:solidFill>
                <a:latin typeface="Courier New" pitchFamily="34" charset="0"/>
                <a:ea typeface="Courier New" pitchFamily="34" charset="-122"/>
                <a:cs typeface="Courier New" pitchFamily="34" charset="-120"/>
              </a:rPr>
              <a:t>START BEFORE YOU FEEL READY</a:t>
            </a:r>
            <a:endParaRPr lang="en-US" sz="1150" dirty="0"/>
          </a:p>
        </p:txBody>
      </p:sp>
      <p:sp>
        <p:nvSpPr>
          <p:cNvPr id="34" name="Shape 29"/>
          <p:cNvSpPr/>
          <p:nvPr/>
        </p:nvSpPr>
        <p:spPr>
          <a:xfrm>
            <a:off x="6245352" y="4069080"/>
            <a:ext cx="5440680" cy="2194560"/>
          </a:xfrm>
          <a:prstGeom prst="roundRect">
            <a:avLst>
              <a:gd name="adj" fmla="val 5000"/>
            </a:avLst>
          </a:prstGeom>
          <a:solidFill>
            <a:srgbClr val="F1F5F9"/>
          </a:solidFill>
          <a:ln/>
        </p:spPr>
      </p:sp>
      <p:sp>
        <p:nvSpPr>
          <p:cNvPr id="35" name="Shape 30"/>
          <p:cNvSpPr/>
          <p:nvPr/>
        </p:nvSpPr>
        <p:spPr>
          <a:xfrm>
            <a:off x="6451092" y="4274820"/>
            <a:ext cx="502920" cy="502920"/>
          </a:xfrm>
          <a:prstGeom prst="ellipse">
            <a:avLst/>
          </a:prstGeom>
          <a:solidFill>
            <a:srgbClr val="0E7490"/>
          </a:solidFill>
          <a:ln/>
        </p:spPr>
      </p:sp>
      <p:pic>
        <p:nvPicPr>
          <p:cNvPr id="36" name="Image 3" descr="/home/claude/icons/award.png"/>
          <p:cNvPicPr>
            <a:picLocks noChangeAspect="1"/>
          </p:cNvPicPr>
          <p:nvPr/>
        </p:nvPicPr>
        <p:blipFill>
          <a:blip r:embed="rId6"/>
          <a:stretch>
            <a:fillRect/>
          </a:stretch>
        </p:blipFill>
        <p:spPr>
          <a:xfrm>
            <a:off x="6576822" y="4400550"/>
            <a:ext cx="251460" cy="251460"/>
          </a:xfrm>
          <a:prstGeom prst="rect">
            <a:avLst/>
          </a:prstGeom>
        </p:spPr>
      </p:pic>
      <p:sp>
        <p:nvSpPr>
          <p:cNvPr id="37" name="Text 31"/>
          <p:cNvSpPr txBox="1"/>
          <p:nvPr/>
        </p:nvSpPr>
        <p:spPr>
          <a:xfrm>
            <a:off x="7068312" y="4288536"/>
            <a:ext cx="4434840" cy="502920"/>
          </a:xfrm>
          <a:prstGeom prst="rect">
            <a:avLst/>
          </a:prstGeom>
          <a:noFill/>
          <a:ln/>
        </p:spPr>
        <p:txBody>
          <a:bodyPr wrap="square" lIns="0" tIns="0" rIns="0" bIns="0" rtlCol="0" anchor="ctr"/>
          <a:lstStyle/>
          <a:p>
            <a:pPr marL="0" indent="0">
              <a:buNone/>
            </a:pPr>
            <a:r>
              <a:rPr lang="en-US" sz="1450" b="1" dirty="0">
                <a:solidFill>
                  <a:srgbClr val="0F172A"/>
                </a:solidFill>
                <a:latin typeface="Arial" pitchFamily="34" charset="0"/>
                <a:ea typeface="Arial" pitchFamily="34" charset="-122"/>
                <a:cs typeface="Arial" pitchFamily="34" charset="-120"/>
              </a:rPr>
              <a:t>4 · Certificates Over Skills</a:t>
            </a:r>
            <a:endParaRPr lang="en-US" sz="1450" dirty="0"/>
          </a:p>
        </p:txBody>
      </p:sp>
      <p:sp>
        <p:nvSpPr>
          <p:cNvPr id="38" name="Text 32"/>
          <p:cNvSpPr txBox="1"/>
          <p:nvPr/>
        </p:nvSpPr>
        <p:spPr>
          <a:xfrm>
            <a:off x="6519672" y="4983480"/>
            <a:ext cx="4892040" cy="365760"/>
          </a:xfrm>
          <a:prstGeom prst="rect">
            <a:avLst/>
          </a:prstGeom>
          <a:noFill/>
          <a:ln/>
        </p:spPr>
        <p:txBody>
          <a:bodyPr wrap="square" lIns="0" tIns="0" rIns="0" bIns="0" rtlCol="0" anchor="ctr"/>
          <a:lstStyle/>
          <a:p>
            <a:pPr marL="0" indent="0">
              <a:buNone/>
            </a:pPr>
            <a:r>
              <a:rPr lang="en-US" sz="1300" b="1" dirty="0">
                <a:solidFill>
                  <a:srgbClr val="0F172A"/>
                </a:solidFill>
                <a:latin typeface="Courier New" pitchFamily="34" charset="0"/>
                <a:ea typeface="Courier New" pitchFamily="34" charset="-122"/>
                <a:cs typeface="Courier New" pitchFamily="34" charset="-120"/>
              </a:rPr>
              <a:t>10 Certificates  ≠  10 Projects</a:t>
            </a:r>
            <a:endParaRPr lang="en-US" sz="1300" dirty="0"/>
          </a:p>
        </p:txBody>
      </p:sp>
      <p:sp>
        <p:nvSpPr>
          <p:cNvPr id="39" name="Text 33"/>
          <p:cNvSpPr txBox="1"/>
          <p:nvPr/>
        </p:nvSpPr>
        <p:spPr>
          <a:xfrm>
            <a:off x="6519672" y="5394960"/>
            <a:ext cx="4892040" cy="777240"/>
          </a:xfrm>
          <a:prstGeom prst="rect">
            <a:avLst/>
          </a:prstGeom>
          <a:noFill/>
          <a:ln/>
        </p:spPr>
        <p:txBody>
          <a:bodyPr wrap="square" lIns="0" tIns="0" rIns="0" bIns="0" rtlCol="0" anchor="ctr"/>
          <a:lstStyle/>
          <a:p>
            <a:pPr marL="0" indent="0">
              <a:lnSpc>
                <a:spcPts val="1500"/>
              </a:lnSpc>
              <a:buNone/>
            </a:pPr>
            <a:r>
              <a:rPr lang="en-US" sz="1100" dirty="0">
                <a:solidFill>
                  <a:srgbClr val="64748B"/>
                </a:solidFill>
                <a:latin typeface="Calibri" pitchFamily="34" charset="0"/>
                <a:ea typeface="Calibri" pitchFamily="34" charset="-122"/>
                <a:cs typeface="Calibri" pitchFamily="34" charset="-120"/>
              </a:rPr>
              <a:t>Certificates prove you completed something.</a:t>
            </a:r>
            <a:endParaRPr lang="en-US" sz="1100" dirty="0"/>
          </a:p>
          <a:p>
            <a:pPr marL="0" indent="0">
              <a:lnSpc>
                <a:spcPts val="1500"/>
              </a:lnSpc>
              <a:buNone/>
            </a:pPr>
            <a:r>
              <a:rPr lang="en-US" sz="1100" dirty="0">
                <a:solidFill>
                  <a:srgbClr val="64748B"/>
                </a:solidFill>
                <a:latin typeface="Calibri" pitchFamily="34" charset="0"/>
                <a:ea typeface="Calibri" pitchFamily="34" charset="-122"/>
                <a:cs typeface="Calibri" pitchFamily="34" charset="-120"/>
              </a:rPr>
              <a:t>Projects prove you can build something.</a:t>
            </a:r>
            <a:endParaRPr lang="en-US" sz="1100" dirty="0"/>
          </a:p>
        </p:txBody>
      </p:sp>
      <p:sp>
        <p:nvSpPr>
          <p:cNvPr id="41" name="Text 34"/>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02 / 12</a:t>
            </a:r>
            <a:endParaRPr lang="en-US" sz="900" dirty="0"/>
          </a:p>
        </p:txBody>
      </p:sp>
      <p:sp>
        <p:nvSpPr>
          <p:cNvPr id="42" name="Text 35"/>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43" name="TWS Logo" descr="Tekki Web Solutions logo"/>
          <p:cNvPicPr>
            <a:picLocks noChangeAspect="1"/>
          </p:cNvPicPr>
          <p:nvPr/>
        </p:nvPicPr>
        <p:blipFill>
          <a:blip r:embed="rId7"/>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2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50"/>
                                        <p:tgtEl>
                                          <p:spTgt spid="6"/>
                                        </p:tgtEl>
                                      </p:cBhvr>
                                    </p:animEffect>
                                  </p:childTnLst>
                                </p:cTn>
                              </p:par>
                              <p:par>
                                <p:cTn id="23" presetID="10" presetClass="entr" presetSubtype="0" fill="hold" grpId="0" nodeType="withEffect">
                                  <p:stCondLst>
                                    <p:cond delay="2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2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0" nodeType="withEffect">
                                  <p:stCondLst>
                                    <p:cond delay="2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450"/>
                                        <p:tgtEl>
                                          <p:spTgt spid="14"/>
                                        </p:tgtEl>
                                      </p:cBhvr>
                                    </p:animEffect>
                                  </p:childTnLst>
                                </p:cTn>
                              </p:par>
                              <p:par>
                                <p:cTn id="41" presetID="10" presetClass="entr" presetSubtype="0" fill="hold" grpId="0" nodeType="withEffect">
                                  <p:stCondLst>
                                    <p:cond delay="39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childTnLst>
                                </p:cTn>
                              </p:par>
                              <p:par>
                                <p:cTn id="44" presetID="10" presetClass="entr" presetSubtype="0" fill="hold" grpId="0" nodeType="withEffect">
                                  <p:stCondLst>
                                    <p:cond delay="39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39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39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52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grpId="0" nodeType="withEffect">
                                  <p:stCondLst>
                                    <p:cond delay="52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grpId="0" nodeType="withEffect">
                                  <p:stCondLst>
                                    <p:cond delay="520"/>
                                  </p:stCondLst>
                                  <p:childTnLst>
                                    <p:set>
                                      <p:cBhvr>
                                        <p:cTn id="60" dur="1" fill="hold">
                                          <p:stCondLst>
                                            <p:cond delay="0"/>
                                          </p:stCondLst>
                                        </p:cTn>
                                        <p:tgtEl>
                                          <p:spTgt spid="21"/>
                                        </p:tgtEl>
                                        <p:attrNameLst>
                                          <p:attrName>style.visibility</p:attrName>
                                        </p:attrNameLst>
                                      </p:cBhvr>
                                      <p:to>
                                        <p:strVal val="visible"/>
                                      </p:to>
                                    </p:set>
                                    <p:animEffect transition="in" filter="fade">
                                      <p:cBhvr>
                                        <p:cTn id="61" dur="450"/>
                                        <p:tgtEl>
                                          <p:spTgt spid="21"/>
                                        </p:tgtEl>
                                      </p:cBhvr>
                                    </p:animEffect>
                                  </p:childTnLst>
                                </p:cTn>
                              </p:par>
                              <p:par>
                                <p:cTn id="62" presetID="10" presetClass="entr" presetSubtype="0" fill="hold" grpId="0" nodeType="withEffect">
                                  <p:stCondLst>
                                    <p:cond delay="52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450"/>
                                        <p:tgtEl>
                                          <p:spTgt spid="20"/>
                                        </p:tgtEl>
                                      </p:cBhvr>
                                    </p:animEffect>
                                  </p:childTnLst>
                                </p:cTn>
                              </p:par>
                              <p:par>
                                <p:cTn id="65" presetID="10" presetClass="entr" presetSubtype="0" fill="hold" grpId="0" nodeType="withEffect">
                                  <p:stCondLst>
                                    <p:cond delay="52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52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50"/>
                                        <p:tgtEl>
                                          <p:spTgt spid="23"/>
                                        </p:tgtEl>
                                      </p:cBhvr>
                                    </p:animEffect>
                                  </p:childTnLst>
                                </p:cTn>
                              </p:par>
                              <p:par>
                                <p:cTn id="71" presetID="10" presetClass="entr" presetSubtype="0" fill="hold" grpId="0" nodeType="withEffect">
                                  <p:stCondLst>
                                    <p:cond delay="52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450"/>
                                        <p:tgtEl>
                                          <p:spTgt spid="24"/>
                                        </p:tgtEl>
                                      </p:cBhvr>
                                    </p:animEffect>
                                  </p:childTnLst>
                                </p:cTn>
                              </p:par>
                              <p:par>
                                <p:cTn id="74" presetID="10" presetClass="entr" presetSubtype="0" fill="hold" grpId="0" nodeType="withEffect">
                                  <p:stCondLst>
                                    <p:cond delay="52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50"/>
                                        <p:tgtEl>
                                          <p:spTgt spid="25"/>
                                        </p:tgtEl>
                                      </p:cBhvr>
                                    </p:animEffect>
                                  </p:childTnLst>
                                </p:cTn>
                              </p:par>
                              <p:par>
                                <p:cTn id="77" presetID="10" presetClass="entr" presetSubtype="0" fill="hold" grpId="0" nodeType="withEffect">
                                  <p:stCondLst>
                                    <p:cond delay="52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50"/>
                                        <p:tgtEl>
                                          <p:spTgt spid="26"/>
                                        </p:tgtEl>
                                      </p:cBhvr>
                                    </p:animEffect>
                                  </p:childTnLst>
                                </p:cTn>
                              </p:par>
                              <p:par>
                                <p:cTn id="80" presetID="10" presetClass="entr" presetSubtype="0" fill="hold" grpId="0" nodeType="withEffect">
                                  <p:stCondLst>
                                    <p:cond delay="52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450"/>
                                        <p:tgtEl>
                                          <p:spTgt spid="27"/>
                                        </p:tgtEl>
                                      </p:cBhvr>
                                    </p:animEffect>
                                  </p:childTnLst>
                                </p:cTn>
                              </p:par>
                              <p:par>
                                <p:cTn id="83" presetID="10" presetClass="entr" presetSubtype="0" fill="hold" grpId="0" nodeType="withEffect">
                                  <p:stCondLst>
                                    <p:cond delay="52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450"/>
                                        <p:tgtEl>
                                          <p:spTgt spid="28"/>
                                        </p:tgtEl>
                                      </p:cBhvr>
                                    </p:animEffect>
                                  </p:childTnLst>
                                </p:cTn>
                              </p:par>
                              <p:par>
                                <p:cTn id="86" presetID="10" presetClass="entr" presetSubtype="0" fill="hold" grpId="0" nodeType="withEffect">
                                  <p:stCondLst>
                                    <p:cond delay="52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52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52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52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52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65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65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650"/>
                                  </p:stCondLst>
                                  <p:childTnLst>
                                    <p:set>
                                      <p:cBhvr>
                                        <p:cTn id="108" dur="1" fill="hold">
                                          <p:stCondLst>
                                            <p:cond delay="0"/>
                                          </p:stCondLst>
                                        </p:cTn>
                                        <p:tgtEl>
                                          <p:spTgt spid="37"/>
                                        </p:tgtEl>
                                        <p:attrNameLst>
                                          <p:attrName>style.visibility</p:attrName>
                                        </p:attrNameLst>
                                      </p:cBhvr>
                                      <p:to>
                                        <p:strVal val="visible"/>
                                      </p:to>
                                    </p:set>
                                    <p:animEffect transition="in" filter="fade">
                                      <p:cBhvr>
                                        <p:cTn id="109" dur="450"/>
                                        <p:tgtEl>
                                          <p:spTgt spid="37"/>
                                        </p:tgtEl>
                                      </p:cBhvr>
                                    </p:animEffect>
                                  </p:childTnLst>
                                </p:cTn>
                              </p:par>
                              <p:par>
                                <p:cTn id="110" presetID="10" presetClass="entr" presetSubtype="0" fill="hold" grpId="0" nodeType="withEffect">
                                  <p:stCondLst>
                                    <p:cond delay="650"/>
                                  </p:stCondLst>
                                  <p:childTnLst>
                                    <p:set>
                                      <p:cBhvr>
                                        <p:cTn id="111" dur="1" fill="hold">
                                          <p:stCondLst>
                                            <p:cond delay="0"/>
                                          </p:stCondLst>
                                        </p:cTn>
                                        <p:tgtEl>
                                          <p:spTgt spid="36"/>
                                        </p:tgtEl>
                                        <p:attrNameLst>
                                          <p:attrName>style.visibility</p:attrName>
                                        </p:attrNameLst>
                                      </p:cBhvr>
                                      <p:to>
                                        <p:strVal val="visible"/>
                                      </p:to>
                                    </p:set>
                                    <p:animEffect transition="in" filter="fade">
                                      <p:cBhvr>
                                        <p:cTn id="112" dur="450"/>
                                        <p:tgtEl>
                                          <p:spTgt spid="36"/>
                                        </p:tgtEl>
                                      </p:cBhvr>
                                    </p:animEffect>
                                  </p:childTnLst>
                                </p:cTn>
                              </p:par>
                              <p:par>
                                <p:cTn id="113" presetID="10" presetClass="entr" presetSubtype="0" fill="hold" grpId="0" nodeType="withEffect">
                                  <p:stCondLst>
                                    <p:cond delay="65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65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7C3AED"/>
                </a:solidFill>
                <a:latin typeface="Courier New" pitchFamily="34" charset="0"/>
                <a:ea typeface="Courier New" pitchFamily="34" charset="-122"/>
                <a:cs typeface="Courier New" pitchFamily="34" charset="-120"/>
              </a:rPr>
              <a:t>SECTION 03 — CHOOSING A CAREER DIRECTION</a:t>
            </a:r>
            <a:endParaRPr lang="en-US" sz="1250" dirty="0"/>
          </a:p>
        </p:txBody>
      </p:sp>
      <p:sp>
        <p:nvSpPr>
          <p:cNvPr id="3" name="Text 1"/>
          <p:cNvSpPr txBox="1"/>
          <p:nvPr/>
        </p:nvSpPr>
        <p:spPr>
          <a:xfrm>
            <a:off x="502920" y="841248"/>
            <a:ext cx="10058400" cy="640080"/>
          </a:xfrm>
          <a:prstGeom prst="rect">
            <a:avLst/>
          </a:prstGeom>
          <a:noFill/>
          <a:ln/>
        </p:spPr>
        <p:txBody>
          <a:bodyPr wrap="square" lIns="0" tIns="0" rIns="0" bIns="0" rtlCol="0" anchor="ctr"/>
          <a:lstStyle/>
          <a:p>
            <a:pPr marL="0" indent="0">
              <a:buNone/>
            </a:pPr>
            <a:r>
              <a:rPr lang="en-US" sz="3100" b="1" dirty="0">
                <a:solidFill>
                  <a:srgbClr val="0F172A"/>
                </a:solidFill>
                <a:latin typeface="Arial" pitchFamily="34" charset="0"/>
                <a:ea typeface="Arial" pitchFamily="34" charset="-122"/>
                <a:cs typeface="Arial" pitchFamily="34" charset="-120"/>
              </a:rPr>
              <a:t>Career Paths &amp; What to Learn</a:t>
            </a:r>
            <a:endParaRPr lang="en-US" sz="3100" dirty="0"/>
          </a:p>
        </p:txBody>
      </p:sp>
      <p:sp>
        <p:nvSpPr>
          <p:cNvPr id="4" name="Shape 2"/>
          <p:cNvSpPr/>
          <p:nvPr/>
        </p:nvSpPr>
        <p:spPr>
          <a:xfrm>
            <a:off x="502920" y="1691640"/>
            <a:ext cx="11155680" cy="402336"/>
          </a:xfrm>
          <a:prstGeom prst="roundRect">
            <a:avLst>
              <a:gd name="adj" fmla="val 18182"/>
            </a:avLst>
          </a:prstGeom>
          <a:solidFill>
            <a:srgbClr val="0F172A"/>
          </a:solidFill>
          <a:ln/>
        </p:spPr>
      </p:sp>
      <p:sp>
        <p:nvSpPr>
          <p:cNvPr id="5" name="Text 3"/>
          <p:cNvSpPr txBox="1"/>
          <p:nvPr/>
        </p:nvSpPr>
        <p:spPr>
          <a:xfrm>
            <a:off x="731520" y="1691640"/>
            <a:ext cx="3886200" cy="402336"/>
          </a:xfrm>
          <a:prstGeom prst="rect">
            <a:avLst/>
          </a:prstGeom>
          <a:noFill/>
          <a:ln/>
        </p:spPr>
        <p:txBody>
          <a:bodyPr wrap="square" lIns="0" tIns="0" rIns="0" bIns="0" rtlCol="0" anchor="ctr"/>
          <a:lstStyle/>
          <a:p>
            <a:pPr marL="0" indent="0">
              <a:buNone/>
            </a:pPr>
            <a:r>
              <a:rPr lang="en-US" sz="1100" b="1" kern="0" spc="100" dirty="0">
                <a:solidFill>
                  <a:srgbClr val="22D3EE"/>
                </a:solidFill>
                <a:latin typeface="Courier New" pitchFamily="34" charset="0"/>
                <a:ea typeface="Courier New" pitchFamily="34" charset="-122"/>
                <a:cs typeface="Courier New" pitchFamily="34" charset="-120"/>
              </a:rPr>
              <a:t>CAREER PATH</a:t>
            </a:r>
            <a:endParaRPr lang="en-US" sz="1100" dirty="0"/>
          </a:p>
        </p:txBody>
      </p:sp>
      <p:sp>
        <p:nvSpPr>
          <p:cNvPr id="6" name="Text 4"/>
          <p:cNvSpPr txBox="1"/>
          <p:nvPr/>
        </p:nvSpPr>
        <p:spPr>
          <a:xfrm>
            <a:off x="4846320" y="1691640"/>
            <a:ext cx="6812280" cy="402336"/>
          </a:xfrm>
          <a:prstGeom prst="rect">
            <a:avLst/>
          </a:prstGeom>
          <a:noFill/>
          <a:ln/>
        </p:spPr>
        <p:txBody>
          <a:bodyPr wrap="square" lIns="0" tIns="0" rIns="0" bIns="0" rtlCol="0" anchor="ctr"/>
          <a:lstStyle/>
          <a:p>
            <a:pPr marL="0" indent="0">
              <a:buNone/>
            </a:pPr>
            <a:r>
              <a:rPr lang="en-US" sz="1100" b="1" kern="0" spc="100" dirty="0">
                <a:solidFill>
                  <a:srgbClr val="22D3EE"/>
                </a:solidFill>
                <a:latin typeface="Courier New" pitchFamily="34" charset="0"/>
                <a:ea typeface="Courier New" pitchFamily="34" charset="-122"/>
                <a:cs typeface="Courier New" pitchFamily="34" charset="-120"/>
              </a:rPr>
              <a:t>START WITH</a:t>
            </a:r>
            <a:endParaRPr lang="en-US" sz="1100" dirty="0"/>
          </a:p>
        </p:txBody>
      </p:sp>
      <p:sp>
        <p:nvSpPr>
          <p:cNvPr id="7" name="Shape 5"/>
          <p:cNvSpPr/>
          <p:nvPr/>
        </p:nvSpPr>
        <p:spPr>
          <a:xfrm>
            <a:off x="502920" y="2093976"/>
            <a:ext cx="11155680" cy="402336"/>
          </a:xfrm>
          <a:prstGeom prst="roundRect">
            <a:avLst/>
          </a:prstGeom>
          <a:solidFill>
            <a:srgbClr val="FFFFFF"/>
          </a:solidFill>
          <a:ln/>
        </p:spPr>
      </p:sp>
      <p:sp>
        <p:nvSpPr>
          <p:cNvPr id="8" name="Shape 6"/>
          <p:cNvSpPr/>
          <p:nvPr/>
        </p:nvSpPr>
        <p:spPr>
          <a:xfrm>
            <a:off x="658368" y="2157984"/>
            <a:ext cx="274320" cy="274320"/>
          </a:xfrm>
          <a:prstGeom prst="ellipse">
            <a:avLst/>
          </a:prstGeom>
          <a:solidFill>
            <a:srgbClr val="0E7490"/>
          </a:solidFill>
          <a:ln/>
        </p:spPr>
      </p:sp>
      <p:pic>
        <p:nvPicPr>
          <p:cNvPr id="9" name="Image 0" descr="/home/claude/icons/layout.png"/>
          <p:cNvPicPr>
            <a:picLocks noChangeAspect="1"/>
          </p:cNvPicPr>
          <p:nvPr/>
        </p:nvPicPr>
        <p:blipFill>
          <a:blip r:embed="rId3"/>
          <a:stretch>
            <a:fillRect/>
          </a:stretch>
        </p:blipFill>
        <p:spPr>
          <a:xfrm>
            <a:off x="720090" y="2219706"/>
            <a:ext cx="150876" cy="150876"/>
          </a:xfrm>
          <a:prstGeom prst="rect">
            <a:avLst/>
          </a:prstGeom>
        </p:spPr>
      </p:pic>
      <p:sp>
        <p:nvSpPr>
          <p:cNvPr id="10" name="Text 7"/>
          <p:cNvSpPr txBox="1"/>
          <p:nvPr/>
        </p:nvSpPr>
        <p:spPr>
          <a:xfrm>
            <a:off x="1033272" y="2093976"/>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Frontend Developer</a:t>
            </a:r>
            <a:endParaRPr lang="en-US" sz="1250" dirty="0"/>
          </a:p>
        </p:txBody>
      </p:sp>
      <p:sp>
        <p:nvSpPr>
          <p:cNvPr id="11" name="Text 8"/>
          <p:cNvSpPr txBox="1"/>
          <p:nvPr/>
        </p:nvSpPr>
        <p:spPr>
          <a:xfrm>
            <a:off x="4846320" y="2093976"/>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HTML, CSS, JavaScript, React</a:t>
            </a:r>
            <a:endParaRPr lang="en-US" sz="1150" dirty="0"/>
          </a:p>
        </p:txBody>
      </p:sp>
      <p:sp>
        <p:nvSpPr>
          <p:cNvPr id="12" name="Shape 9"/>
          <p:cNvSpPr/>
          <p:nvPr/>
        </p:nvSpPr>
        <p:spPr>
          <a:xfrm>
            <a:off x="502920" y="2496312"/>
            <a:ext cx="11155680" cy="402336"/>
          </a:xfrm>
          <a:prstGeom prst="roundRect">
            <a:avLst/>
          </a:prstGeom>
          <a:solidFill>
            <a:srgbClr val="F1F5F9"/>
          </a:solidFill>
          <a:ln/>
        </p:spPr>
      </p:sp>
      <p:sp>
        <p:nvSpPr>
          <p:cNvPr id="13" name="Shape 10"/>
          <p:cNvSpPr/>
          <p:nvPr/>
        </p:nvSpPr>
        <p:spPr>
          <a:xfrm>
            <a:off x="658368" y="2560320"/>
            <a:ext cx="274320" cy="274320"/>
          </a:xfrm>
          <a:prstGeom prst="ellipse">
            <a:avLst/>
          </a:prstGeom>
          <a:solidFill>
            <a:srgbClr val="7C3AED"/>
          </a:solidFill>
          <a:ln/>
        </p:spPr>
      </p:sp>
      <p:pic>
        <p:nvPicPr>
          <p:cNvPr id="14" name="Image 1" descr="/home/claude/icons/server.png"/>
          <p:cNvPicPr>
            <a:picLocks noChangeAspect="1"/>
          </p:cNvPicPr>
          <p:nvPr/>
        </p:nvPicPr>
        <p:blipFill>
          <a:blip r:embed="rId4"/>
          <a:stretch>
            <a:fillRect/>
          </a:stretch>
        </p:blipFill>
        <p:spPr>
          <a:xfrm>
            <a:off x="720090" y="2622042"/>
            <a:ext cx="150876" cy="150876"/>
          </a:xfrm>
          <a:prstGeom prst="rect">
            <a:avLst/>
          </a:prstGeom>
        </p:spPr>
      </p:pic>
      <p:sp>
        <p:nvSpPr>
          <p:cNvPr id="15" name="Text 11"/>
          <p:cNvSpPr txBox="1"/>
          <p:nvPr/>
        </p:nvSpPr>
        <p:spPr>
          <a:xfrm>
            <a:off x="1033272" y="2496312"/>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Backend Developer</a:t>
            </a:r>
            <a:endParaRPr lang="en-US" sz="1250" dirty="0"/>
          </a:p>
        </p:txBody>
      </p:sp>
      <p:sp>
        <p:nvSpPr>
          <p:cNvPr id="16" name="Text 12"/>
          <p:cNvSpPr txBox="1"/>
          <p:nvPr/>
        </p:nvSpPr>
        <p:spPr>
          <a:xfrm>
            <a:off x="4846320" y="2496312"/>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Python / Java / Node.js, SQL, APIs</a:t>
            </a:r>
            <a:endParaRPr lang="en-US" sz="1150" dirty="0"/>
          </a:p>
        </p:txBody>
      </p:sp>
      <p:sp>
        <p:nvSpPr>
          <p:cNvPr id="17" name="Shape 13"/>
          <p:cNvSpPr/>
          <p:nvPr/>
        </p:nvSpPr>
        <p:spPr>
          <a:xfrm>
            <a:off x="502920" y="2898648"/>
            <a:ext cx="11155680" cy="402336"/>
          </a:xfrm>
          <a:prstGeom prst="roundRect">
            <a:avLst/>
          </a:prstGeom>
          <a:solidFill>
            <a:srgbClr val="FFFFFF"/>
          </a:solidFill>
          <a:ln/>
        </p:spPr>
      </p:sp>
      <p:sp>
        <p:nvSpPr>
          <p:cNvPr id="18" name="Shape 14"/>
          <p:cNvSpPr/>
          <p:nvPr/>
        </p:nvSpPr>
        <p:spPr>
          <a:xfrm>
            <a:off x="658368" y="2962656"/>
            <a:ext cx="274320" cy="274320"/>
          </a:xfrm>
          <a:prstGeom prst="ellipse">
            <a:avLst/>
          </a:prstGeom>
          <a:solidFill>
            <a:srgbClr val="DB2777"/>
          </a:solidFill>
          <a:ln/>
        </p:spPr>
      </p:sp>
      <p:pic>
        <p:nvPicPr>
          <p:cNvPr id="19" name="Image 2" descr="/home/claude/icons/cpu.png"/>
          <p:cNvPicPr>
            <a:picLocks noChangeAspect="1"/>
          </p:cNvPicPr>
          <p:nvPr/>
        </p:nvPicPr>
        <p:blipFill>
          <a:blip r:embed="rId5"/>
          <a:stretch>
            <a:fillRect/>
          </a:stretch>
        </p:blipFill>
        <p:spPr>
          <a:xfrm>
            <a:off x="720090" y="3024378"/>
            <a:ext cx="150876" cy="150876"/>
          </a:xfrm>
          <a:prstGeom prst="rect">
            <a:avLst/>
          </a:prstGeom>
        </p:spPr>
      </p:pic>
      <p:sp>
        <p:nvSpPr>
          <p:cNvPr id="20" name="Text 15"/>
          <p:cNvSpPr txBox="1"/>
          <p:nvPr/>
        </p:nvSpPr>
        <p:spPr>
          <a:xfrm>
            <a:off x="1033272" y="2898648"/>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AI/ML Engineer</a:t>
            </a:r>
            <a:endParaRPr lang="en-US" sz="1250" dirty="0"/>
          </a:p>
        </p:txBody>
      </p:sp>
      <p:sp>
        <p:nvSpPr>
          <p:cNvPr id="21" name="Text 16"/>
          <p:cNvSpPr txBox="1"/>
          <p:nvPr/>
        </p:nvSpPr>
        <p:spPr>
          <a:xfrm>
            <a:off x="4846320" y="2898648"/>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Python, Statistics, ML Fundamentals</a:t>
            </a:r>
            <a:endParaRPr lang="en-US" sz="1150" dirty="0"/>
          </a:p>
        </p:txBody>
      </p:sp>
      <p:sp>
        <p:nvSpPr>
          <p:cNvPr id="22" name="Shape 17"/>
          <p:cNvSpPr/>
          <p:nvPr/>
        </p:nvSpPr>
        <p:spPr>
          <a:xfrm>
            <a:off x="502920" y="3300984"/>
            <a:ext cx="11155680" cy="402336"/>
          </a:xfrm>
          <a:prstGeom prst="roundRect">
            <a:avLst/>
          </a:prstGeom>
          <a:solidFill>
            <a:srgbClr val="F1F5F9"/>
          </a:solidFill>
          <a:ln/>
        </p:spPr>
      </p:sp>
      <p:sp>
        <p:nvSpPr>
          <p:cNvPr id="23" name="Shape 18"/>
          <p:cNvSpPr/>
          <p:nvPr/>
        </p:nvSpPr>
        <p:spPr>
          <a:xfrm>
            <a:off x="658368" y="3364992"/>
            <a:ext cx="274320" cy="274320"/>
          </a:xfrm>
          <a:prstGeom prst="ellipse">
            <a:avLst/>
          </a:prstGeom>
          <a:solidFill>
            <a:srgbClr val="EA580C"/>
          </a:solidFill>
          <a:ln/>
        </p:spPr>
      </p:sp>
      <p:pic>
        <p:nvPicPr>
          <p:cNvPr id="24" name="Image 3" descr="/home/claude/icons/tool.png"/>
          <p:cNvPicPr>
            <a:picLocks noChangeAspect="1"/>
          </p:cNvPicPr>
          <p:nvPr/>
        </p:nvPicPr>
        <p:blipFill>
          <a:blip r:embed="rId6"/>
          <a:stretch>
            <a:fillRect/>
          </a:stretch>
        </p:blipFill>
        <p:spPr>
          <a:xfrm>
            <a:off x="720090" y="3426714"/>
            <a:ext cx="150876" cy="150876"/>
          </a:xfrm>
          <a:prstGeom prst="rect">
            <a:avLst/>
          </a:prstGeom>
        </p:spPr>
      </p:pic>
      <p:sp>
        <p:nvSpPr>
          <p:cNvPr id="25" name="Text 19"/>
          <p:cNvSpPr txBox="1"/>
          <p:nvPr/>
        </p:nvSpPr>
        <p:spPr>
          <a:xfrm>
            <a:off x="1033272" y="3300984"/>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DevOps Engineer</a:t>
            </a:r>
            <a:endParaRPr lang="en-US" sz="1250" dirty="0"/>
          </a:p>
        </p:txBody>
      </p:sp>
      <p:sp>
        <p:nvSpPr>
          <p:cNvPr id="26" name="Text 20"/>
          <p:cNvSpPr txBox="1"/>
          <p:nvPr/>
        </p:nvSpPr>
        <p:spPr>
          <a:xfrm>
            <a:off x="4846320" y="3300984"/>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Linux, Networking, Git, Docker, Cloud</a:t>
            </a:r>
            <a:endParaRPr lang="en-US" sz="1150" dirty="0"/>
          </a:p>
        </p:txBody>
      </p:sp>
      <p:sp>
        <p:nvSpPr>
          <p:cNvPr id="27" name="Shape 21"/>
          <p:cNvSpPr/>
          <p:nvPr/>
        </p:nvSpPr>
        <p:spPr>
          <a:xfrm>
            <a:off x="502920" y="3703320"/>
            <a:ext cx="11155680" cy="402336"/>
          </a:xfrm>
          <a:prstGeom prst="roundRect">
            <a:avLst/>
          </a:prstGeom>
          <a:solidFill>
            <a:srgbClr val="FFFFFF"/>
          </a:solidFill>
          <a:ln/>
        </p:spPr>
      </p:sp>
      <p:sp>
        <p:nvSpPr>
          <p:cNvPr id="28" name="Shape 22"/>
          <p:cNvSpPr/>
          <p:nvPr/>
        </p:nvSpPr>
        <p:spPr>
          <a:xfrm>
            <a:off x="658368" y="3767328"/>
            <a:ext cx="274320" cy="274320"/>
          </a:xfrm>
          <a:prstGeom prst="ellipse">
            <a:avLst/>
          </a:prstGeom>
          <a:solidFill>
            <a:srgbClr val="15803D"/>
          </a:solidFill>
          <a:ln/>
        </p:spPr>
      </p:sp>
      <p:pic>
        <p:nvPicPr>
          <p:cNvPr id="29" name="Image 4" descr="/home/claude/icons/bug.png"/>
          <p:cNvPicPr>
            <a:picLocks noChangeAspect="1"/>
          </p:cNvPicPr>
          <p:nvPr/>
        </p:nvPicPr>
        <p:blipFill>
          <a:blip r:embed="rId7"/>
          <a:stretch>
            <a:fillRect/>
          </a:stretch>
        </p:blipFill>
        <p:spPr>
          <a:xfrm>
            <a:off x="720090" y="3829050"/>
            <a:ext cx="150876" cy="150876"/>
          </a:xfrm>
          <a:prstGeom prst="rect">
            <a:avLst/>
          </a:prstGeom>
        </p:spPr>
      </p:pic>
      <p:sp>
        <p:nvSpPr>
          <p:cNvPr id="30" name="Text 23"/>
          <p:cNvSpPr txBox="1"/>
          <p:nvPr/>
        </p:nvSpPr>
        <p:spPr>
          <a:xfrm>
            <a:off x="1033272" y="3703320"/>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QA / Test Automation</a:t>
            </a:r>
            <a:endParaRPr lang="en-US" sz="1250" dirty="0"/>
          </a:p>
        </p:txBody>
      </p:sp>
      <p:sp>
        <p:nvSpPr>
          <p:cNvPr id="31" name="Text 24"/>
          <p:cNvSpPr txBox="1"/>
          <p:nvPr/>
        </p:nvSpPr>
        <p:spPr>
          <a:xfrm>
            <a:off x="4846320" y="3703320"/>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Testing Concepts, SQL, Automation</a:t>
            </a:r>
            <a:endParaRPr lang="en-US" sz="1150" dirty="0"/>
          </a:p>
        </p:txBody>
      </p:sp>
      <p:sp>
        <p:nvSpPr>
          <p:cNvPr id="32" name="Shape 25"/>
          <p:cNvSpPr/>
          <p:nvPr/>
        </p:nvSpPr>
        <p:spPr>
          <a:xfrm>
            <a:off x="502920" y="4105656"/>
            <a:ext cx="11155680" cy="402336"/>
          </a:xfrm>
          <a:prstGeom prst="roundRect">
            <a:avLst/>
          </a:prstGeom>
          <a:solidFill>
            <a:srgbClr val="F1F5F9"/>
          </a:solidFill>
          <a:ln/>
        </p:spPr>
      </p:sp>
      <p:sp>
        <p:nvSpPr>
          <p:cNvPr id="33" name="Shape 26"/>
          <p:cNvSpPr/>
          <p:nvPr/>
        </p:nvSpPr>
        <p:spPr>
          <a:xfrm>
            <a:off x="658368" y="4169664"/>
            <a:ext cx="274320" cy="274320"/>
          </a:xfrm>
          <a:prstGeom prst="ellipse">
            <a:avLst/>
          </a:prstGeom>
          <a:solidFill>
            <a:srgbClr val="0EA5B5"/>
          </a:solidFill>
          <a:ln/>
        </p:spPr>
      </p:sp>
      <p:pic>
        <p:nvPicPr>
          <p:cNvPr id="34" name="Image 5" descr="/home/claude/icons/trending.png"/>
          <p:cNvPicPr>
            <a:picLocks noChangeAspect="1"/>
          </p:cNvPicPr>
          <p:nvPr/>
        </p:nvPicPr>
        <p:blipFill>
          <a:blip r:embed="rId8"/>
          <a:stretch>
            <a:fillRect/>
          </a:stretch>
        </p:blipFill>
        <p:spPr>
          <a:xfrm>
            <a:off x="720090" y="4231386"/>
            <a:ext cx="150876" cy="150876"/>
          </a:xfrm>
          <a:prstGeom prst="rect">
            <a:avLst/>
          </a:prstGeom>
        </p:spPr>
      </p:pic>
      <p:sp>
        <p:nvSpPr>
          <p:cNvPr id="35" name="Text 27"/>
          <p:cNvSpPr txBox="1"/>
          <p:nvPr/>
        </p:nvSpPr>
        <p:spPr>
          <a:xfrm>
            <a:off x="1033272" y="4105656"/>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Data Analyst</a:t>
            </a:r>
            <a:endParaRPr lang="en-US" sz="1250" dirty="0"/>
          </a:p>
        </p:txBody>
      </p:sp>
      <p:sp>
        <p:nvSpPr>
          <p:cNvPr id="36" name="Text 28"/>
          <p:cNvSpPr txBox="1"/>
          <p:nvPr/>
        </p:nvSpPr>
        <p:spPr>
          <a:xfrm>
            <a:off x="4846320" y="4105656"/>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Excel, SQL, Python, Power BI</a:t>
            </a:r>
            <a:endParaRPr lang="en-US" sz="1150" dirty="0"/>
          </a:p>
        </p:txBody>
      </p:sp>
      <p:sp>
        <p:nvSpPr>
          <p:cNvPr id="37" name="Shape 29"/>
          <p:cNvSpPr/>
          <p:nvPr/>
        </p:nvSpPr>
        <p:spPr>
          <a:xfrm>
            <a:off x="502920" y="4507992"/>
            <a:ext cx="11155680" cy="402336"/>
          </a:xfrm>
          <a:prstGeom prst="roundRect">
            <a:avLst/>
          </a:prstGeom>
          <a:solidFill>
            <a:srgbClr val="FFFFFF"/>
          </a:solidFill>
          <a:ln/>
        </p:spPr>
      </p:sp>
      <p:sp>
        <p:nvSpPr>
          <p:cNvPr id="38" name="Shape 30"/>
          <p:cNvSpPr/>
          <p:nvPr/>
        </p:nvSpPr>
        <p:spPr>
          <a:xfrm>
            <a:off x="658368" y="4572000"/>
            <a:ext cx="274320" cy="274320"/>
          </a:xfrm>
          <a:prstGeom prst="ellipse">
            <a:avLst/>
          </a:prstGeom>
          <a:solidFill>
            <a:srgbClr val="9333EA"/>
          </a:solidFill>
          <a:ln/>
        </p:spPr>
      </p:sp>
      <p:pic>
        <p:nvPicPr>
          <p:cNvPr id="39" name="Image 6" descr="/home/claude/icons/database.png"/>
          <p:cNvPicPr>
            <a:picLocks noChangeAspect="1"/>
          </p:cNvPicPr>
          <p:nvPr/>
        </p:nvPicPr>
        <p:blipFill>
          <a:blip r:embed="rId9"/>
          <a:stretch>
            <a:fillRect/>
          </a:stretch>
        </p:blipFill>
        <p:spPr>
          <a:xfrm>
            <a:off x="720090" y="4633722"/>
            <a:ext cx="150876" cy="150876"/>
          </a:xfrm>
          <a:prstGeom prst="rect">
            <a:avLst/>
          </a:prstGeom>
        </p:spPr>
      </p:pic>
      <p:sp>
        <p:nvSpPr>
          <p:cNvPr id="40" name="Text 31"/>
          <p:cNvSpPr txBox="1"/>
          <p:nvPr/>
        </p:nvSpPr>
        <p:spPr>
          <a:xfrm>
            <a:off x="1033272" y="4507992"/>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Data Scientist</a:t>
            </a:r>
            <a:endParaRPr lang="en-US" sz="1250" dirty="0"/>
          </a:p>
        </p:txBody>
      </p:sp>
      <p:sp>
        <p:nvSpPr>
          <p:cNvPr id="41" name="Text 32"/>
          <p:cNvSpPr txBox="1"/>
          <p:nvPr/>
        </p:nvSpPr>
        <p:spPr>
          <a:xfrm>
            <a:off x="4846320" y="4507992"/>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Python, Statistics, SQL, Machine Learning</a:t>
            </a:r>
            <a:endParaRPr lang="en-US" sz="1150" dirty="0"/>
          </a:p>
        </p:txBody>
      </p:sp>
      <p:sp>
        <p:nvSpPr>
          <p:cNvPr id="42" name="Shape 33"/>
          <p:cNvSpPr/>
          <p:nvPr/>
        </p:nvSpPr>
        <p:spPr>
          <a:xfrm>
            <a:off x="502920" y="4910328"/>
            <a:ext cx="11155680" cy="402336"/>
          </a:xfrm>
          <a:prstGeom prst="roundRect">
            <a:avLst/>
          </a:prstGeom>
          <a:solidFill>
            <a:srgbClr val="F1F5F9"/>
          </a:solidFill>
          <a:ln/>
        </p:spPr>
      </p:sp>
      <p:sp>
        <p:nvSpPr>
          <p:cNvPr id="43" name="Shape 34"/>
          <p:cNvSpPr/>
          <p:nvPr/>
        </p:nvSpPr>
        <p:spPr>
          <a:xfrm>
            <a:off x="658368" y="4974336"/>
            <a:ext cx="274320" cy="274320"/>
          </a:xfrm>
          <a:prstGeom prst="ellipse">
            <a:avLst/>
          </a:prstGeom>
          <a:solidFill>
            <a:srgbClr val="B45309"/>
          </a:solidFill>
          <a:ln/>
        </p:spPr>
      </p:sp>
      <p:pic>
        <p:nvPicPr>
          <p:cNvPr id="44" name="Image 7" descr="/home/claude/icons/layers.png"/>
          <p:cNvPicPr>
            <a:picLocks noChangeAspect="1"/>
          </p:cNvPicPr>
          <p:nvPr/>
        </p:nvPicPr>
        <p:blipFill>
          <a:blip r:embed="rId10"/>
          <a:stretch>
            <a:fillRect/>
          </a:stretch>
        </p:blipFill>
        <p:spPr>
          <a:xfrm>
            <a:off x="720090" y="5036058"/>
            <a:ext cx="150876" cy="150876"/>
          </a:xfrm>
          <a:prstGeom prst="rect">
            <a:avLst/>
          </a:prstGeom>
        </p:spPr>
      </p:pic>
      <p:sp>
        <p:nvSpPr>
          <p:cNvPr id="45" name="Text 35"/>
          <p:cNvSpPr txBox="1"/>
          <p:nvPr/>
        </p:nvSpPr>
        <p:spPr>
          <a:xfrm>
            <a:off x="1033272" y="4910328"/>
            <a:ext cx="3566160" cy="402336"/>
          </a:xfrm>
          <a:prstGeom prst="rect">
            <a:avLst/>
          </a:prstGeom>
          <a:noFill/>
          <a:ln/>
        </p:spPr>
        <p:txBody>
          <a:bodyPr wrap="square" lIns="0" tIns="0" rIns="0" bIns="0" rtlCol="0" anchor="ctr"/>
          <a:lstStyle/>
          <a:p>
            <a:pPr marL="0" indent="0">
              <a:buNone/>
            </a:pPr>
            <a:r>
              <a:rPr lang="en-US" sz="1250" b="1" dirty="0">
                <a:solidFill>
                  <a:srgbClr val="0F172A"/>
                </a:solidFill>
                <a:latin typeface="Calibri" pitchFamily="34" charset="0"/>
                <a:ea typeface="Calibri" pitchFamily="34" charset="-122"/>
                <a:cs typeface="Calibri" pitchFamily="34" charset="-120"/>
              </a:rPr>
              <a:t>Data Engineer</a:t>
            </a:r>
            <a:endParaRPr lang="en-US" sz="1250" dirty="0"/>
          </a:p>
        </p:txBody>
      </p:sp>
      <p:sp>
        <p:nvSpPr>
          <p:cNvPr id="46" name="Text 36"/>
          <p:cNvSpPr txBox="1"/>
          <p:nvPr/>
        </p:nvSpPr>
        <p:spPr>
          <a:xfrm>
            <a:off x="4846320" y="4910328"/>
            <a:ext cx="6720840" cy="402336"/>
          </a:xfrm>
          <a:prstGeom prst="rect">
            <a:avLst/>
          </a:prstGeom>
          <a:noFill/>
          <a:ln/>
        </p:spPr>
        <p:txBody>
          <a:bodyPr wrap="square" lIns="0" tIns="0" rIns="0" bIns="0" rtlCol="0" anchor="ctr"/>
          <a:lstStyle/>
          <a:p>
            <a:pPr marL="0" indent="0">
              <a:buNone/>
            </a:pPr>
            <a:r>
              <a:rPr lang="en-US" sz="1150" dirty="0">
                <a:solidFill>
                  <a:srgbClr val="64748B"/>
                </a:solidFill>
                <a:latin typeface="Calibri" pitchFamily="34" charset="0"/>
                <a:ea typeface="Calibri" pitchFamily="34" charset="-122"/>
                <a:cs typeface="Calibri" pitchFamily="34" charset="-120"/>
              </a:rPr>
              <a:t>Python/SQL, Databases, ETL/ELT, Cloud</a:t>
            </a:r>
            <a:endParaRPr lang="en-US" sz="1150" dirty="0"/>
          </a:p>
        </p:txBody>
      </p:sp>
      <p:sp>
        <p:nvSpPr>
          <p:cNvPr id="47" name="Text 37"/>
          <p:cNvSpPr txBox="1"/>
          <p:nvPr/>
        </p:nvSpPr>
        <p:spPr>
          <a:xfrm>
            <a:off x="502920" y="5449824"/>
            <a:ext cx="10972800" cy="365760"/>
          </a:xfrm>
          <a:prstGeom prst="rect">
            <a:avLst/>
          </a:prstGeom>
          <a:noFill/>
          <a:ln/>
        </p:spPr>
        <p:txBody>
          <a:bodyPr wrap="square" lIns="0" tIns="0" rIns="0" bIns="0" rtlCol="0" anchor="ctr"/>
          <a:lstStyle/>
          <a:p>
            <a:pPr marL="0" indent="0">
              <a:buNone/>
            </a:pPr>
            <a:r>
              <a:rPr lang="en-US" sz="1400" b="1" i="1" dirty="0">
                <a:solidFill>
                  <a:srgbClr val="0E7490"/>
                </a:solidFill>
                <a:latin typeface="Arial" pitchFamily="34" charset="0"/>
                <a:ea typeface="Arial" pitchFamily="34" charset="-122"/>
                <a:cs typeface="Arial" pitchFamily="34" charset="-120"/>
              </a:rPr>
              <a:t>You can explore later. But build depth first.</a:t>
            </a:r>
            <a:endParaRPr lang="en-US" sz="1400" dirty="0"/>
          </a:p>
        </p:txBody>
      </p:sp>
      <p:sp>
        <p:nvSpPr>
          <p:cNvPr id="49" name="Text 38"/>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03 / 12</a:t>
            </a:r>
            <a:endParaRPr lang="en-US" sz="900" dirty="0"/>
          </a:p>
        </p:txBody>
      </p:sp>
      <p:sp>
        <p:nvSpPr>
          <p:cNvPr id="50" name="Text 39"/>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51" name="TWS Logo" descr="Tekki Web Solutions logo"/>
          <p:cNvPicPr>
            <a:picLocks noChangeAspect="1"/>
          </p:cNvPicPr>
          <p:nvPr/>
        </p:nvPicPr>
        <p:blipFill>
          <a:blip r:embed="rId11"/>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fill="hold" grpId="0" nodeType="withEffect">
                                  <p:stCondLst>
                                    <p:cond delay="39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0" nodeType="withEffect">
                                  <p:stCondLst>
                                    <p:cond delay="39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50"/>
                                        <p:tgtEl>
                                          <p:spTgt spid="10"/>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39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50"/>
                                        <p:tgtEl>
                                          <p:spTgt spid="8"/>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50"/>
                                        <p:tgtEl>
                                          <p:spTgt spid="9"/>
                                        </p:tgtEl>
                                      </p:cBhvr>
                                    </p:animEffect>
                                  </p:childTnLst>
                                </p:cTn>
                              </p:par>
                              <p:par>
                                <p:cTn id="35" presetID="10" presetClass="entr" presetSubtype="0" fill="hold" grpId="0" nodeType="withEffect">
                                  <p:stCondLst>
                                    <p:cond delay="5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grpId="0" nodeType="withEffect">
                                  <p:stCondLst>
                                    <p:cond delay="5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2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450"/>
                                        <p:tgtEl>
                                          <p:spTgt spid="13"/>
                                        </p:tgtEl>
                                      </p:cBhvr>
                                    </p:animEffect>
                                  </p:childTnLst>
                                </p:cTn>
                              </p:par>
                              <p:par>
                                <p:cTn id="47" presetID="10" presetClass="entr" presetSubtype="0" fill="hold" grpId="0" nodeType="withEffect">
                                  <p:stCondLst>
                                    <p:cond delay="52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65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par>
                                <p:cTn id="56" presetID="10" presetClass="entr" presetSubtype="0" fill="hold" grpId="0" nodeType="withEffect">
                                  <p:stCondLst>
                                    <p:cond delay="65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50"/>
                                        <p:tgtEl>
                                          <p:spTgt spid="21"/>
                                        </p:tgtEl>
                                      </p:cBhvr>
                                    </p:animEffect>
                                  </p:childTnLst>
                                </p:cTn>
                              </p:par>
                              <p:par>
                                <p:cTn id="59" presetID="10" presetClass="entr" presetSubtype="0" fill="hold" grpId="0" nodeType="withEffect">
                                  <p:stCondLst>
                                    <p:cond delay="65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childTnLst>
                                </p:cTn>
                              </p:par>
                              <p:par>
                                <p:cTn id="62" presetID="10" presetClass="entr" presetSubtype="0" fill="hold" grpId="0" nodeType="withEffect">
                                  <p:stCondLst>
                                    <p:cond delay="65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450"/>
                                        <p:tgtEl>
                                          <p:spTgt spid="19"/>
                                        </p:tgtEl>
                                      </p:cBhvr>
                                    </p:animEffect>
                                  </p:childTnLst>
                                </p:cTn>
                              </p:par>
                              <p:par>
                                <p:cTn id="65" presetID="10" presetClass="entr" presetSubtype="0" fill="hold" grpId="0" nodeType="withEffect">
                                  <p:stCondLst>
                                    <p:cond delay="78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78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78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450"/>
                                        <p:tgtEl>
                                          <p:spTgt spid="26"/>
                                        </p:tgtEl>
                                      </p:cBhvr>
                                    </p:animEffect>
                                  </p:childTnLst>
                                </p:cTn>
                              </p:par>
                              <p:par>
                                <p:cTn id="74" presetID="10" presetClass="entr" presetSubtype="0" fill="hold" grpId="0" nodeType="withEffect">
                                  <p:stCondLst>
                                    <p:cond delay="780"/>
                                  </p:stCondLst>
                                  <p:childTnLst>
                                    <p:set>
                                      <p:cBhvr>
                                        <p:cTn id="75" dur="1" fill="hold">
                                          <p:stCondLst>
                                            <p:cond delay="0"/>
                                          </p:stCondLst>
                                        </p:cTn>
                                        <p:tgtEl>
                                          <p:spTgt spid="23"/>
                                        </p:tgtEl>
                                        <p:attrNameLst>
                                          <p:attrName>style.visibility</p:attrName>
                                        </p:attrNameLst>
                                      </p:cBhvr>
                                      <p:to>
                                        <p:strVal val="visible"/>
                                      </p:to>
                                    </p:set>
                                    <p:animEffect transition="in" filter="fade">
                                      <p:cBhvr>
                                        <p:cTn id="76" dur="450"/>
                                        <p:tgtEl>
                                          <p:spTgt spid="23"/>
                                        </p:tgtEl>
                                      </p:cBhvr>
                                    </p:animEffect>
                                  </p:childTnLst>
                                </p:cTn>
                              </p:par>
                              <p:par>
                                <p:cTn id="77" presetID="10" presetClass="entr" presetSubtype="0" fill="hold" grpId="0" nodeType="withEffect">
                                  <p:stCondLst>
                                    <p:cond delay="78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450"/>
                                        <p:tgtEl>
                                          <p:spTgt spid="24"/>
                                        </p:tgtEl>
                                      </p:cBhvr>
                                    </p:animEffect>
                                  </p:childTnLst>
                                </p:cTn>
                              </p:par>
                              <p:par>
                                <p:cTn id="80" presetID="10" presetClass="entr" presetSubtype="0" fill="hold" grpId="0" nodeType="withEffect">
                                  <p:stCondLst>
                                    <p:cond delay="91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450"/>
                                        <p:tgtEl>
                                          <p:spTgt spid="27"/>
                                        </p:tgtEl>
                                      </p:cBhvr>
                                    </p:animEffect>
                                  </p:childTnLst>
                                </p:cTn>
                              </p:par>
                              <p:par>
                                <p:cTn id="83" presetID="10" presetClass="entr" presetSubtype="0" fill="hold" grpId="0" nodeType="withEffect">
                                  <p:stCondLst>
                                    <p:cond delay="910"/>
                                  </p:stCondLst>
                                  <p:childTnLst>
                                    <p:set>
                                      <p:cBhvr>
                                        <p:cTn id="84" dur="1" fill="hold">
                                          <p:stCondLst>
                                            <p:cond delay="0"/>
                                          </p:stCondLst>
                                        </p:cTn>
                                        <p:tgtEl>
                                          <p:spTgt spid="30"/>
                                        </p:tgtEl>
                                        <p:attrNameLst>
                                          <p:attrName>style.visibility</p:attrName>
                                        </p:attrNameLst>
                                      </p:cBhvr>
                                      <p:to>
                                        <p:strVal val="visible"/>
                                      </p:to>
                                    </p:set>
                                    <p:animEffect transition="in" filter="fade">
                                      <p:cBhvr>
                                        <p:cTn id="85" dur="450"/>
                                        <p:tgtEl>
                                          <p:spTgt spid="30"/>
                                        </p:tgtEl>
                                      </p:cBhvr>
                                    </p:animEffect>
                                  </p:childTnLst>
                                </p:cTn>
                              </p:par>
                              <p:par>
                                <p:cTn id="86" presetID="10" presetClass="entr" presetSubtype="0" fill="hold" grpId="0" nodeType="withEffect">
                                  <p:stCondLst>
                                    <p:cond delay="91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450"/>
                                        <p:tgtEl>
                                          <p:spTgt spid="31"/>
                                        </p:tgtEl>
                                      </p:cBhvr>
                                    </p:animEffect>
                                  </p:childTnLst>
                                </p:cTn>
                              </p:par>
                              <p:par>
                                <p:cTn id="89" presetID="10" presetClass="entr" presetSubtype="0" fill="hold" grpId="0" nodeType="withEffect">
                                  <p:stCondLst>
                                    <p:cond delay="91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450"/>
                                        <p:tgtEl>
                                          <p:spTgt spid="28"/>
                                        </p:tgtEl>
                                      </p:cBhvr>
                                    </p:animEffect>
                                  </p:childTnLst>
                                </p:cTn>
                              </p:par>
                              <p:par>
                                <p:cTn id="92" presetID="10" presetClass="entr" presetSubtype="0" fill="hold" grpId="0" nodeType="withEffect">
                                  <p:stCondLst>
                                    <p:cond delay="91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450"/>
                                        <p:tgtEl>
                                          <p:spTgt spid="29"/>
                                        </p:tgtEl>
                                      </p:cBhvr>
                                    </p:animEffect>
                                  </p:childTnLst>
                                </p:cTn>
                              </p:par>
                              <p:par>
                                <p:cTn id="95" presetID="10" presetClass="entr" presetSubtype="0" fill="hold" grpId="0" nodeType="withEffect">
                                  <p:stCondLst>
                                    <p:cond delay="104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104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50"/>
                                        <p:tgtEl>
                                          <p:spTgt spid="35"/>
                                        </p:tgtEl>
                                      </p:cBhvr>
                                    </p:animEffect>
                                  </p:childTnLst>
                                </p:cTn>
                              </p:par>
                              <p:par>
                                <p:cTn id="101" presetID="10" presetClass="entr" presetSubtype="0" fill="hold" grpId="0" nodeType="withEffect">
                                  <p:stCondLst>
                                    <p:cond delay="1040"/>
                                  </p:stCondLst>
                                  <p:childTnLst>
                                    <p:set>
                                      <p:cBhvr>
                                        <p:cTn id="102" dur="1" fill="hold">
                                          <p:stCondLst>
                                            <p:cond delay="0"/>
                                          </p:stCondLst>
                                        </p:cTn>
                                        <p:tgtEl>
                                          <p:spTgt spid="36"/>
                                        </p:tgtEl>
                                        <p:attrNameLst>
                                          <p:attrName>style.visibility</p:attrName>
                                        </p:attrNameLst>
                                      </p:cBhvr>
                                      <p:to>
                                        <p:strVal val="visible"/>
                                      </p:to>
                                    </p:set>
                                    <p:animEffect transition="in" filter="fade">
                                      <p:cBhvr>
                                        <p:cTn id="103" dur="450"/>
                                        <p:tgtEl>
                                          <p:spTgt spid="36"/>
                                        </p:tgtEl>
                                      </p:cBhvr>
                                    </p:animEffect>
                                  </p:childTnLst>
                                </p:cTn>
                              </p:par>
                              <p:par>
                                <p:cTn id="104" presetID="10" presetClass="entr" presetSubtype="0" fill="hold" grpId="0" nodeType="withEffect">
                                  <p:stCondLst>
                                    <p:cond delay="1040"/>
                                  </p:stCondLst>
                                  <p:childTnLst>
                                    <p:set>
                                      <p:cBhvr>
                                        <p:cTn id="105" dur="1" fill="hold">
                                          <p:stCondLst>
                                            <p:cond delay="0"/>
                                          </p:stCondLst>
                                        </p:cTn>
                                        <p:tgtEl>
                                          <p:spTgt spid="33"/>
                                        </p:tgtEl>
                                        <p:attrNameLst>
                                          <p:attrName>style.visibility</p:attrName>
                                        </p:attrNameLst>
                                      </p:cBhvr>
                                      <p:to>
                                        <p:strVal val="visible"/>
                                      </p:to>
                                    </p:set>
                                    <p:animEffect transition="in" filter="fade">
                                      <p:cBhvr>
                                        <p:cTn id="106" dur="450"/>
                                        <p:tgtEl>
                                          <p:spTgt spid="33"/>
                                        </p:tgtEl>
                                      </p:cBhvr>
                                    </p:animEffect>
                                  </p:childTnLst>
                                </p:cTn>
                              </p:par>
                              <p:par>
                                <p:cTn id="107" presetID="10" presetClass="entr" presetSubtype="0" fill="hold" grpId="0" nodeType="withEffect">
                                  <p:stCondLst>
                                    <p:cond delay="104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450"/>
                                        <p:tgtEl>
                                          <p:spTgt spid="34"/>
                                        </p:tgtEl>
                                      </p:cBhvr>
                                    </p:animEffect>
                                  </p:childTnLst>
                                </p:cTn>
                              </p:par>
                              <p:par>
                                <p:cTn id="110" presetID="10" presetClass="entr" presetSubtype="0" fill="hold" grpId="0" nodeType="withEffect">
                                  <p:stCondLst>
                                    <p:cond delay="117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117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50"/>
                                        <p:tgtEl>
                                          <p:spTgt spid="40"/>
                                        </p:tgtEl>
                                      </p:cBhvr>
                                    </p:animEffect>
                                  </p:childTnLst>
                                </p:cTn>
                              </p:par>
                              <p:par>
                                <p:cTn id="116" presetID="10" presetClass="entr" presetSubtype="0" fill="hold" grpId="0" nodeType="withEffect">
                                  <p:stCondLst>
                                    <p:cond delay="117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50"/>
                                        <p:tgtEl>
                                          <p:spTgt spid="41"/>
                                        </p:tgtEl>
                                      </p:cBhvr>
                                    </p:animEffect>
                                  </p:childTnLst>
                                </p:cTn>
                              </p:par>
                              <p:par>
                                <p:cTn id="119" presetID="10" presetClass="entr" presetSubtype="0" fill="hold" grpId="0" nodeType="withEffect">
                                  <p:stCondLst>
                                    <p:cond delay="1170"/>
                                  </p:stCondLst>
                                  <p:childTnLst>
                                    <p:set>
                                      <p:cBhvr>
                                        <p:cTn id="120" dur="1" fill="hold">
                                          <p:stCondLst>
                                            <p:cond delay="0"/>
                                          </p:stCondLst>
                                        </p:cTn>
                                        <p:tgtEl>
                                          <p:spTgt spid="38"/>
                                        </p:tgtEl>
                                        <p:attrNameLst>
                                          <p:attrName>style.visibility</p:attrName>
                                        </p:attrNameLst>
                                      </p:cBhvr>
                                      <p:to>
                                        <p:strVal val="visible"/>
                                      </p:to>
                                    </p:set>
                                    <p:animEffect transition="in" filter="fade">
                                      <p:cBhvr>
                                        <p:cTn id="121" dur="450"/>
                                        <p:tgtEl>
                                          <p:spTgt spid="38"/>
                                        </p:tgtEl>
                                      </p:cBhvr>
                                    </p:animEffect>
                                  </p:childTnLst>
                                </p:cTn>
                              </p:par>
                              <p:par>
                                <p:cTn id="122" presetID="10" presetClass="entr" presetSubtype="0" fill="hold" grpId="0" nodeType="withEffect">
                                  <p:stCondLst>
                                    <p:cond delay="1170"/>
                                  </p:stCondLst>
                                  <p:childTnLst>
                                    <p:set>
                                      <p:cBhvr>
                                        <p:cTn id="123" dur="1" fill="hold">
                                          <p:stCondLst>
                                            <p:cond delay="0"/>
                                          </p:stCondLst>
                                        </p:cTn>
                                        <p:tgtEl>
                                          <p:spTgt spid="39"/>
                                        </p:tgtEl>
                                        <p:attrNameLst>
                                          <p:attrName>style.visibility</p:attrName>
                                        </p:attrNameLst>
                                      </p:cBhvr>
                                      <p:to>
                                        <p:strVal val="visible"/>
                                      </p:to>
                                    </p:set>
                                    <p:animEffect transition="in" filter="fade">
                                      <p:cBhvr>
                                        <p:cTn id="124" dur="450"/>
                                        <p:tgtEl>
                                          <p:spTgt spid="39"/>
                                        </p:tgtEl>
                                      </p:cBhvr>
                                    </p:animEffect>
                                  </p:childTnLst>
                                </p:cTn>
                              </p:par>
                              <p:par>
                                <p:cTn id="125" presetID="10" presetClass="entr" presetSubtype="0" fill="hold" grpId="0" nodeType="withEffect">
                                  <p:stCondLst>
                                    <p:cond delay="130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1300"/>
                                  </p:stCondLst>
                                  <p:childTnLst>
                                    <p:set>
                                      <p:cBhvr>
                                        <p:cTn id="129" dur="1" fill="hold">
                                          <p:stCondLst>
                                            <p:cond delay="0"/>
                                          </p:stCondLst>
                                        </p:cTn>
                                        <p:tgtEl>
                                          <p:spTgt spid="45"/>
                                        </p:tgtEl>
                                        <p:attrNameLst>
                                          <p:attrName>style.visibility</p:attrName>
                                        </p:attrNameLst>
                                      </p:cBhvr>
                                      <p:to>
                                        <p:strVal val="visible"/>
                                      </p:to>
                                    </p:set>
                                    <p:animEffect transition="in" filter="fade">
                                      <p:cBhvr>
                                        <p:cTn id="130" dur="450"/>
                                        <p:tgtEl>
                                          <p:spTgt spid="45"/>
                                        </p:tgtEl>
                                      </p:cBhvr>
                                    </p:animEffect>
                                  </p:childTnLst>
                                </p:cTn>
                              </p:par>
                              <p:par>
                                <p:cTn id="131" presetID="10" presetClass="entr" presetSubtype="0" fill="hold" grpId="0" nodeType="withEffect">
                                  <p:stCondLst>
                                    <p:cond delay="1300"/>
                                  </p:stCondLst>
                                  <p:childTnLst>
                                    <p:set>
                                      <p:cBhvr>
                                        <p:cTn id="132" dur="1" fill="hold">
                                          <p:stCondLst>
                                            <p:cond delay="0"/>
                                          </p:stCondLst>
                                        </p:cTn>
                                        <p:tgtEl>
                                          <p:spTgt spid="46"/>
                                        </p:tgtEl>
                                        <p:attrNameLst>
                                          <p:attrName>style.visibility</p:attrName>
                                        </p:attrNameLst>
                                      </p:cBhvr>
                                      <p:to>
                                        <p:strVal val="visible"/>
                                      </p:to>
                                    </p:set>
                                    <p:animEffect transition="in" filter="fade">
                                      <p:cBhvr>
                                        <p:cTn id="133" dur="450"/>
                                        <p:tgtEl>
                                          <p:spTgt spid="46"/>
                                        </p:tgtEl>
                                      </p:cBhvr>
                                    </p:animEffect>
                                  </p:childTnLst>
                                </p:cTn>
                              </p:par>
                              <p:par>
                                <p:cTn id="134" presetID="10" presetClass="entr" presetSubtype="0" fill="hold" grpId="0" nodeType="withEffect">
                                  <p:stCondLst>
                                    <p:cond delay="1300"/>
                                  </p:stCondLst>
                                  <p:childTnLst>
                                    <p:set>
                                      <p:cBhvr>
                                        <p:cTn id="135" dur="1" fill="hold">
                                          <p:stCondLst>
                                            <p:cond delay="0"/>
                                          </p:stCondLst>
                                        </p:cTn>
                                        <p:tgtEl>
                                          <p:spTgt spid="43"/>
                                        </p:tgtEl>
                                        <p:attrNameLst>
                                          <p:attrName>style.visibility</p:attrName>
                                        </p:attrNameLst>
                                      </p:cBhvr>
                                      <p:to>
                                        <p:strVal val="visible"/>
                                      </p:to>
                                    </p:set>
                                    <p:animEffect transition="in" filter="fade">
                                      <p:cBhvr>
                                        <p:cTn id="136" dur="450"/>
                                        <p:tgtEl>
                                          <p:spTgt spid="43"/>
                                        </p:tgtEl>
                                      </p:cBhvr>
                                    </p:animEffect>
                                  </p:childTnLst>
                                </p:cTn>
                              </p:par>
                              <p:par>
                                <p:cTn id="137" presetID="10" presetClass="entr" presetSubtype="0" fill="hold" grpId="0" nodeType="withEffect">
                                  <p:stCondLst>
                                    <p:cond delay="130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450"/>
                                        <p:tgtEl>
                                          <p:spTgt spid="44"/>
                                        </p:tgtEl>
                                      </p:cBhvr>
                                    </p:animEffect>
                                  </p:childTnLst>
                                </p:cTn>
                              </p:par>
                              <p:par>
                                <p:cTn id="140" presetID="10" presetClass="entr" presetSubtype="0" fill="hold" grpId="0" nodeType="withEffect">
                                  <p:stCondLst>
                                    <p:cond delay="143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2" name="Text 0"/>
          <p:cNvSpPr txBox="1"/>
          <p:nvPr/>
        </p:nvSpPr>
        <p:spPr>
          <a:xfrm>
            <a:off x="822960" y="777240"/>
            <a:ext cx="7315200" cy="292608"/>
          </a:xfrm>
          <a:prstGeom prst="rect">
            <a:avLst/>
          </a:prstGeom>
          <a:noFill/>
          <a:ln/>
        </p:spPr>
        <p:txBody>
          <a:bodyPr wrap="square" lIns="0" tIns="0" rIns="0" bIns="0" rtlCol="0" anchor="ctr"/>
          <a:lstStyle/>
          <a:p>
            <a:pPr marL="0" indent="0">
              <a:buNone/>
            </a:pPr>
            <a:r>
              <a:rPr lang="en-US" sz="1250" b="1" kern="0" spc="220" dirty="0">
                <a:solidFill>
                  <a:srgbClr val="A78BFA"/>
                </a:solidFill>
                <a:latin typeface="Courier New" pitchFamily="34" charset="0"/>
                <a:ea typeface="Courier New" pitchFamily="34" charset="-122"/>
                <a:cs typeface="Courier New" pitchFamily="34" charset="-120"/>
              </a:rPr>
              <a:t>SECTION 04 — HOW TO USE AI</a:t>
            </a:r>
            <a:endParaRPr lang="en-US" sz="1250" dirty="0"/>
          </a:p>
        </p:txBody>
      </p:sp>
      <p:sp>
        <p:nvSpPr>
          <p:cNvPr id="3" name="Text 1"/>
          <p:cNvSpPr txBox="1"/>
          <p:nvPr/>
        </p:nvSpPr>
        <p:spPr>
          <a:xfrm>
            <a:off x="822960" y="1965960"/>
            <a:ext cx="10515600" cy="914400"/>
          </a:xfrm>
          <a:prstGeom prst="rect">
            <a:avLst/>
          </a:prstGeom>
          <a:noFill/>
          <a:ln/>
        </p:spPr>
        <p:txBody>
          <a:bodyPr wrap="square" lIns="0" tIns="0" rIns="0" bIns="0" rtlCol="0" anchor="ctr"/>
          <a:lstStyle/>
          <a:p>
            <a:pPr marL="0" indent="0">
              <a:buNone/>
            </a:pPr>
            <a:r>
              <a:rPr lang="en-US" sz="3800" b="1" dirty="0">
                <a:solidFill>
                  <a:srgbClr val="FFFFFF"/>
                </a:solidFill>
                <a:latin typeface="Arial" pitchFamily="34" charset="0"/>
                <a:ea typeface="Arial" pitchFamily="34" charset="-122"/>
                <a:cs typeface="Arial" pitchFamily="34" charset="-120"/>
              </a:rPr>
              <a:t>AI Won't Replace Developers —</a:t>
            </a:r>
            <a:endParaRPr lang="en-US" sz="3800" dirty="0"/>
          </a:p>
        </p:txBody>
      </p:sp>
      <p:sp>
        <p:nvSpPr>
          <p:cNvPr id="4" name="Text 2"/>
          <p:cNvSpPr txBox="1"/>
          <p:nvPr/>
        </p:nvSpPr>
        <p:spPr>
          <a:xfrm>
            <a:off x="822960" y="2697480"/>
            <a:ext cx="10515600" cy="914400"/>
          </a:xfrm>
          <a:prstGeom prst="rect">
            <a:avLst/>
          </a:prstGeom>
          <a:noFill/>
          <a:ln/>
        </p:spPr>
        <p:txBody>
          <a:bodyPr wrap="square" lIns="0" tIns="0" rIns="0" bIns="0" rtlCol="0" anchor="ctr"/>
          <a:lstStyle/>
          <a:p>
            <a:pPr marL="0" indent="0">
              <a:buNone/>
            </a:pPr>
            <a:r>
              <a:rPr lang="en-US" sz="3800" b="1" dirty="0">
                <a:solidFill>
                  <a:srgbClr val="A78BFA"/>
                </a:solidFill>
                <a:latin typeface="Arial" pitchFamily="34" charset="0"/>
                <a:ea typeface="Arial" pitchFamily="34" charset="-122"/>
                <a:cs typeface="Arial" pitchFamily="34" charset="-120"/>
              </a:rPr>
              <a:t>Developers Using AI Will Move Faster.</a:t>
            </a:r>
            <a:endParaRPr lang="en-US" sz="3800" dirty="0"/>
          </a:p>
        </p:txBody>
      </p:sp>
      <p:sp>
        <p:nvSpPr>
          <p:cNvPr id="5" name="Shape 3"/>
          <p:cNvSpPr/>
          <p:nvPr/>
        </p:nvSpPr>
        <p:spPr>
          <a:xfrm>
            <a:off x="868680" y="3794760"/>
            <a:ext cx="3794760" cy="9144"/>
          </a:xfrm>
          <a:prstGeom prst="line">
            <a:avLst/>
          </a:prstGeom>
          <a:noFill/>
          <a:ln w="19050">
            <a:solidFill>
              <a:srgbClr val="2A334A"/>
            </a:solidFill>
            <a:prstDash val="solid"/>
          </a:ln>
        </p:spPr>
      </p:sp>
      <p:sp>
        <p:nvSpPr>
          <p:cNvPr id="6" name="Text 4"/>
          <p:cNvSpPr txBox="1"/>
          <p:nvPr/>
        </p:nvSpPr>
        <p:spPr>
          <a:xfrm>
            <a:off x="822960" y="3977640"/>
            <a:ext cx="7772400" cy="640080"/>
          </a:xfrm>
          <a:prstGeom prst="rect">
            <a:avLst/>
          </a:prstGeom>
          <a:noFill/>
          <a:ln/>
        </p:spPr>
        <p:txBody>
          <a:bodyPr wrap="square" lIns="0" tIns="0" rIns="0" bIns="0" rtlCol="0" anchor="ctr"/>
          <a:lstStyle/>
          <a:p>
            <a:pPr marL="0" indent="0">
              <a:lnSpc>
                <a:spcPts val="2000"/>
              </a:lnSpc>
              <a:buNone/>
            </a:pPr>
            <a:r>
              <a:rPr lang="en-US" sz="1500" dirty="0">
                <a:solidFill>
                  <a:srgbClr val="94A3B8"/>
                </a:solidFill>
                <a:latin typeface="Calibri" pitchFamily="34" charset="0"/>
                <a:ea typeface="Calibri" pitchFamily="34" charset="-122"/>
                <a:cs typeface="Calibri" pitchFamily="34" charset="-120"/>
              </a:rPr>
              <a:t>Treat AI as a developer tool — an accelerator for understanding — not a replacement for it.</a:t>
            </a:r>
            <a:endParaRPr lang="en-US" sz="1500" dirty="0"/>
          </a:p>
        </p:txBody>
      </p:sp>
      <p:sp>
        <p:nvSpPr>
          <p:cNvPr id="7" name="Shape 5"/>
          <p:cNvSpPr/>
          <p:nvPr/>
        </p:nvSpPr>
        <p:spPr>
          <a:xfrm>
            <a:off x="9829800" y="1234440"/>
            <a:ext cx="1188720" cy="1188720"/>
          </a:xfrm>
          <a:prstGeom prst="ellipse">
            <a:avLst/>
          </a:prstGeom>
          <a:solidFill>
            <a:srgbClr val="7C3AED"/>
          </a:solidFill>
          <a:ln/>
        </p:spPr>
      </p:sp>
      <p:pic>
        <p:nvPicPr>
          <p:cNvPr id="8" name="Image 0" descr="/home/claude/icons/cpu.png"/>
          <p:cNvPicPr>
            <a:picLocks noChangeAspect="1"/>
          </p:cNvPicPr>
          <p:nvPr/>
        </p:nvPicPr>
        <p:blipFill>
          <a:blip r:embed="rId3"/>
          <a:stretch>
            <a:fillRect/>
          </a:stretch>
        </p:blipFill>
        <p:spPr>
          <a:xfrm>
            <a:off x="10126980" y="1531620"/>
            <a:ext cx="594360" cy="594360"/>
          </a:xfrm>
          <a:prstGeom prst="rect">
            <a:avLst/>
          </a:prstGeom>
        </p:spPr>
      </p:pic>
      <p:sp>
        <p:nvSpPr>
          <p:cNvPr id="9" name="Shape 6"/>
          <p:cNvSpPr/>
          <p:nvPr/>
        </p:nvSpPr>
        <p:spPr>
          <a:xfrm>
            <a:off x="9829800" y="3063240"/>
            <a:ext cx="1188720" cy="1188720"/>
          </a:xfrm>
          <a:prstGeom prst="ellipse">
            <a:avLst/>
          </a:prstGeom>
          <a:solidFill>
            <a:srgbClr val="22D3EE"/>
          </a:solidFill>
          <a:ln/>
        </p:spPr>
      </p:sp>
      <p:pic>
        <p:nvPicPr>
          <p:cNvPr id="10" name="Image 1" descr="/home/claude/icons/zap.png"/>
          <p:cNvPicPr>
            <a:picLocks noChangeAspect="1"/>
          </p:cNvPicPr>
          <p:nvPr/>
        </p:nvPicPr>
        <p:blipFill>
          <a:blip r:embed="rId4"/>
          <a:stretch>
            <a:fillRect/>
          </a:stretch>
        </p:blipFill>
        <p:spPr>
          <a:xfrm>
            <a:off x="10126980" y="3360420"/>
            <a:ext cx="594360" cy="594360"/>
          </a:xfrm>
          <a:prstGeom prst="rect">
            <a:avLst/>
          </a:prstGeom>
        </p:spPr>
      </p:pic>
      <p:sp>
        <p:nvSpPr>
          <p:cNvPr id="11" name="Shape 7"/>
          <p:cNvSpPr/>
          <p:nvPr/>
        </p:nvSpPr>
        <p:spPr>
          <a:xfrm>
            <a:off x="10424160" y="2423160"/>
            <a:ext cx="9144" cy="640080"/>
          </a:xfrm>
          <a:prstGeom prst="line">
            <a:avLst/>
          </a:prstGeom>
          <a:noFill/>
          <a:ln w="25400">
            <a:solidFill>
              <a:srgbClr val="2A334A"/>
            </a:solidFill>
            <a:prstDash val="solid"/>
          </a:ln>
        </p:spPr>
      </p:sp>
      <p:sp>
        <p:nvSpPr>
          <p:cNvPr id="13" name="Text 8"/>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4B5468"/>
                </a:solidFill>
                <a:latin typeface="Courier New" pitchFamily="34" charset="0"/>
                <a:ea typeface="Courier New" pitchFamily="34" charset="-122"/>
                <a:cs typeface="Courier New" pitchFamily="34" charset="-120"/>
              </a:rPr>
              <a:t>04 / 12</a:t>
            </a:r>
            <a:endParaRPr lang="en-US" sz="900" dirty="0"/>
          </a:p>
        </p:txBody>
      </p:sp>
      <p:sp>
        <p:nvSpPr>
          <p:cNvPr id="14" name="Text 9"/>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4B5468"/>
                </a:solidFill>
                <a:latin typeface="Courier New" pitchFamily="34" charset="0"/>
                <a:ea typeface="Courier New" pitchFamily="34" charset="-122"/>
                <a:cs typeface="Courier New" pitchFamily="34" charset="-120"/>
              </a:rPr>
              <a:t>FROM COLLEGE TO CODE</a:t>
            </a:r>
            <a:endParaRPr lang="en-US" sz="900" dirty="0"/>
          </a:p>
        </p:txBody>
      </p:sp>
      <p:pic>
        <p:nvPicPr>
          <p:cNvPr id="15" name="TWS Logo" descr="Tekki Web Solutions logo"/>
          <p:cNvPicPr>
            <a:picLocks noChangeAspect="1"/>
          </p:cNvPicPr>
          <p:nvPr/>
        </p:nvPicPr>
        <p:blipFill>
          <a:blip r:embed="rId5"/>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50"/>
                                        <p:tgtEl>
                                          <p:spTgt spid="7"/>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50"/>
                                        <p:tgtEl>
                                          <p:spTgt spid="8"/>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3"/>
                                        </p:tgtEl>
                                        <p:attrNameLst>
                                          <p:attrName>style.visibility</p:attrName>
                                        </p:attrNameLst>
                                      </p:cBhvr>
                                      <p:to>
                                        <p:strVal val="visible"/>
                                      </p:to>
                                    </p:set>
                                    <p:animEffect transition="in" filter="fade">
                                      <p:cBhvr>
                                        <p:cTn id="16" dur="450"/>
                                        <p:tgtEl>
                                          <p:spTgt spid="3"/>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50"/>
                                        <p:tgtEl>
                                          <p:spTgt spid="11"/>
                                        </p:tgtEl>
                                      </p:cBhvr>
                                    </p:animEffect>
                                  </p:childTnLst>
                                </p:cTn>
                              </p:par>
                              <p:par>
                                <p:cTn id="20" presetID="10" presetClass="entr" presetSubtype="0" fill="hold" grpId="0" nodeType="withEffect">
                                  <p:stCondLst>
                                    <p:cond delay="52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450"/>
                                        <p:tgtEl>
                                          <p:spTgt spid="4"/>
                                        </p:tgtEl>
                                      </p:cBhvr>
                                    </p:animEffect>
                                  </p:childTnLst>
                                </p:cTn>
                              </p:par>
                              <p:par>
                                <p:cTn id="23" presetID="10" presetClass="entr" presetSubtype="0" fill="hold" grpId="0" nodeType="withEffect">
                                  <p:stCondLst>
                                    <p:cond delay="65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65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65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450"/>
                                        <p:tgtEl>
                                          <p:spTgt spid="5"/>
                                        </p:tgtEl>
                                      </p:cBhvr>
                                    </p:animEffect>
                                  </p:childTnLst>
                                </p:cTn>
                              </p:par>
                              <p:par>
                                <p:cTn id="32" presetID="10" presetClass="entr" presetSubtype="0" fill="hold" grpId="0" nodeType="withEffect">
                                  <p:stCondLst>
                                    <p:cond delay="78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4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0E7490"/>
                </a:solidFill>
                <a:latin typeface="Courier New" pitchFamily="34" charset="0"/>
                <a:ea typeface="Courier New" pitchFamily="34" charset="-122"/>
                <a:cs typeface="Courier New" pitchFamily="34" charset="-120"/>
              </a:rPr>
              <a:t>SECTION 05 — HOW REAL SOFTWARE IS BUILT</a:t>
            </a:r>
            <a:endParaRPr lang="en-US" sz="1250" dirty="0"/>
          </a:p>
        </p:txBody>
      </p:sp>
      <p:sp>
        <p:nvSpPr>
          <p:cNvPr id="3" name="Text 1"/>
          <p:cNvSpPr txBox="1"/>
          <p:nvPr/>
        </p:nvSpPr>
        <p:spPr>
          <a:xfrm>
            <a:off x="502920" y="841248"/>
            <a:ext cx="10058400" cy="640080"/>
          </a:xfrm>
          <a:prstGeom prst="rect">
            <a:avLst/>
          </a:prstGeom>
          <a:noFill/>
          <a:ln/>
        </p:spPr>
        <p:txBody>
          <a:bodyPr wrap="square" lIns="0" tIns="0" rIns="0" bIns="0" rtlCol="0" anchor="ctr"/>
          <a:lstStyle/>
          <a:p>
            <a:pPr marL="0" indent="0">
              <a:buNone/>
            </a:pPr>
            <a:r>
              <a:rPr lang="en-US" sz="3000" b="1" dirty="0">
                <a:solidFill>
                  <a:srgbClr val="0F172A"/>
                </a:solidFill>
                <a:latin typeface="Arial" pitchFamily="34" charset="0"/>
                <a:ea typeface="Arial" pitchFamily="34" charset="-122"/>
                <a:cs typeface="Arial" pitchFamily="34" charset="-120"/>
              </a:rPr>
              <a:t>How a Real Project Is Executed</a:t>
            </a:r>
            <a:endParaRPr lang="en-US" sz="3000" dirty="0"/>
          </a:p>
        </p:txBody>
      </p:sp>
      <p:sp>
        <p:nvSpPr>
          <p:cNvPr id="4" name="Text 2"/>
          <p:cNvSpPr txBox="1"/>
          <p:nvPr/>
        </p:nvSpPr>
        <p:spPr>
          <a:xfrm>
            <a:off x="502920" y="1636776"/>
            <a:ext cx="4572000" cy="274320"/>
          </a:xfrm>
          <a:prstGeom prst="rect">
            <a:avLst/>
          </a:prstGeom>
          <a:noFill/>
          <a:ln/>
        </p:spPr>
        <p:txBody>
          <a:bodyPr wrap="square" lIns="0" tIns="0" rIns="0" bIns="0" rtlCol="0" anchor="ctr"/>
          <a:lstStyle/>
          <a:p>
            <a:pPr marL="0" indent="0">
              <a:buNone/>
            </a:pPr>
            <a:r>
              <a:rPr lang="en-US" sz="1050" b="1" kern="0" spc="120" dirty="0">
                <a:solidFill>
                  <a:srgbClr val="0E7490"/>
                </a:solidFill>
                <a:latin typeface="Courier New" pitchFamily="34" charset="0"/>
                <a:ea typeface="Courier New" pitchFamily="34" charset="-122"/>
                <a:cs typeface="Courier New" pitchFamily="34" charset="-120"/>
              </a:rPr>
              <a:t>PHASE 1 · PLAN &amp; BUILD</a:t>
            </a:r>
            <a:endParaRPr lang="en-US" sz="1050" dirty="0"/>
          </a:p>
        </p:txBody>
      </p:sp>
      <p:sp>
        <p:nvSpPr>
          <p:cNvPr id="5" name="Shape 3"/>
          <p:cNvSpPr/>
          <p:nvPr/>
        </p:nvSpPr>
        <p:spPr>
          <a:xfrm>
            <a:off x="502920" y="1965960"/>
            <a:ext cx="2031797"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6" name="Shape 4"/>
          <p:cNvSpPr/>
          <p:nvPr/>
        </p:nvSpPr>
        <p:spPr>
          <a:xfrm>
            <a:off x="1262786" y="2093976"/>
            <a:ext cx="512064" cy="512064"/>
          </a:xfrm>
          <a:prstGeom prst="ellipse">
            <a:avLst/>
          </a:prstGeom>
          <a:solidFill>
            <a:srgbClr val="0E7490"/>
          </a:solidFill>
          <a:ln/>
        </p:spPr>
      </p:sp>
      <p:pic>
        <p:nvPicPr>
          <p:cNvPr id="7" name="Image 0" descr="/home/claude/icons/messagesquare.png"/>
          <p:cNvPicPr>
            <a:picLocks noChangeAspect="1"/>
          </p:cNvPicPr>
          <p:nvPr/>
        </p:nvPicPr>
        <p:blipFill>
          <a:blip r:embed="rId3"/>
          <a:stretch>
            <a:fillRect/>
          </a:stretch>
        </p:blipFill>
        <p:spPr>
          <a:xfrm>
            <a:off x="1385682" y="2216871"/>
            <a:ext cx="266273" cy="266273"/>
          </a:xfrm>
          <a:prstGeom prst="rect">
            <a:avLst/>
          </a:prstGeom>
        </p:spPr>
      </p:pic>
      <p:sp>
        <p:nvSpPr>
          <p:cNvPr id="8" name="Text 5"/>
          <p:cNvSpPr txBox="1"/>
          <p:nvPr/>
        </p:nvSpPr>
        <p:spPr>
          <a:xfrm>
            <a:off x="576072" y="2679192"/>
            <a:ext cx="1885493"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Client Idea</a:t>
            </a:r>
            <a:endParaRPr lang="en-US" sz="1150" dirty="0"/>
          </a:p>
        </p:txBody>
      </p:sp>
      <p:sp>
        <p:nvSpPr>
          <p:cNvPr id="9" name="Text 6"/>
          <p:cNvSpPr txBox="1"/>
          <p:nvPr/>
        </p:nvSpPr>
        <p:spPr>
          <a:xfrm>
            <a:off x="594360" y="2971800"/>
            <a:ext cx="1848917"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Where it all begins</a:t>
            </a:r>
            <a:endParaRPr lang="en-US" sz="870" dirty="0"/>
          </a:p>
        </p:txBody>
      </p:sp>
      <p:sp>
        <p:nvSpPr>
          <p:cNvPr id="10" name="Text 7"/>
          <p:cNvSpPr txBox="1"/>
          <p:nvPr/>
        </p:nvSpPr>
        <p:spPr>
          <a:xfrm>
            <a:off x="2534717" y="216712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11" name="Shape 8"/>
          <p:cNvSpPr/>
          <p:nvPr/>
        </p:nvSpPr>
        <p:spPr>
          <a:xfrm>
            <a:off x="2790749" y="1965960"/>
            <a:ext cx="2031797"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12" name="Shape 9"/>
          <p:cNvSpPr/>
          <p:nvPr/>
        </p:nvSpPr>
        <p:spPr>
          <a:xfrm>
            <a:off x="3550615" y="2093976"/>
            <a:ext cx="512064" cy="512064"/>
          </a:xfrm>
          <a:prstGeom prst="ellipse">
            <a:avLst/>
          </a:prstGeom>
          <a:solidFill>
            <a:srgbClr val="7C3AED"/>
          </a:solidFill>
          <a:ln/>
        </p:spPr>
      </p:sp>
      <p:pic>
        <p:nvPicPr>
          <p:cNvPr id="13" name="Image 1" descr="/home/claude/icons/clipboard.png"/>
          <p:cNvPicPr>
            <a:picLocks noChangeAspect="1"/>
          </p:cNvPicPr>
          <p:nvPr/>
        </p:nvPicPr>
        <p:blipFill>
          <a:blip r:embed="rId4"/>
          <a:stretch>
            <a:fillRect/>
          </a:stretch>
        </p:blipFill>
        <p:spPr>
          <a:xfrm>
            <a:off x="3673511" y="2216871"/>
            <a:ext cx="266273" cy="266273"/>
          </a:xfrm>
          <a:prstGeom prst="rect">
            <a:avLst/>
          </a:prstGeom>
        </p:spPr>
      </p:pic>
      <p:sp>
        <p:nvSpPr>
          <p:cNvPr id="14" name="Text 10"/>
          <p:cNvSpPr txBox="1"/>
          <p:nvPr/>
        </p:nvSpPr>
        <p:spPr>
          <a:xfrm>
            <a:off x="2863901" y="2679192"/>
            <a:ext cx="1885493"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Requirements</a:t>
            </a:r>
            <a:endParaRPr lang="en-US" sz="1150" dirty="0"/>
          </a:p>
        </p:txBody>
      </p:sp>
      <p:sp>
        <p:nvSpPr>
          <p:cNvPr id="15" name="Text 11"/>
          <p:cNvSpPr txBox="1"/>
          <p:nvPr/>
        </p:nvSpPr>
        <p:spPr>
          <a:xfrm>
            <a:off x="2882189" y="2971800"/>
            <a:ext cx="1848917"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What does the client need?</a:t>
            </a:r>
            <a:endParaRPr lang="en-US" sz="870" dirty="0"/>
          </a:p>
        </p:txBody>
      </p:sp>
      <p:sp>
        <p:nvSpPr>
          <p:cNvPr id="16" name="Text 12"/>
          <p:cNvSpPr txBox="1"/>
          <p:nvPr/>
        </p:nvSpPr>
        <p:spPr>
          <a:xfrm>
            <a:off x="4822546" y="216712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17" name="Shape 13"/>
          <p:cNvSpPr/>
          <p:nvPr/>
        </p:nvSpPr>
        <p:spPr>
          <a:xfrm>
            <a:off x="5078578" y="1965960"/>
            <a:ext cx="2031797"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18" name="Shape 14"/>
          <p:cNvSpPr/>
          <p:nvPr/>
        </p:nvSpPr>
        <p:spPr>
          <a:xfrm>
            <a:off x="5838444" y="2093976"/>
            <a:ext cx="512064" cy="512064"/>
          </a:xfrm>
          <a:prstGeom prst="ellipse">
            <a:avLst/>
          </a:prstGeom>
          <a:solidFill>
            <a:srgbClr val="7C3AED"/>
          </a:solidFill>
          <a:ln/>
        </p:spPr>
      </p:sp>
      <p:pic>
        <p:nvPicPr>
          <p:cNvPr id="19" name="Image 2" descr="/home/claude/icons/sliders.png"/>
          <p:cNvPicPr>
            <a:picLocks noChangeAspect="1"/>
          </p:cNvPicPr>
          <p:nvPr/>
        </p:nvPicPr>
        <p:blipFill>
          <a:blip r:embed="rId5"/>
          <a:stretch>
            <a:fillRect/>
          </a:stretch>
        </p:blipFill>
        <p:spPr>
          <a:xfrm>
            <a:off x="5961339" y="2216871"/>
            <a:ext cx="266273" cy="266273"/>
          </a:xfrm>
          <a:prstGeom prst="rect">
            <a:avLst/>
          </a:prstGeom>
        </p:spPr>
      </p:pic>
      <p:sp>
        <p:nvSpPr>
          <p:cNvPr id="20" name="Text 15"/>
          <p:cNvSpPr txBox="1"/>
          <p:nvPr/>
        </p:nvSpPr>
        <p:spPr>
          <a:xfrm>
            <a:off x="5151730" y="2679192"/>
            <a:ext cx="1885493"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Planning</a:t>
            </a:r>
            <a:endParaRPr lang="en-US" sz="1150" dirty="0"/>
          </a:p>
        </p:txBody>
      </p:sp>
      <p:sp>
        <p:nvSpPr>
          <p:cNvPr id="21" name="Text 16"/>
          <p:cNvSpPr txBox="1"/>
          <p:nvPr/>
        </p:nvSpPr>
        <p:spPr>
          <a:xfrm>
            <a:off x="5170018" y="2971800"/>
            <a:ext cx="1848917"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How will we build it?</a:t>
            </a:r>
            <a:endParaRPr lang="en-US" sz="870" dirty="0"/>
          </a:p>
        </p:txBody>
      </p:sp>
      <p:sp>
        <p:nvSpPr>
          <p:cNvPr id="22" name="Text 17"/>
          <p:cNvSpPr txBox="1"/>
          <p:nvPr/>
        </p:nvSpPr>
        <p:spPr>
          <a:xfrm>
            <a:off x="7110374" y="216712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23" name="Shape 18"/>
          <p:cNvSpPr/>
          <p:nvPr/>
        </p:nvSpPr>
        <p:spPr>
          <a:xfrm>
            <a:off x="7366406" y="1965960"/>
            <a:ext cx="2031797"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24" name="Shape 19"/>
          <p:cNvSpPr/>
          <p:nvPr/>
        </p:nvSpPr>
        <p:spPr>
          <a:xfrm>
            <a:off x="8126273" y="2093976"/>
            <a:ext cx="512064" cy="512064"/>
          </a:xfrm>
          <a:prstGeom prst="ellipse">
            <a:avLst/>
          </a:prstGeom>
          <a:solidFill>
            <a:srgbClr val="DB2777"/>
          </a:solidFill>
          <a:ln/>
        </p:spPr>
      </p:sp>
      <p:pic>
        <p:nvPicPr>
          <p:cNvPr id="25" name="Image 3" descr="/home/claude/icons/pentool.png"/>
          <p:cNvPicPr>
            <a:picLocks noChangeAspect="1"/>
          </p:cNvPicPr>
          <p:nvPr/>
        </p:nvPicPr>
        <p:blipFill>
          <a:blip r:embed="rId6"/>
          <a:stretch>
            <a:fillRect/>
          </a:stretch>
        </p:blipFill>
        <p:spPr>
          <a:xfrm>
            <a:off x="8249168" y="2216871"/>
            <a:ext cx="266273" cy="266273"/>
          </a:xfrm>
          <a:prstGeom prst="rect">
            <a:avLst/>
          </a:prstGeom>
        </p:spPr>
      </p:pic>
      <p:sp>
        <p:nvSpPr>
          <p:cNvPr id="26" name="Text 20"/>
          <p:cNvSpPr txBox="1"/>
          <p:nvPr/>
        </p:nvSpPr>
        <p:spPr>
          <a:xfrm>
            <a:off x="7439558" y="2679192"/>
            <a:ext cx="1885493"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UI/UX Design</a:t>
            </a:r>
            <a:endParaRPr lang="en-US" sz="1150" dirty="0"/>
          </a:p>
        </p:txBody>
      </p:sp>
      <p:sp>
        <p:nvSpPr>
          <p:cNvPr id="27" name="Text 21"/>
          <p:cNvSpPr txBox="1"/>
          <p:nvPr/>
        </p:nvSpPr>
        <p:spPr>
          <a:xfrm>
            <a:off x="7457846" y="2971800"/>
            <a:ext cx="1848917"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What will the user see?</a:t>
            </a:r>
            <a:endParaRPr lang="en-US" sz="870" dirty="0"/>
          </a:p>
        </p:txBody>
      </p:sp>
      <p:sp>
        <p:nvSpPr>
          <p:cNvPr id="28" name="Text 22"/>
          <p:cNvSpPr txBox="1"/>
          <p:nvPr/>
        </p:nvSpPr>
        <p:spPr>
          <a:xfrm>
            <a:off x="9398203" y="216712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29" name="Shape 23"/>
          <p:cNvSpPr/>
          <p:nvPr/>
        </p:nvSpPr>
        <p:spPr>
          <a:xfrm>
            <a:off x="9654235" y="1965960"/>
            <a:ext cx="2031797"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30" name="Shape 24"/>
          <p:cNvSpPr/>
          <p:nvPr/>
        </p:nvSpPr>
        <p:spPr>
          <a:xfrm>
            <a:off x="10414102" y="2093976"/>
            <a:ext cx="512064" cy="512064"/>
          </a:xfrm>
          <a:prstGeom prst="ellipse">
            <a:avLst/>
          </a:prstGeom>
          <a:solidFill>
            <a:srgbClr val="0E7490"/>
          </a:solidFill>
          <a:ln/>
        </p:spPr>
      </p:sp>
      <p:pic>
        <p:nvPicPr>
          <p:cNvPr id="31" name="Image 4" descr="/home/claude/icons/code.png"/>
          <p:cNvPicPr>
            <a:picLocks noChangeAspect="1"/>
          </p:cNvPicPr>
          <p:nvPr/>
        </p:nvPicPr>
        <p:blipFill>
          <a:blip r:embed="rId7"/>
          <a:stretch>
            <a:fillRect/>
          </a:stretch>
        </p:blipFill>
        <p:spPr>
          <a:xfrm>
            <a:off x="10536997" y="2216871"/>
            <a:ext cx="266273" cy="266273"/>
          </a:xfrm>
          <a:prstGeom prst="rect">
            <a:avLst/>
          </a:prstGeom>
        </p:spPr>
      </p:pic>
      <p:sp>
        <p:nvSpPr>
          <p:cNvPr id="32" name="Text 25"/>
          <p:cNvSpPr txBox="1"/>
          <p:nvPr/>
        </p:nvSpPr>
        <p:spPr>
          <a:xfrm>
            <a:off x="9727387" y="2679192"/>
            <a:ext cx="1885493"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Development</a:t>
            </a:r>
            <a:endParaRPr lang="en-US" sz="1150" dirty="0"/>
          </a:p>
        </p:txBody>
      </p:sp>
      <p:sp>
        <p:nvSpPr>
          <p:cNvPr id="33" name="Text 26"/>
          <p:cNvSpPr txBox="1"/>
          <p:nvPr/>
        </p:nvSpPr>
        <p:spPr>
          <a:xfrm>
            <a:off x="9745675" y="2971800"/>
            <a:ext cx="1848917"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Frontend + Backend + DB + APIs</a:t>
            </a:r>
            <a:endParaRPr lang="en-US" sz="870" dirty="0"/>
          </a:p>
        </p:txBody>
      </p:sp>
      <p:sp>
        <p:nvSpPr>
          <p:cNvPr id="34" name="Shape 27"/>
          <p:cNvSpPr/>
          <p:nvPr/>
        </p:nvSpPr>
        <p:spPr>
          <a:xfrm>
            <a:off x="11018520" y="3383280"/>
            <a:ext cx="9144" cy="411480"/>
          </a:xfrm>
          <a:prstGeom prst="line">
            <a:avLst/>
          </a:prstGeom>
          <a:noFill/>
          <a:ln w="25400">
            <a:solidFill>
              <a:srgbClr val="CBD5E1"/>
            </a:solidFill>
            <a:prstDash val="solid"/>
          </a:ln>
        </p:spPr>
      </p:sp>
      <p:sp>
        <p:nvSpPr>
          <p:cNvPr id="35" name="Text 28"/>
          <p:cNvSpPr txBox="1"/>
          <p:nvPr/>
        </p:nvSpPr>
        <p:spPr>
          <a:xfrm>
            <a:off x="10835640" y="3429000"/>
            <a:ext cx="365760" cy="365760"/>
          </a:xfrm>
          <a:prstGeom prst="rect">
            <a:avLst/>
          </a:prstGeom>
          <a:noFill/>
          <a:ln/>
        </p:spPr>
        <p:txBody>
          <a:bodyPr wrap="square" lIns="0" tIns="0" rIns="0" bIns="0"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a:t>
            </a:r>
            <a:endParaRPr lang="en-US" sz="1600" dirty="0"/>
          </a:p>
        </p:txBody>
      </p:sp>
      <p:sp>
        <p:nvSpPr>
          <p:cNvPr id="36" name="Text 29"/>
          <p:cNvSpPr txBox="1"/>
          <p:nvPr/>
        </p:nvSpPr>
        <p:spPr>
          <a:xfrm>
            <a:off x="502920" y="3648456"/>
            <a:ext cx="4572000" cy="274320"/>
          </a:xfrm>
          <a:prstGeom prst="rect">
            <a:avLst/>
          </a:prstGeom>
          <a:noFill/>
          <a:ln/>
        </p:spPr>
        <p:txBody>
          <a:bodyPr wrap="square" lIns="0" tIns="0" rIns="0" bIns="0" rtlCol="0" anchor="ctr"/>
          <a:lstStyle/>
          <a:p>
            <a:pPr marL="0" indent="0">
              <a:buNone/>
            </a:pPr>
            <a:r>
              <a:rPr lang="en-US" sz="1050" b="1" kern="0" spc="120" dirty="0">
                <a:solidFill>
                  <a:srgbClr val="EA580C"/>
                </a:solidFill>
                <a:latin typeface="Courier New" pitchFamily="34" charset="0"/>
                <a:ea typeface="Courier New" pitchFamily="34" charset="-122"/>
                <a:cs typeface="Courier New" pitchFamily="34" charset="-120"/>
              </a:rPr>
              <a:t>PHASE 2 · LAUNCH &amp; GROW</a:t>
            </a:r>
            <a:endParaRPr lang="en-US" sz="1050" dirty="0"/>
          </a:p>
        </p:txBody>
      </p:sp>
      <p:sp>
        <p:nvSpPr>
          <p:cNvPr id="37" name="Shape 30"/>
          <p:cNvSpPr/>
          <p:nvPr/>
        </p:nvSpPr>
        <p:spPr>
          <a:xfrm>
            <a:off x="502920" y="3977640"/>
            <a:ext cx="2603754"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38" name="Shape 31"/>
          <p:cNvSpPr/>
          <p:nvPr/>
        </p:nvSpPr>
        <p:spPr>
          <a:xfrm>
            <a:off x="1548765" y="4105656"/>
            <a:ext cx="512064" cy="512064"/>
          </a:xfrm>
          <a:prstGeom prst="ellipse">
            <a:avLst/>
          </a:prstGeom>
          <a:solidFill>
            <a:srgbClr val="15803D"/>
          </a:solidFill>
          <a:ln/>
        </p:spPr>
      </p:sp>
      <p:pic>
        <p:nvPicPr>
          <p:cNvPr id="39" name="Image 5" descr="/home/claude/icons/bug.png"/>
          <p:cNvPicPr>
            <a:picLocks noChangeAspect="1"/>
          </p:cNvPicPr>
          <p:nvPr/>
        </p:nvPicPr>
        <p:blipFill>
          <a:blip r:embed="rId8"/>
          <a:stretch>
            <a:fillRect/>
          </a:stretch>
        </p:blipFill>
        <p:spPr>
          <a:xfrm>
            <a:off x="1671660" y="4228551"/>
            <a:ext cx="266273" cy="266273"/>
          </a:xfrm>
          <a:prstGeom prst="rect">
            <a:avLst/>
          </a:prstGeom>
        </p:spPr>
      </p:pic>
      <p:sp>
        <p:nvSpPr>
          <p:cNvPr id="40" name="Text 32"/>
          <p:cNvSpPr txBox="1"/>
          <p:nvPr/>
        </p:nvSpPr>
        <p:spPr>
          <a:xfrm>
            <a:off x="576072" y="4690872"/>
            <a:ext cx="2457450"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Testing / QA</a:t>
            </a:r>
            <a:endParaRPr lang="en-US" sz="1150" dirty="0"/>
          </a:p>
        </p:txBody>
      </p:sp>
      <p:sp>
        <p:nvSpPr>
          <p:cNvPr id="41" name="Text 33"/>
          <p:cNvSpPr txBox="1"/>
          <p:nvPr/>
        </p:nvSpPr>
        <p:spPr>
          <a:xfrm>
            <a:off x="594360" y="4983480"/>
            <a:ext cx="2420874"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Does it actually work?</a:t>
            </a:r>
            <a:endParaRPr lang="en-US" sz="870" dirty="0"/>
          </a:p>
        </p:txBody>
      </p:sp>
      <p:sp>
        <p:nvSpPr>
          <p:cNvPr id="42" name="Text 34"/>
          <p:cNvSpPr txBox="1"/>
          <p:nvPr/>
        </p:nvSpPr>
        <p:spPr>
          <a:xfrm>
            <a:off x="3106674" y="417880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43" name="Shape 35"/>
          <p:cNvSpPr/>
          <p:nvPr/>
        </p:nvSpPr>
        <p:spPr>
          <a:xfrm>
            <a:off x="3362706" y="3977640"/>
            <a:ext cx="2603754"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44" name="Shape 36"/>
          <p:cNvSpPr/>
          <p:nvPr/>
        </p:nvSpPr>
        <p:spPr>
          <a:xfrm>
            <a:off x="4408551" y="4105656"/>
            <a:ext cx="512064" cy="512064"/>
          </a:xfrm>
          <a:prstGeom prst="ellipse">
            <a:avLst/>
          </a:prstGeom>
          <a:solidFill>
            <a:srgbClr val="EA580C"/>
          </a:solidFill>
          <a:ln/>
        </p:spPr>
      </p:sp>
      <p:pic>
        <p:nvPicPr>
          <p:cNvPr id="45" name="Image 6" descr="/home/claude/icons/globe.png"/>
          <p:cNvPicPr>
            <a:picLocks noChangeAspect="1"/>
          </p:cNvPicPr>
          <p:nvPr/>
        </p:nvPicPr>
        <p:blipFill>
          <a:blip r:embed="rId9"/>
          <a:stretch>
            <a:fillRect/>
          </a:stretch>
        </p:blipFill>
        <p:spPr>
          <a:xfrm>
            <a:off x="4531446" y="4228551"/>
            <a:ext cx="266273" cy="266273"/>
          </a:xfrm>
          <a:prstGeom prst="rect">
            <a:avLst/>
          </a:prstGeom>
        </p:spPr>
      </p:pic>
      <p:sp>
        <p:nvSpPr>
          <p:cNvPr id="46" name="Text 37"/>
          <p:cNvSpPr txBox="1"/>
          <p:nvPr/>
        </p:nvSpPr>
        <p:spPr>
          <a:xfrm>
            <a:off x="3435858" y="4690872"/>
            <a:ext cx="2457450"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Deployment</a:t>
            </a:r>
            <a:endParaRPr lang="en-US" sz="1150" dirty="0"/>
          </a:p>
        </p:txBody>
      </p:sp>
      <p:sp>
        <p:nvSpPr>
          <p:cNvPr id="47" name="Text 38"/>
          <p:cNvSpPr txBox="1"/>
          <p:nvPr/>
        </p:nvSpPr>
        <p:spPr>
          <a:xfrm>
            <a:off x="3454146" y="4983480"/>
            <a:ext cx="2420874"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Put it into the real world</a:t>
            </a:r>
            <a:endParaRPr lang="en-US" sz="870" dirty="0"/>
          </a:p>
        </p:txBody>
      </p:sp>
      <p:sp>
        <p:nvSpPr>
          <p:cNvPr id="48" name="Text 39"/>
          <p:cNvSpPr txBox="1"/>
          <p:nvPr/>
        </p:nvSpPr>
        <p:spPr>
          <a:xfrm>
            <a:off x="5966460" y="417880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49" name="Shape 40"/>
          <p:cNvSpPr/>
          <p:nvPr/>
        </p:nvSpPr>
        <p:spPr>
          <a:xfrm>
            <a:off x="6222492" y="3977640"/>
            <a:ext cx="2603754"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50" name="Shape 41"/>
          <p:cNvSpPr/>
          <p:nvPr/>
        </p:nvSpPr>
        <p:spPr>
          <a:xfrm>
            <a:off x="7268337" y="4105656"/>
            <a:ext cx="512064" cy="512064"/>
          </a:xfrm>
          <a:prstGeom prst="ellipse">
            <a:avLst/>
          </a:prstGeom>
          <a:solidFill>
            <a:srgbClr val="EA580C"/>
          </a:solidFill>
          <a:ln/>
        </p:spPr>
      </p:sp>
      <p:pic>
        <p:nvPicPr>
          <p:cNvPr id="51" name="Image 7" descr="/home/claude/icons/eye.png"/>
          <p:cNvPicPr>
            <a:picLocks noChangeAspect="1"/>
          </p:cNvPicPr>
          <p:nvPr/>
        </p:nvPicPr>
        <p:blipFill>
          <a:blip r:embed="rId10"/>
          <a:stretch>
            <a:fillRect/>
          </a:stretch>
        </p:blipFill>
        <p:spPr>
          <a:xfrm>
            <a:off x="7391232" y="4228551"/>
            <a:ext cx="266273" cy="266273"/>
          </a:xfrm>
          <a:prstGeom prst="rect">
            <a:avLst/>
          </a:prstGeom>
        </p:spPr>
      </p:pic>
      <p:sp>
        <p:nvSpPr>
          <p:cNvPr id="52" name="Text 42"/>
          <p:cNvSpPr txBox="1"/>
          <p:nvPr/>
        </p:nvSpPr>
        <p:spPr>
          <a:xfrm>
            <a:off x="6295644" y="4690872"/>
            <a:ext cx="2457450"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Monitoring</a:t>
            </a:r>
            <a:endParaRPr lang="en-US" sz="1150" dirty="0"/>
          </a:p>
        </p:txBody>
      </p:sp>
      <p:sp>
        <p:nvSpPr>
          <p:cNvPr id="53" name="Text 43"/>
          <p:cNvSpPr txBox="1"/>
          <p:nvPr/>
        </p:nvSpPr>
        <p:spPr>
          <a:xfrm>
            <a:off x="6313932" y="4983480"/>
            <a:ext cx="2420874"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Is everything still working?</a:t>
            </a:r>
            <a:endParaRPr lang="en-US" sz="870" dirty="0"/>
          </a:p>
        </p:txBody>
      </p:sp>
      <p:sp>
        <p:nvSpPr>
          <p:cNvPr id="54" name="Text 44"/>
          <p:cNvSpPr txBox="1"/>
          <p:nvPr/>
        </p:nvSpPr>
        <p:spPr>
          <a:xfrm>
            <a:off x="8826246" y="4178808"/>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55" name="Shape 45"/>
          <p:cNvSpPr/>
          <p:nvPr/>
        </p:nvSpPr>
        <p:spPr>
          <a:xfrm>
            <a:off x="9082278" y="3977640"/>
            <a:ext cx="2603754" cy="1417320"/>
          </a:xfrm>
          <a:prstGeom prst="roundRect">
            <a:avLst>
              <a:gd name="adj" fmla="val 6452"/>
            </a:avLst>
          </a:prstGeom>
          <a:solidFill>
            <a:srgbClr val="F1F5F9"/>
          </a:solidFill>
          <a:ln/>
          <a:effectLst>
            <a:outerShdw blurRad="63500" dist="19050" dir="5400000" algn="bl" rotWithShape="0">
              <a:srgbClr val="0A0E1A">
                <a:alpha val="7000"/>
              </a:srgbClr>
            </a:outerShdw>
          </a:effectLst>
        </p:spPr>
      </p:sp>
      <p:sp>
        <p:nvSpPr>
          <p:cNvPr id="56" name="Shape 46"/>
          <p:cNvSpPr/>
          <p:nvPr/>
        </p:nvSpPr>
        <p:spPr>
          <a:xfrm>
            <a:off x="10128123" y="4105656"/>
            <a:ext cx="512064" cy="512064"/>
          </a:xfrm>
          <a:prstGeom prst="ellipse">
            <a:avLst/>
          </a:prstGeom>
          <a:solidFill>
            <a:srgbClr val="15803D"/>
          </a:solidFill>
          <a:ln/>
        </p:spPr>
      </p:sp>
      <p:pic>
        <p:nvPicPr>
          <p:cNvPr id="57" name="Image 8" descr="/home/claude/icons/tool.png"/>
          <p:cNvPicPr>
            <a:picLocks noChangeAspect="1"/>
          </p:cNvPicPr>
          <p:nvPr/>
        </p:nvPicPr>
        <p:blipFill>
          <a:blip r:embed="rId11"/>
          <a:stretch>
            <a:fillRect/>
          </a:stretch>
        </p:blipFill>
        <p:spPr>
          <a:xfrm>
            <a:off x="10251018" y="4228551"/>
            <a:ext cx="266273" cy="266273"/>
          </a:xfrm>
          <a:prstGeom prst="rect">
            <a:avLst/>
          </a:prstGeom>
        </p:spPr>
      </p:pic>
      <p:sp>
        <p:nvSpPr>
          <p:cNvPr id="58" name="Text 47"/>
          <p:cNvSpPr txBox="1"/>
          <p:nvPr/>
        </p:nvSpPr>
        <p:spPr>
          <a:xfrm>
            <a:off x="9155430" y="4690872"/>
            <a:ext cx="2457450" cy="320040"/>
          </a:xfrm>
          <a:prstGeom prst="rect">
            <a:avLst/>
          </a:prstGeom>
          <a:noFill/>
          <a:ln/>
        </p:spPr>
        <p:txBody>
          <a:bodyPr wrap="square" lIns="0" tIns="0" rIns="0" bIns="0" rtlCol="0" anchor="ctr"/>
          <a:lstStyle/>
          <a:p>
            <a:pPr marL="0" indent="0" algn="ctr">
              <a:buNone/>
            </a:pPr>
            <a:r>
              <a:rPr lang="en-US" sz="1150" b="1" dirty="0">
                <a:solidFill>
                  <a:srgbClr val="0F172A"/>
                </a:solidFill>
                <a:latin typeface="Arial" pitchFamily="34" charset="0"/>
                <a:ea typeface="Arial" pitchFamily="34" charset="-122"/>
                <a:cs typeface="Arial" pitchFamily="34" charset="-120"/>
              </a:rPr>
              <a:t>Maintenance</a:t>
            </a:r>
            <a:endParaRPr lang="en-US" sz="1150" dirty="0"/>
          </a:p>
        </p:txBody>
      </p:sp>
      <p:sp>
        <p:nvSpPr>
          <p:cNvPr id="59" name="Text 48"/>
          <p:cNvSpPr txBox="1"/>
          <p:nvPr/>
        </p:nvSpPr>
        <p:spPr>
          <a:xfrm>
            <a:off x="9173718" y="4983480"/>
            <a:ext cx="2420874" cy="384048"/>
          </a:xfrm>
          <a:prstGeom prst="rect">
            <a:avLst/>
          </a:prstGeom>
          <a:noFill/>
          <a:ln/>
        </p:spPr>
        <p:txBody>
          <a:bodyPr wrap="square" lIns="0" tIns="0" rIns="0" bIns="0" rtlCol="0" anchor="ctr"/>
          <a:lstStyle/>
          <a:p>
            <a:pPr marL="0" indent="0" algn="ctr">
              <a:lnSpc>
                <a:spcPts val="1000"/>
              </a:lnSpc>
              <a:buNone/>
            </a:pPr>
            <a:r>
              <a:rPr lang="en-US" sz="870" dirty="0">
                <a:solidFill>
                  <a:srgbClr val="64748B"/>
                </a:solidFill>
                <a:latin typeface="Calibri" pitchFamily="34" charset="0"/>
                <a:ea typeface="Calibri" pitchFamily="34" charset="-122"/>
                <a:cs typeface="Calibri" pitchFamily="34" charset="-120"/>
              </a:rPr>
              <a:t>Fix, improve, evolve</a:t>
            </a:r>
            <a:endParaRPr lang="en-US" sz="870" dirty="0"/>
          </a:p>
        </p:txBody>
      </p:sp>
      <p:sp>
        <p:nvSpPr>
          <p:cNvPr id="61" name="Text 49"/>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05 / 12</a:t>
            </a:r>
            <a:endParaRPr lang="en-US" sz="900" dirty="0"/>
          </a:p>
        </p:txBody>
      </p:sp>
      <p:sp>
        <p:nvSpPr>
          <p:cNvPr id="62" name="Text 50"/>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63" name="TWS Logo" descr="Tekki Web Solutions logo"/>
          <p:cNvPicPr>
            <a:picLocks noChangeAspect="1"/>
          </p:cNvPicPr>
          <p:nvPr/>
        </p:nvPicPr>
        <p:blipFill>
          <a:blip r:embed="rId12"/>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39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fill="hold" grpId="0" nodeType="withEffect">
                                  <p:stCondLst>
                                    <p:cond delay="39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0" nodeType="withEffect">
                                  <p:stCondLst>
                                    <p:cond delay="39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0" nodeType="withEffect">
                                  <p:stCondLst>
                                    <p:cond delay="52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52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50"/>
                                        <p:tgtEl>
                                          <p:spTgt spid="16"/>
                                        </p:tgtEl>
                                      </p:cBhvr>
                                    </p:animEffect>
                                  </p:childTnLst>
                                </p:cTn>
                              </p:par>
                              <p:par>
                                <p:cTn id="35" presetID="10" presetClass="entr" presetSubtype="0" fill="hold" grpId="0" nodeType="withEffect">
                                  <p:stCondLst>
                                    <p:cond delay="52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450"/>
                                        <p:tgtEl>
                                          <p:spTgt spid="22"/>
                                        </p:tgtEl>
                                      </p:cBhvr>
                                    </p:animEffect>
                                  </p:childTnLst>
                                </p:cTn>
                              </p:par>
                              <p:par>
                                <p:cTn id="38" presetID="10" presetClass="entr" presetSubtype="0" fill="hold" grpId="0" nodeType="withEffect">
                                  <p:stCondLst>
                                    <p:cond delay="52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50"/>
                                        <p:tgtEl>
                                          <p:spTgt spid="28"/>
                                        </p:tgtEl>
                                      </p:cBhvr>
                                    </p:animEffect>
                                  </p:childTnLst>
                                </p:cTn>
                              </p:par>
                              <p:par>
                                <p:cTn id="41" presetID="10" presetClass="entr" presetSubtype="0" fill="hold" grpId="0" nodeType="withEffect">
                                  <p:stCondLst>
                                    <p:cond delay="65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450"/>
                                        <p:tgtEl>
                                          <p:spTgt spid="11"/>
                                        </p:tgtEl>
                                      </p:cBhvr>
                                    </p:animEffect>
                                  </p:childTnLst>
                                </p:cTn>
                              </p:par>
                              <p:par>
                                <p:cTn id="44" presetID="10" presetClass="entr" presetSubtype="0" fill="hold" grpId="0" nodeType="withEffect">
                                  <p:stCondLst>
                                    <p:cond delay="65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50"/>
                                        <p:tgtEl>
                                          <p:spTgt spid="12"/>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450"/>
                                        <p:tgtEl>
                                          <p:spTgt spid="13"/>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450"/>
                                        <p:tgtEl>
                                          <p:spTgt spid="14"/>
                                        </p:tgtEl>
                                      </p:cBhvr>
                                    </p:animEffect>
                                  </p:childTnLst>
                                </p:cTn>
                              </p:par>
                              <p:par>
                                <p:cTn id="53" presetID="10" presetClass="entr" presetSubtype="0" fill="hold" grpId="0" nodeType="withEffect">
                                  <p:stCondLst>
                                    <p:cond delay="650"/>
                                  </p:stCondLst>
                                  <p:childTnLst>
                                    <p:set>
                                      <p:cBhvr>
                                        <p:cTn id="54" dur="1" fill="hold">
                                          <p:stCondLst>
                                            <p:cond delay="0"/>
                                          </p:stCondLst>
                                        </p:cTn>
                                        <p:tgtEl>
                                          <p:spTgt spid="15"/>
                                        </p:tgtEl>
                                        <p:attrNameLst>
                                          <p:attrName>style.visibility</p:attrName>
                                        </p:attrNameLst>
                                      </p:cBhvr>
                                      <p:to>
                                        <p:strVal val="visible"/>
                                      </p:to>
                                    </p:set>
                                    <p:animEffect transition="in" filter="fade">
                                      <p:cBhvr>
                                        <p:cTn id="55" dur="450"/>
                                        <p:tgtEl>
                                          <p:spTgt spid="15"/>
                                        </p:tgtEl>
                                      </p:cBhvr>
                                    </p:animEffect>
                                  </p:childTnLst>
                                </p:cTn>
                              </p:par>
                              <p:par>
                                <p:cTn id="56" presetID="10" presetClass="entr" presetSubtype="0" fill="hold" grpId="0" nodeType="withEffect">
                                  <p:stCondLst>
                                    <p:cond delay="780"/>
                                  </p:stCondLst>
                                  <p:childTnLst>
                                    <p:set>
                                      <p:cBhvr>
                                        <p:cTn id="57" dur="1" fill="hold">
                                          <p:stCondLst>
                                            <p:cond delay="0"/>
                                          </p:stCondLst>
                                        </p:cTn>
                                        <p:tgtEl>
                                          <p:spTgt spid="17"/>
                                        </p:tgtEl>
                                        <p:attrNameLst>
                                          <p:attrName>style.visibility</p:attrName>
                                        </p:attrNameLst>
                                      </p:cBhvr>
                                      <p:to>
                                        <p:strVal val="visible"/>
                                      </p:to>
                                    </p:set>
                                    <p:animEffect transition="in" filter="fade">
                                      <p:cBhvr>
                                        <p:cTn id="58" dur="450"/>
                                        <p:tgtEl>
                                          <p:spTgt spid="17"/>
                                        </p:tgtEl>
                                      </p:cBhvr>
                                    </p:animEffect>
                                  </p:childTnLst>
                                </p:cTn>
                              </p:par>
                              <p:par>
                                <p:cTn id="59" presetID="10" presetClass="entr" presetSubtype="0" fill="hold" grpId="0" nodeType="withEffect">
                                  <p:stCondLst>
                                    <p:cond delay="780"/>
                                  </p:stCondLst>
                                  <p:childTnLst>
                                    <p:set>
                                      <p:cBhvr>
                                        <p:cTn id="60" dur="1" fill="hold">
                                          <p:stCondLst>
                                            <p:cond delay="0"/>
                                          </p:stCondLst>
                                        </p:cTn>
                                        <p:tgtEl>
                                          <p:spTgt spid="18"/>
                                        </p:tgtEl>
                                        <p:attrNameLst>
                                          <p:attrName>style.visibility</p:attrName>
                                        </p:attrNameLst>
                                      </p:cBhvr>
                                      <p:to>
                                        <p:strVal val="visible"/>
                                      </p:to>
                                    </p:set>
                                    <p:animEffect transition="in" filter="fade">
                                      <p:cBhvr>
                                        <p:cTn id="61" dur="450"/>
                                        <p:tgtEl>
                                          <p:spTgt spid="18"/>
                                        </p:tgtEl>
                                      </p:cBhvr>
                                    </p:animEffect>
                                  </p:childTnLst>
                                </p:cTn>
                              </p:par>
                              <p:par>
                                <p:cTn id="62" presetID="10" presetClass="entr" presetSubtype="0" fill="hold" grpId="0" nodeType="withEffect">
                                  <p:stCondLst>
                                    <p:cond delay="78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450"/>
                                        <p:tgtEl>
                                          <p:spTgt spid="19"/>
                                        </p:tgtEl>
                                      </p:cBhvr>
                                    </p:animEffect>
                                  </p:childTnLst>
                                </p:cTn>
                              </p:par>
                              <p:par>
                                <p:cTn id="65" presetID="10" presetClass="entr" presetSubtype="0" fill="hold" grpId="0" nodeType="withEffect">
                                  <p:stCondLst>
                                    <p:cond delay="780"/>
                                  </p:stCondLst>
                                  <p:childTnLst>
                                    <p:set>
                                      <p:cBhvr>
                                        <p:cTn id="66" dur="1" fill="hold">
                                          <p:stCondLst>
                                            <p:cond delay="0"/>
                                          </p:stCondLst>
                                        </p:cTn>
                                        <p:tgtEl>
                                          <p:spTgt spid="20"/>
                                        </p:tgtEl>
                                        <p:attrNameLst>
                                          <p:attrName>style.visibility</p:attrName>
                                        </p:attrNameLst>
                                      </p:cBhvr>
                                      <p:to>
                                        <p:strVal val="visible"/>
                                      </p:to>
                                    </p:set>
                                    <p:animEffect transition="in" filter="fade">
                                      <p:cBhvr>
                                        <p:cTn id="67" dur="450"/>
                                        <p:tgtEl>
                                          <p:spTgt spid="20"/>
                                        </p:tgtEl>
                                      </p:cBhvr>
                                    </p:animEffect>
                                  </p:childTnLst>
                                </p:cTn>
                              </p:par>
                              <p:par>
                                <p:cTn id="68" presetID="10" presetClass="entr" presetSubtype="0" fill="hold" grpId="0" nodeType="withEffect">
                                  <p:stCondLst>
                                    <p:cond delay="78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450"/>
                                        <p:tgtEl>
                                          <p:spTgt spid="21"/>
                                        </p:tgtEl>
                                      </p:cBhvr>
                                    </p:animEffect>
                                  </p:childTnLst>
                                </p:cTn>
                              </p:par>
                              <p:par>
                                <p:cTn id="71" presetID="10" presetClass="entr" presetSubtype="0" fill="hold" grpId="0" nodeType="withEffect">
                                  <p:stCondLst>
                                    <p:cond delay="91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50"/>
                                        <p:tgtEl>
                                          <p:spTgt spid="23"/>
                                        </p:tgtEl>
                                      </p:cBhvr>
                                    </p:animEffect>
                                  </p:childTnLst>
                                </p:cTn>
                              </p:par>
                              <p:par>
                                <p:cTn id="74" presetID="10" presetClass="entr" presetSubtype="0" fill="hold" grpId="0" nodeType="withEffect">
                                  <p:stCondLst>
                                    <p:cond delay="91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450"/>
                                        <p:tgtEl>
                                          <p:spTgt spid="24"/>
                                        </p:tgtEl>
                                      </p:cBhvr>
                                    </p:animEffect>
                                  </p:childTnLst>
                                </p:cTn>
                              </p:par>
                              <p:par>
                                <p:cTn id="77" presetID="10" presetClass="entr" presetSubtype="0" fill="hold" grpId="0" nodeType="withEffect">
                                  <p:stCondLst>
                                    <p:cond delay="910"/>
                                  </p:stCondLst>
                                  <p:childTnLst>
                                    <p:set>
                                      <p:cBhvr>
                                        <p:cTn id="78" dur="1" fill="hold">
                                          <p:stCondLst>
                                            <p:cond delay="0"/>
                                          </p:stCondLst>
                                        </p:cTn>
                                        <p:tgtEl>
                                          <p:spTgt spid="25"/>
                                        </p:tgtEl>
                                        <p:attrNameLst>
                                          <p:attrName>style.visibility</p:attrName>
                                        </p:attrNameLst>
                                      </p:cBhvr>
                                      <p:to>
                                        <p:strVal val="visible"/>
                                      </p:to>
                                    </p:set>
                                    <p:animEffect transition="in" filter="fade">
                                      <p:cBhvr>
                                        <p:cTn id="79" dur="450"/>
                                        <p:tgtEl>
                                          <p:spTgt spid="25"/>
                                        </p:tgtEl>
                                      </p:cBhvr>
                                    </p:animEffect>
                                  </p:childTnLst>
                                </p:cTn>
                              </p:par>
                              <p:par>
                                <p:cTn id="80" presetID="10" presetClass="entr" presetSubtype="0" fill="hold" grpId="0" nodeType="withEffect">
                                  <p:stCondLst>
                                    <p:cond delay="910"/>
                                  </p:stCondLst>
                                  <p:childTnLst>
                                    <p:set>
                                      <p:cBhvr>
                                        <p:cTn id="81" dur="1" fill="hold">
                                          <p:stCondLst>
                                            <p:cond delay="0"/>
                                          </p:stCondLst>
                                        </p:cTn>
                                        <p:tgtEl>
                                          <p:spTgt spid="26"/>
                                        </p:tgtEl>
                                        <p:attrNameLst>
                                          <p:attrName>style.visibility</p:attrName>
                                        </p:attrNameLst>
                                      </p:cBhvr>
                                      <p:to>
                                        <p:strVal val="visible"/>
                                      </p:to>
                                    </p:set>
                                    <p:animEffect transition="in" filter="fade">
                                      <p:cBhvr>
                                        <p:cTn id="82" dur="450"/>
                                        <p:tgtEl>
                                          <p:spTgt spid="26"/>
                                        </p:tgtEl>
                                      </p:cBhvr>
                                    </p:animEffect>
                                  </p:childTnLst>
                                </p:cTn>
                              </p:par>
                              <p:par>
                                <p:cTn id="83" presetID="10" presetClass="entr" presetSubtype="0" fill="hold" grpId="0" nodeType="withEffect">
                                  <p:stCondLst>
                                    <p:cond delay="910"/>
                                  </p:stCondLst>
                                  <p:childTnLst>
                                    <p:set>
                                      <p:cBhvr>
                                        <p:cTn id="84" dur="1" fill="hold">
                                          <p:stCondLst>
                                            <p:cond delay="0"/>
                                          </p:stCondLst>
                                        </p:cTn>
                                        <p:tgtEl>
                                          <p:spTgt spid="27"/>
                                        </p:tgtEl>
                                        <p:attrNameLst>
                                          <p:attrName>style.visibility</p:attrName>
                                        </p:attrNameLst>
                                      </p:cBhvr>
                                      <p:to>
                                        <p:strVal val="visible"/>
                                      </p:to>
                                    </p:set>
                                    <p:animEffect transition="in" filter="fade">
                                      <p:cBhvr>
                                        <p:cTn id="85" dur="450"/>
                                        <p:tgtEl>
                                          <p:spTgt spid="27"/>
                                        </p:tgtEl>
                                      </p:cBhvr>
                                    </p:animEffect>
                                  </p:childTnLst>
                                </p:cTn>
                              </p:par>
                              <p:par>
                                <p:cTn id="86" presetID="10" presetClass="entr" presetSubtype="0" fill="hold" grpId="0" nodeType="withEffect">
                                  <p:stCondLst>
                                    <p:cond delay="104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104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104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104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104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117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117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117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130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130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130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130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450"/>
                                        <p:tgtEl>
                                          <p:spTgt spid="40"/>
                                        </p:tgtEl>
                                      </p:cBhvr>
                                    </p:animEffect>
                                  </p:childTnLst>
                                </p:cTn>
                              </p:par>
                              <p:par>
                                <p:cTn id="122" presetID="10" presetClass="entr" presetSubtype="0" fill="hold" grpId="0" nodeType="withEffect">
                                  <p:stCondLst>
                                    <p:cond delay="130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450"/>
                                        <p:tgtEl>
                                          <p:spTgt spid="41"/>
                                        </p:tgtEl>
                                      </p:cBhvr>
                                    </p:animEffect>
                                  </p:childTnLst>
                                </p:cTn>
                              </p:par>
                              <p:par>
                                <p:cTn id="125" presetID="10" presetClass="entr" presetSubtype="0" fill="hold" grpId="0" nodeType="withEffect">
                                  <p:stCondLst>
                                    <p:cond delay="143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1430"/>
                                  </p:stCondLst>
                                  <p:childTnLst>
                                    <p:set>
                                      <p:cBhvr>
                                        <p:cTn id="129" dur="1" fill="hold">
                                          <p:stCondLst>
                                            <p:cond delay="0"/>
                                          </p:stCondLst>
                                        </p:cTn>
                                        <p:tgtEl>
                                          <p:spTgt spid="48"/>
                                        </p:tgtEl>
                                        <p:attrNameLst>
                                          <p:attrName>style.visibility</p:attrName>
                                        </p:attrNameLst>
                                      </p:cBhvr>
                                      <p:to>
                                        <p:strVal val="visible"/>
                                      </p:to>
                                    </p:set>
                                    <p:animEffect transition="in" filter="fade">
                                      <p:cBhvr>
                                        <p:cTn id="130" dur="450"/>
                                        <p:tgtEl>
                                          <p:spTgt spid="48"/>
                                        </p:tgtEl>
                                      </p:cBhvr>
                                    </p:animEffect>
                                  </p:childTnLst>
                                </p:cTn>
                              </p:par>
                              <p:par>
                                <p:cTn id="131" presetID="10" presetClass="entr" presetSubtype="0" fill="hold" grpId="0" nodeType="withEffect">
                                  <p:stCondLst>
                                    <p:cond delay="1430"/>
                                  </p:stCondLst>
                                  <p:childTnLst>
                                    <p:set>
                                      <p:cBhvr>
                                        <p:cTn id="132" dur="1" fill="hold">
                                          <p:stCondLst>
                                            <p:cond delay="0"/>
                                          </p:stCondLst>
                                        </p:cTn>
                                        <p:tgtEl>
                                          <p:spTgt spid="54"/>
                                        </p:tgtEl>
                                        <p:attrNameLst>
                                          <p:attrName>style.visibility</p:attrName>
                                        </p:attrNameLst>
                                      </p:cBhvr>
                                      <p:to>
                                        <p:strVal val="visible"/>
                                      </p:to>
                                    </p:set>
                                    <p:animEffect transition="in" filter="fade">
                                      <p:cBhvr>
                                        <p:cTn id="133" dur="450"/>
                                        <p:tgtEl>
                                          <p:spTgt spid="54"/>
                                        </p:tgtEl>
                                      </p:cBhvr>
                                    </p:animEffect>
                                  </p:childTnLst>
                                </p:cTn>
                              </p:par>
                              <p:par>
                                <p:cTn id="134" presetID="10" presetClass="entr" presetSubtype="0" fill="hold" grpId="0" nodeType="withEffect">
                                  <p:stCondLst>
                                    <p:cond delay="1560"/>
                                  </p:stCondLst>
                                  <p:childTnLst>
                                    <p:set>
                                      <p:cBhvr>
                                        <p:cTn id="135" dur="1" fill="hold">
                                          <p:stCondLst>
                                            <p:cond delay="0"/>
                                          </p:stCondLst>
                                        </p:cTn>
                                        <p:tgtEl>
                                          <p:spTgt spid="43"/>
                                        </p:tgtEl>
                                        <p:attrNameLst>
                                          <p:attrName>style.visibility</p:attrName>
                                        </p:attrNameLst>
                                      </p:cBhvr>
                                      <p:to>
                                        <p:strVal val="visible"/>
                                      </p:to>
                                    </p:set>
                                    <p:animEffect transition="in" filter="fade">
                                      <p:cBhvr>
                                        <p:cTn id="136" dur="450"/>
                                        <p:tgtEl>
                                          <p:spTgt spid="43"/>
                                        </p:tgtEl>
                                      </p:cBhvr>
                                    </p:animEffect>
                                  </p:childTnLst>
                                </p:cTn>
                              </p:par>
                              <p:par>
                                <p:cTn id="137" presetID="10" presetClass="entr" presetSubtype="0" fill="hold" grpId="0" nodeType="withEffect">
                                  <p:stCondLst>
                                    <p:cond delay="1560"/>
                                  </p:stCondLst>
                                  <p:childTnLst>
                                    <p:set>
                                      <p:cBhvr>
                                        <p:cTn id="138" dur="1" fill="hold">
                                          <p:stCondLst>
                                            <p:cond delay="0"/>
                                          </p:stCondLst>
                                        </p:cTn>
                                        <p:tgtEl>
                                          <p:spTgt spid="44"/>
                                        </p:tgtEl>
                                        <p:attrNameLst>
                                          <p:attrName>style.visibility</p:attrName>
                                        </p:attrNameLst>
                                      </p:cBhvr>
                                      <p:to>
                                        <p:strVal val="visible"/>
                                      </p:to>
                                    </p:set>
                                    <p:animEffect transition="in" filter="fade">
                                      <p:cBhvr>
                                        <p:cTn id="139" dur="450"/>
                                        <p:tgtEl>
                                          <p:spTgt spid="44"/>
                                        </p:tgtEl>
                                      </p:cBhvr>
                                    </p:animEffect>
                                  </p:childTnLst>
                                </p:cTn>
                              </p:par>
                              <p:par>
                                <p:cTn id="140" presetID="10" presetClass="entr" presetSubtype="0" fill="hold" grpId="0" nodeType="withEffect">
                                  <p:stCondLst>
                                    <p:cond delay="156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450"/>
                                        <p:tgtEl>
                                          <p:spTgt spid="45"/>
                                        </p:tgtEl>
                                      </p:cBhvr>
                                    </p:animEffect>
                                  </p:childTnLst>
                                </p:cTn>
                              </p:par>
                              <p:par>
                                <p:cTn id="143" presetID="10" presetClass="entr" presetSubtype="0" fill="hold" grpId="0" nodeType="withEffect">
                                  <p:stCondLst>
                                    <p:cond delay="1560"/>
                                  </p:stCondLst>
                                  <p:childTnLst>
                                    <p:set>
                                      <p:cBhvr>
                                        <p:cTn id="144" dur="1" fill="hold">
                                          <p:stCondLst>
                                            <p:cond delay="0"/>
                                          </p:stCondLst>
                                        </p:cTn>
                                        <p:tgtEl>
                                          <p:spTgt spid="46"/>
                                        </p:tgtEl>
                                        <p:attrNameLst>
                                          <p:attrName>style.visibility</p:attrName>
                                        </p:attrNameLst>
                                      </p:cBhvr>
                                      <p:to>
                                        <p:strVal val="visible"/>
                                      </p:to>
                                    </p:set>
                                    <p:animEffect transition="in" filter="fade">
                                      <p:cBhvr>
                                        <p:cTn id="145" dur="450"/>
                                        <p:tgtEl>
                                          <p:spTgt spid="46"/>
                                        </p:tgtEl>
                                      </p:cBhvr>
                                    </p:animEffect>
                                  </p:childTnLst>
                                </p:cTn>
                              </p:par>
                              <p:par>
                                <p:cTn id="146" presetID="10" presetClass="entr" presetSubtype="0" fill="hold" grpId="0" nodeType="withEffect">
                                  <p:stCondLst>
                                    <p:cond delay="1560"/>
                                  </p:stCondLst>
                                  <p:childTnLst>
                                    <p:set>
                                      <p:cBhvr>
                                        <p:cTn id="147" dur="1" fill="hold">
                                          <p:stCondLst>
                                            <p:cond delay="0"/>
                                          </p:stCondLst>
                                        </p:cTn>
                                        <p:tgtEl>
                                          <p:spTgt spid="47"/>
                                        </p:tgtEl>
                                        <p:attrNameLst>
                                          <p:attrName>style.visibility</p:attrName>
                                        </p:attrNameLst>
                                      </p:cBhvr>
                                      <p:to>
                                        <p:strVal val="visible"/>
                                      </p:to>
                                    </p:set>
                                    <p:animEffect transition="in" filter="fade">
                                      <p:cBhvr>
                                        <p:cTn id="148" dur="450"/>
                                        <p:tgtEl>
                                          <p:spTgt spid="47"/>
                                        </p:tgtEl>
                                      </p:cBhvr>
                                    </p:animEffect>
                                  </p:childTnLst>
                                </p:cTn>
                              </p:par>
                              <p:par>
                                <p:cTn id="149" presetID="10" presetClass="entr" presetSubtype="0" fill="hold" grpId="0" nodeType="withEffect">
                                  <p:stCondLst>
                                    <p:cond delay="1690"/>
                                  </p:stCondLst>
                                  <p:childTnLst>
                                    <p:set>
                                      <p:cBhvr>
                                        <p:cTn id="150" dur="1" fill="hold">
                                          <p:stCondLst>
                                            <p:cond delay="0"/>
                                          </p:stCondLst>
                                        </p:cTn>
                                        <p:tgtEl>
                                          <p:spTgt spid="49"/>
                                        </p:tgtEl>
                                        <p:attrNameLst>
                                          <p:attrName>style.visibility</p:attrName>
                                        </p:attrNameLst>
                                      </p:cBhvr>
                                      <p:to>
                                        <p:strVal val="visible"/>
                                      </p:to>
                                    </p:set>
                                    <p:animEffect transition="in" filter="fade">
                                      <p:cBhvr>
                                        <p:cTn id="151" dur="450"/>
                                        <p:tgtEl>
                                          <p:spTgt spid="49"/>
                                        </p:tgtEl>
                                      </p:cBhvr>
                                    </p:animEffect>
                                  </p:childTnLst>
                                </p:cTn>
                              </p:par>
                              <p:par>
                                <p:cTn id="152" presetID="10" presetClass="entr" presetSubtype="0" fill="hold" grpId="0" nodeType="withEffect">
                                  <p:stCondLst>
                                    <p:cond delay="1690"/>
                                  </p:stCondLst>
                                  <p:childTnLst>
                                    <p:set>
                                      <p:cBhvr>
                                        <p:cTn id="153" dur="1" fill="hold">
                                          <p:stCondLst>
                                            <p:cond delay="0"/>
                                          </p:stCondLst>
                                        </p:cTn>
                                        <p:tgtEl>
                                          <p:spTgt spid="50"/>
                                        </p:tgtEl>
                                        <p:attrNameLst>
                                          <p:attrName>style.visibility</p:attrName>
                                        </p:attrNameLst>
                                      </p:cBhvr>
                                      <p:to>
                                        <p:strVal val="visible"/>
                                      </p:to>
                                    </p:set>
                                    <p:animEffect transition="in" filter="fade">
                                      <p:cBhvr>
                                        <p:cTn id="154" dur="450"/>
                                        <p:tgtEl>
                                          <p:spTgt spid="50"/>
                                        </p:tgtEl>
                                      </p:cBhvr>
                                    </p:animEffect>
                                  </p:childTnLst>
                                </p:cTn>
                              </p:par>
                              <p:par>
                                <p:cTn id="155" presetID="10" presetClass="entr" presetSubtype="0" fill="hold" grpId="0" nodeType="withEffect">
                                  <p:stCondLst>
                                    <p:cond delay="1690"/>
                                  </p:stCondLst>
                                  <p:childTnLst>
                                    <p:set>
                                      <p:cBhvr>
                                        <p:cTn id="156" dur="1" fill="hold">
                                          <p:stCondLst>
                                            <p:cond delay="0"/>
                                          </p:stCondLst>
                                        </p:cTn>
                                        <p:tgtEl>
                                          <p:spTgt spid="51"/>
                                        </p:tgtEl>
                                        <p:attrNameLst>
                                          <p:attrName>style.visibility</p:attrName>
                                        </p:attrNameLst>
                                      </p:cBhvr>
                                      <p:to>
                                        <p:strVal val="visible"/>
                                      </p:to>
                                    </p:set>
                                    <p:animEffect transition="in" filter="fade">
                                      <p:cBhvr>
                                        <p:cTn id="157" dur="450"/>
                                        <p:tgtEl>
                                          <p:spTgt spid="51"/>
                                        </p:tgtEl>
                                      </p:cBhvr>
                                    </p:animEffect>
                                  </p:childTnLst>
                                </p:cTn>
                              </p:par>
                              <p:par>
                                <p:cTn id="158" presetID="10" presetClass="entr" presetSubtype="0" fill="hold" grpId="0" nodeType="withEffect">
                                  <p:stCondLst>
                                    <p:cond delay="1690"/>
                                  </p:stCondLst>
                                  <p:childTnLst>
                                    <p:set>
                                      <p:cBhvr>
                                        <p:cTn id="159" dur="1" fill="hold">
                                          <p:stCondLst>
                                            <p:cond delay="0"/>
                                          </p:stCondLst>
                                        </p:cTn>
                                        <p:tgtEl>
                                          <p:spTgt spid="52"/>
                                        </p:tgtEl>
                                        <p:attrNameLst>
                                          <p:attrName>style.visibility</p:attrName>
                                        </p:attrNameLst>
                                      </p:cBhvr>
                                      <p:to>
                                        <p:strVal val="visible"/>
                                      </p:to>
                                    </p:set>
                                    <p:animEffect transition="in" filter="fade">
                                      <p:cBhvr>
                                        <p:cTn id="160" dur="450"/>
                                        <p:tgtEl>
                                          <p:spTgt spid="52"/>
                                        </p:tgtEl>
                                      </p:cBhvr>
                                    </p:animEffect>
                                  </p:childTnLst>
                                </p:cTn>
                              </p:par>
                              <p:par>
                                <p:cTn id="161" presetID="10" presetClass="entr" presetSubtype="0" fill="hold" grpId="0" nodeType="withEffect">
                                  <p:stCondLst>
                                    <p:cond delay="1690"/>
                                  </p:stCondLst>
                                  <p:childTnLst>
                                    <p:set>
                                      <p:cBhvr>
                                        <p:cTn id="162" dur="1" fill="hold">
                                          <p:stCondLst>
                                            <p:cond delay="0"/>
                                          </p:stCondLst>
                                        </p:cTn>
                                        <p:tgtEl>
                                          <p:spTgt spid="53"/>
                                        </p:tgtEl>
                                        <p:attrNameLst>
                                          <p:attrName>style.visibility</p:attrName>
                                        </p:attrNameLst>
                                      </p:cBhvr>
                                      <p:to>
                                        <p:strVal val="visible"/>
                                      </p:to>
                                    </p:set>
                                    <p:animEffect transition="in" filter="fade">
                                      <p:cBhvr>
                                        <p:cTn id="163" dur="450"/>
                                        <p:tgtEl>
                                          <p:spTgt spid="53"/>
                                        </p:tgtEl>
                                      </p:cBhvr>
                                    </p:animEffect>
                                  </p:childTnLst>
                                </p:cTn>
                              </p:par>
                              <p:par>
                                <p:cTn id="164" presetID="10" presetClass="entr" presetSubtype="0" fill="hold" grpId="0" nodeType="withEffect">
                                  <p:stCondLst>
                                    <p:cond delay="1820"/>
                                  </p:stCondLst>
                                  <p:childTnLst>
                                    <p:set>
                                      <p:cBhvr>
                                        <p:cTn id="165" dur="1" fill="hold">
                                          <p:stCondLst>
                                            <p:cond delay="0"/>
                                          </p:stCondLst>
                                        </p:cTn>
                                        <p:tgtEl>
                                          <p:spTgt spid="55"/>
                                        </p:tgtEl>
                                        <p:attrNameLst>
                                          <p:attrName>style.visibility</p:attrName>
                                        </p:attrNameLst>
                                      </p:cBhvr>
                                      <p:to>
                                        <p:strVal val="visible"/>
                                      </p:to>
                                    </p:set>
                                    <p:animEffect transition="in" filter="fade">
                                      <p:cBhvr>
                                        <p:cTn id="166" dur="450"/>
                                        <p:tgtEl>
                                          <p:spTgt spid="55"/>
                                        </p:tgtEl>
                                      </p:cBhvr>
                                    </p:animEffect>
                                  </p:childTnLst>
                                </p:cTn>
                              </p:par>
                              <p:par>
                                <p:cTn id="167" presetID="10" presetClass="entr" presetSubtype="0" fill="hold" grpId="0" nodeType="withEffect">
                                  <p:stCondLst>
                                    <p:cond delay="1820"/>
                                  </p:stCondLst>
                                  <p:childTnLst>
                                    <p:set>
                                      <p:cBhvr>
                                        <p:cTn id="168" dur="1" fill="hold">
                                          <p:stCondLst>
                                            <p:cond delay="0"/>
                                          </p:stCondLst>
                                        </p:cTn>
                                        <p:tgtEl>
                                          <p:spTgt spid="56"/>
                                        </p:tgtEl>
                                        <p:attrNameLst>
                                          <p:attrName>style.visibility</p:attrName>
                                        </p:attrNameLst>
                                      </p:cBhvr>
                                      <p:to>
                                        <p:strVal val="visible"/>
                                      </p:to>
                                    </p:set>
                                    <p:animEffect transition="in" filter="fade">
                                      <p:cBhvr>
                                        <p:cTn id="169" dur="450"/>
                                        <p:tgtEl>
                                          <p:spTgt spid="56"/>
                                        </p:tgtEl>
                                      </p:cBhvr>
                                    </p:animEffect>
                                  </p:childTnLst>
                                </p:cTn>
                              </p:par>
                              <p:par>
                                <p:cTn id="170" presetID="10" presetClass="entr" presetSubtype="0" fill="hold" grpId="0" nodeType="withEffect">
                                  <p:stCondLst>
                                    <p:cond delay="1820"/>
                                  </p:stCondLst>
                                  <p:childTnLst>
                                    <p:set>
                                      <p:cBhvr>
                                        <p:cTn id="171" dur="1" fill="hold">
                                          <p:stCondLst>
                                            <p:cond delay="0"/>
                                          </p:stCondLst>
                                        </p:cTn>
                                        <p:tgtEl>
                                          <p:spTgt spid="57"/>
                                        </p:tgtEl>
                                        <p:attrNameLst>
                                          <p:attrName>style.visibility</p:attrName>
                                        </p:attrNameLst>
                                      </p:cBhvr>
                                      <p:to>
                                        <p:strVal val="visible"/>
                                      </p:to>
                                    </p:set>
                                    <p:animEffect transition="in" filter="fade">
                                      <p:cBhvr>
                                        <p:cTn id="172" dur="450"/>
                                        <p:tgtEl>
                                          <p:spTgt spid="57"/>
                                        </p:tgtEl>
                                      </p:cBhvr>
                                    </p:animEffect>
                                  </p:childTnLst>
                                </p:cTn>
                              </p:par>
                              <p:par>
                                <p:cTn id="173" presetID="10" presetClass="entr" presetSubtype="0" fill="hold" grpId="0" nodeType="withEffect">
                                  <p:stCondLst>
                                    <p:cond delay="1820"/>
                                  </p:stCondLst>
                                  <p:childTnLst>
                                    <p:set>
                                      <p:cBhvr>
                                        <p:cTn id="174" dur="1" fill="hold">
                                          <p:stCondLst>
                                            <p:cond delay="0"/>
                                          </p:stCondLst>
                                        </p:cTn>
                                        <p:tgtEl>
                                          <p:spTgt spid="58"/>
                                        </p:tgtEl>
                                        <p:attrNameLst>
                                          <p:attrName>style.visibility</p:attrName>
                                        </p:attrNameLst>
                                      </p:cBhvr>
                                      <p:to>
                                        <p:strVal val="visible"/>
                                      </p:to>
                                    </p:set>
                                    <p:animEffect transition="in" filter="fade">
                                      <p:cBhvr>
                                        <p:cTn id="175" dur="450"/>
                                        <p:tgtEl>
                                          <p:spTgt spid="58"/>
                                        </p:tgtEl>
                                      </p:cBhvr>
                                    </p:animEffect>
                                  </p:childTnLst>
                                </p:cTn>
                              </p:par>
                              <p:par>
                                <p:cTn id="176" presetID="10" presetClass="entr" presetSubtype="0" fill="hold" grpId="0" nodeType="withEffect">
                                  <p:stCondLst>
                                    <p:cond delay="1820"/>
                                  </p:stCondLst>
                                  <p:childTnLst>
                                    <p:set>
                                      <p:cBhvr>
                                        <p:cTn id="177" dur="1" fill="hold">
                                          <p:stCondLst>
                                            <p:cond delay="0"/>
                                          </p:stCondLst>
                                        </p:cTn>
                                        <p:tgtEl>
                                          <p:spTgt spid="59"/>
                                        </p:tgtEl>
                                        <p:attrNameLst>
                                          <p:attrName>style.visibility</p:attrName>
                                        </p:attrNameLst>
                                      </p:cBhvr>
                                      <p:to>
                                        <p:strVal val="visible"/>
                                      </p:to>
                                    </p:set>
                                    <p:animEffect transition="in" filter="fade">
                                      <p:cBhvr>
                                        <p:cTn id="178" dur="45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7C3AED"/>
                </a:solidFill>
                <a:latin typeface="Courier New" pitchFamily="34" charset="0"/>
                <a:ea typeface="Courier New" pitchFamily="34" charset="-122"/>
                <a:cs typeface="Courier New" pitchFamily="34" charset="-120"/>
              </a:rPr>
              <a:t>SECTION 08 — AI + SOFTWARE DEVELOPMENT</a:t>
            </a:r>
            <a:endParaRPr lang="en-US" sz="1250" dirty="0"/>
          </a:p>
        </p:txBody>
      </p:sp>
      <p:sp>
        <p:nvSpPr>
          <p:cNvPr id="3" name="Text 1"/>
          <p:cNvSpPr txBox="1"/>
          <p:nvPr/>
        </p:nvSpPr>
        <p:spPr>
          <a:xfrm>
            <a:off x="502920" y="841248"/>
            <a:ext cx="10972800" cy="640080"/>
          </a:xfrm>
          <a:prstGeom prst="rect">
            <a:avLst/>
          </a:prstGeom>
          <a:noFill/>
          <a:ln/>
        </p:spPr>
        <p:txBody>
          <a:bodyPr wrap="square" lIns="0" tIns="0" rIns="0" bIns="0" rtlCol="0" anchor="ctr"/>
          <a:lstStyle/>
          <a:p>
            <a:pPr marL="0" indent="0">
              <a:buNone/>
            </a:pPr>
            <a:r>
              <a:rPr lang="en-US" sz="3000" b="1" dirty="0">
                <a:solidFill>
                  <a:srgbClr val="0F172A"/>
                </a:solidFill>
                <a:latin typeface="Arial" pitchFamily="34" charset="0"/>
                <a:ea typeface="Arial" pitchFamily="34" charset="-122"/>
                <a:cs typeface="Arial" pitchFamily="34" charset="-120"/>
              </a:rPr>
              <a:t>Let's Build Something With AI</a:t>
            </a:r>
            <a:endParaRPr lang="en-US" sz="3000" dirty="0"/>
          </a:p>
        </p:txBody>
      </p:sp>
      <p:sp>
        <p:nvSpPr>
          <p:cNvPr id="4" name="Shape 2"/>
          <p:cNvSpPr/>
          <p:nvPr/>
        </p:nvSpPr>
        <p:spPr>
          <a:xfrm>
            <a:off x="2260092" y="2240280"/>
            <a:ext cx="1371600" cy="1371600"/>
          </a:xfrm>
          <a:prstGeom prst="ellipse">
            <a:avLst/>
          </a:prstGeom>
          <a:solidFill>
            <a:srgbClr val="0E7490"/>
          </a:solidFill>
          <a:ln/>
        </p:spPr>
      </p:sp>
      <p:pic>
        <p:nvPicPr>
          <p:cNvPr id="5" name="Image 0" descr="/home/claude/icons/message.png"/>
          <p:cNvPicPr>
            <a:picLocks noChangeAspect="1"/>
          </p:cNvPicPr>
          <p:nvPr/>
        </p:nvPicPr>
        <p:blipFill>
          <a:blip r:embed="rId3"/>
          <a:stretch>
            <a:fillRect/>
          </a:stretch>
        </p:blipFill>
        <p:spPr>
          <a:xfrm>
            <a:off x="2616708" y="2596896"/>
            <a:ext cx="658368" cy="658368"/>
          </a:xfrm>
          <a:prstGeom prst="rect">
            <a:avLst/>
          </a:prstGeom>
        </p:spPr>
      </p:pic>
      <p:sp>
        <p:nvSpPr>
          <p:cNvPr id="6" name="Text 3"/>
          <p:cNvSpPr txBox="1"/>
          <p:nvPr/>
        </p:nvSpPr>
        <p:spPr>
          <a:xfrm>
            <a:off x="1645920" y="3794760"/>
            <a:ext cx="2599944" cy="457200"/>
          </a:xfrm>
          <a:prstGeom prst="rect">
            <a:avLst/>
          </a:prstGeom>
          <a:noFill/>
          <a:ln/>
        </p:spPr>
        <p:txBody>
          <a:bodyPr wrap="square" lIns="0" tIns="0" rIns="0" bIns="0" rtlCol="0" anchor="ctr"/>
          <a:lstStyle/>
          <a:p>
            <a:pPr marL="0" indent="0" algn="ctr">
              <a:buNone/>
            </a:pPr>
            <a:r>
              <a:rPr lang="en-US" sz="1600" b="1" dirty="0">
                <a:solidFill>
                  <a:srgbClr val="0F172A"/>
                </a:solidFill>
                <a:latin typeface="Arial" pitchFamily="34" charset="0"/>
                <a:ea typeface="Arial" pitchFamily="34" charset="-122"/>
                <a:cs typeface="Arial" pitchFamily="34" charset="-120"/>
              </a:rPr>
              <a:t>Prompt</a:t>
            </a:r>
            <a:endParaRPr lang="en-US" sz="1600" dirty="0"/>
          </a:p>
        </p:txBody>
      </p:sp>
      <p:sp>
        <p:nvSpPr>
          <p:cNvPr id="7" name="Text 4"/>
          <p:cNvSpPr txBox="1"/>
          <p:nvPr/>
        </p:nvSpPr>
        <p:spPr>
          <a:xfrm>
            <a:off x="4245864" y="2651760"/>
            <a:ext cx="548640" cy="731520"/>
          </a:xfrm>
          <a:prstGeom prst="rect">
            <a:avLst/>
          </a:prstGeom>
          <a:noFill/>
          <a:ln/>
        </p:spPr>
        <p:txBody>
          <a:bodyPr wrap="square" lIns="0" tIns="0" rIns="0" bIns="0" rtlCol="0" anchor="ctr"/>
          <a:lstStyle/>
          <a:p>
            <a:pPr marL="0" indent="0" algn="ctr">
              <a:buNone/>
            </a:pPr>
            <a:r>
              <a:rPr lang="en-US" sz="2600" dirty="0">
                <a:solidFill>
                  <a:srgbClr val="CBD5E1"/>
                </a:solidFill>
                <a:latin typeface="Calibri" pitchFamily="34" charset="0"/>
                <a:ea typeface="Calibri" pitchFamily="34" charset="-122"/>
                <a:cs typeface="Calibri" pitchFamily="34" charset="-120"/>
              </a:rPr>
              <a:t>→</a:t>
            </a:r>
            <a:endParaRPr lang="en-US" sz="2600" dirty="0"/>
          </a:p>
        </p:txBody>
      </p:sp>
      <p:sp>
        <p:nvSpPr>
          <p:cNvPr id="8" name="Shape 5"/>
          <p:cNvSpPr/>
          <p:nvPr/>
        </p:nvSpPr>
        <p:spPr>
          <a:xfrm>
            <a:off x="5408676" y="2240280"/>
            <a:ext cx="1371600" cy="1371600"/>
          </a:xfrm>
          <a:prstGeom prst="ellipse">
            <a:avLst/>
          </a:prstGeom>
          <a:solidFill>
            <a:srgbClr val="7C3AED"/>
          </a:solidFill>
          <a:ln/>
        </p:spPr>
      </p:sp>
      <p:pic>
        <p:nvPicPr>
          <p:cNvPr id="9" name="Image 1" descr="/home/claude/icons/cpu.png"/>
          <p:cNvPicPr>
            <a:picLocks noChangeAspect="1"/>
          </p:cNvPicPr>
          <p:nvPr/>
        </p:nvPicPr>
        <p:blipFill>
          <a:blip r:embed="rId4"/>
          <a:stretch>
            <a:fillRect/>
          </a:stretch>
        </p:blipFill>
        <p:spPr>
          <a:xfrm>
            <a:off x="5765292" y="2596896"/>
            <a:ext cx="658368" cy="658368"/>
          </a:xfrm>
          <a:prstGeom prst="rect">
            <a:avLst/>
          </a:prstGeom>
        </p:spPr>
      </p:pic>
      <p:sp>
        <p:nvSpPr>
          <p:cNvPr id="10" name="Text 6"/>
          <p:cNvSpPr txBox="1"/>
          <p:nvPr/>
        </p:nvSpPr>
        <p:spPr>
          <a:xfrm>
            <a:off x="4794504" y="3794760"/>
            <a:ext cx="2599944" cy="457200"/>
          </a:xfrm>
          <a:prstGeom prst="rect">
            <a:avLst/>
          </a:prstGeom>
          <a:noFill/>
          <a:ln/>
        </p:spPr>
        <p:txBody>
          <a:bodyPr wrap="square" lIns="0" tIns="0" rIns="0" bIns="0" rtlCol="0" anchor="ctr"/>
          <a:lstStyle/>
          <a:p>
            <a:pPr marL="0" indent="0" algn="ctr">
              <a:buNone/>
            </a:pPr>
            <a:r>
              <a:rPr lang="en-US" sz="1600" b="1" dirty="0">
                <a:solidFill>
                  <a:srgbClr val="0F172A"/>
                </a:solidFill>
                <a:latin typeface="Arial" pitchFamily="34" charset="0"/>
                <a:ea typeface="Arial" pitchFamily="34" charset="-122"/>
                <a:cs typeface="Arial" pitchFamily="34" charset="-120"/>
              </a:rPr>
              <a:t>AI</a:t>
            </a:r>
            <a:endParaRPr lang="en-US" sz="1600" dirty="0"/>
          </a:p>
        </p:txBody>
      </p:sp>
      <p:sp>
        <p:nvSpPr>
          <p:cNvPr id="11" name="Text 7"/>
          <p:cNvSpPr txBox="1"/>
          <p:nvPr/>
        </p:nvSpPr>
        <p:spPr>
          <a:xfrm>
            <a:off x="7394448" y="2651760"/>
            <a:ext cx="548640" cy="731520"/>
          </a:xfrm>
          <a:prstGeom prst="rect">
            <a:avLst/>
          </a:prstGeom>
          <a:noFill/>
          <a:ln/>
        </p:spPr>
        <p:txBody>
          <a:bodyPr wrap="square" lIns="0" tIns="0" rIns="0" bIns="0" rtlCol="0" anchor="ctr"/>
          <a:lstStyle/>
          <a:p>
            <a:pPr marL="0" indent="0" algn="ctr">
              <a:buNone/>
            </a:pPr>
            <a:r>
              <a:rPr lang="en-US" sz="2600" dirty="0">
                <a:solidFill>
                  <a:srgbClr val="CBD5E1"/>
                </a:solidFill>
                <a:latin typeface="Calibri" pitchFamily="34" charset="0"/>
                <a:ea typeface="Calibri" pitchFamily="34" charset="-122"/>
                <a:cs typeface="Calibri" pitchFamily="34" charset="-120"/>
              </a:rPr>
              <a:t>→</a:t>
            </a:r>
            <a:endParaRPr lang="en-US" sz="2600" dirty="0"/>
          </a:p>
        </p:txBody>
      </p:sp>
      <p:sp>
        <p:nvSpPr>
          <p:cNvPr id="12" name="Shape 8"/>
          <p:cNvSpPr/>
          <p:nvPr/>
        </p:nvSpPr>
        <p:spPr>
          <a:xfrm>
            <a:off x="8557260" y="2240280"/>
            <a:ext cx="1371600" cy="1371600"/>
          </a:xfrm>
          <a:prstGeom prst="ellipse">
            <a:avLst/>
          </a:prstGeom>
          <a:solidFill>
            <a:srgbClr val="15803D"/>
          </a:solidFill>
          <a:ln/>
        </p:spPr>
      </p:sp>
      <p:pic>
        <p:nvPicPr>
          <p:cNvPr id="13" name="Image 2" descr="/home/claude/icons/monitor.png"/>
          <p:cNvPicPr>
            <a:picLocks noChangeAspect="1"/>
          </p:cNvPicPr>
          <p:nvPr/>
        </p:nvPicPr>
        <p:blipFill>
          <a:blip r:embed="rId5"/>
          <a:stretch>
            <a:fillRect/>
          </a:stretch>
        </p:blipFill>
        <p:spPr>
          <a:xfrm>
            <a:off x="8913876" y="2596896"/>
            <a:ext cx="658368" cy="658368"/>
          </a:xfrm>
          <a:prstGeom prst="rect">
            <a:avLst/>
          </a:prstGeom>
        </p:spPr>
      </p:pic>
      <p:sp>
        <p:nvSpPr>
          <p:cNvPr id="14" name="Text 9"/>
          <p:cNvSpPr txBox="1"/>
          <p:nvPr/>
        </p:nvSpPr>
        <p:spPr>
          <a:xfrm>
            <a:off x="7943088" y="3794760"/>
            <a:ext cx="2599944" cy="457200"/>
          </a:xfrm>
          <a:prstGeom prst="rect">
            <a:avLst/>
          </a:prstGeom>
          <a:noFill/>
          <a:ln/>
        </p:spPr>
        <p:txBody>
          <a:bodyPr wrap="square" lIns="0" tIns="0" rIns="0" bIns="0" rtlCol="0" anchor="ctr"/>
          <a:lstStyle/>
          <a:p>
            <a:pPr marL="0" indent="0" algn="ctr">
              <a:buNone/>
            </a:pPr>
            <a:r>
              <a:rPr lang="en-US" sz="1600" b="1" dirty="0">
                <a:solidFill>
                  <a:srgbClr val="0F172A"/>
                </a:solidFill>
                <a:latin typeface="Arial" pitchFamily="34" charset="0"/>
                <a:ea typeface="Arial" pitchFamily="34" charset="-122"/>
                <a:cs typeface="Arial" pitchFamily="34" charset="-120"/>
              </a:rPr>
              <a:t>Working Prototype</a:t>
            </a:r>
            <a:endParaRPr lang="en-US" sz="1600" dirty="0"/>
          </a:p>
        </p:txBody>
      </p:sp>
      <p:sp>
        <p:nvSpPr>
          <p:cNvPr id="15" name="Shape 10"/>
          <p:cNvSpPr/>
          <p:nvPr/>
        </p:nvSpPr>
        <p:spPr>
          <a:xfrm>
            <a:off x="2286000" y="4434840"/>
            <a:ext cx="7616952" cy="685800"/>
          </a:xfrm>
          <a:prstGeom prst="roundRect">
            <a:avLst>
              <a:gd name="adj" fmla="val 46667"/>
            </a:avLst>
          </a:prstGeom>
          <a:solidFill>
            <a:srgbClr val="F1F5F9"/>
          </a:solidFill>
          <a:ln/>
        </p:spPr>
      </p:sp>
      <p:sp>
        <p:nvSpPr>
          <p:cNvPr id="16" name="Text 11"/>
          <p:cNvSpPr txBox="1"/>
          <p:nvPr/>
        </p:nvSpPr>
        <p:spPr>
          <a:xfrm>
            <a:off x="2286000" y="4434840"/>
            <a:ext cx="7616952" cy="685800"/>
          </a:xfrm>
          <a:prstGeom prst="rect">
            <a:avLst/>
          </a:prstGeom>
          <a:noFill/>
          <a:ln/>
        </p:spPr>
        <p:txBody>
          <a:bodyPr wrap="square" lIns="0" tIns="0" rIns="0" bIns="0" rtlCol="0" anchor="ctr"/>
          <a:lstStyle/>
          <a:p>
            <a:pPr marL="0" indent="0" algn="ctr">
              <a:buNone/>
            </a:pPr>
            <a:r>
              <a:rPr lang="en-US" sz="1350" b="1" dirty="0">
                <a:solidFill>
                  <a:srgbClr val="0F172A"/>
                </a:solidFill>
                <a:latin typeface="Courier New" pitchFamily="34" charset="0"/>
                <a:ea typeface="Courier New" pitchFamily="34" charset="-122"/>
                <a:cs typeface="Courier New" pitchFamily="34" charset="-120"/>
              </a:rPr>
              <a:t>Example: "Student Event Management Dashboard"</a:t>
            </a:r>
            <a:endParaRPr lang="en-US" sz="1350" dirty="0"/>
          </a:p>
        </p:txBody>
      </p:sp>
      <p:sp>
        <p:nvSpPr>
          <p:cNvPr id="17" name="Shape 12"/>
          <p:cNvSpPr/>
          <p:nvPr/>
        </p:nvSpPr>
        <p:spPr>
          <a:xfrm>
            <a:off x="502920" y="5486400"/>
            <a:ext cx="11183112" cy="777240"/>
          </a:xfrm>
          <a:prstGeom prst="roundRect">
            <a:avLst>
              <a:gd name="adj" fmla="val 14118"/>
            </a:avLst>
          </a:prstGeom>
          <a:solidFill>
            <a:srgbClr val="0F172A"/>
          </a:solidFill>
          <a:ln/>
        </p:spPr>
      </p:sp>
      <p:sp>
        <p:nvSpPr>
          <p:cNvPr id="18" name="Text 13"/>
          <p:cNvSpPr txBox="1"/>
          <p:nvPr/>
        </p:nvSpPr>
        <p:spPr>
          <a:xfrm>
            <a:off x="502920" y="5486400"/>
            <a:ext cx="11183112" cy="777240"/>
          </a:xfrm>
          <a:prstGeom prst="rect">
            <a:avLst/>
          </a:prstGeom>
          <a:noFill/>
          <a:ln/>
        </p:spPr>
        <p:txBody>
          <a:bodyPr wrap="square" lIns="0" tIns="0" rIns="0" bIns="0" rtlCol="0" anchor="ctr"/>
          <a:lstStyle/>
          <a:p>
            <a:pPr marL="0" indent="0" algn="ctr">
              <a:buNone/>
            </a:pPr>
            <a:r>
              <a:rPr lang="en-US" sz="1550" b="1" i="1" dirty="0">
                <a:solidFill>
                  <a:srgbClr val="22D3EE"/>
                </a:solidFill>
                <a:latin typeface="Arial" pitchFamily="34" charset="0"/>
                <a:ea typeface="Arial" pitchFamily="34" charset="-122"/>
                <a:cs typeface="Arial" pitchFamily="34" charset="-120"/>
              </a:rPr>
              <a:t>"If this is possible today, I need to learn how to work WITH AI."</a:t>
            </a:r>
            <a:endParaRPr lang="en-US" sz="1550" dirty="0"/>
          </a:p>
        </p:txBody>
      </p:sp>
      <p:sp>
        <p:nvSpPr>
          <p:cNvPr id="20" name="Text 14"/>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06 / 12</a:t>
            </a:r>
            <a:endParaRPr lang="en-US" sz="900" dirty="0"/>
          </a:p>
        </p:txBody>
      </p:sp>
      <p:sp>
        <p:nvSpPr>
          <p:cNvPr id="21" name="Text 15"/>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22" name="TWS Logo" descr="Tekki Web Solutions logo"/>
          <p:cNvPicPr>
            <a:picLocks noChangeAspect="1"/>
          </p:cNvPicPr>
          <p:nvPr/>
        </p:nvPicPr>
        <p:blipFill>
          <a:blip r:embed="rId6"/>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50"/>
                                        <p:tgtEl>
                                          <p:spTgt spid="8"/>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50"/>
                                        <p:tgtEl>
                                          <p:spTgt spid="12"/>
                                        </p:tgtEl>
                                      </p:cBhvr>
                                    </p:animEffect>
                                  </p:childTnLst>
                                </p:cTn>
                              </p:par>
                              <p:par>
                                <p:cTn id="20" presetID="10" presetClass="entr" presetSubtype="0" fill="hold" grpId="0" nodeType="withEffect">
                                  <p:stCondLst>
                                    <p:cond delay="26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450"/>
                                        <p:tgtEl>
                                          <p:spTgt spid="5"/>
                                        </p:tgtEl>
                                      </p:cBhvr>
                                    </p:animEffect>
                                  </p:childTnLst>
                                </p:cTn>
                              </p:par>
                              <p:par>
                                <p:cTn id="23" presetID="10" presetClass="entr" presetSubtype="0" fill="hold" grpId="0" nodeType="withEffect">
                                  <p:stCondLst>
                                    <p:cond delay="26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50"/>
                                        <p:tgtEl>
                                          <p:spTgt spid="9"/>
                                        </p:tgtEl>
                                      </p:cBhvr>
                                    </p:animEffect>
                                  </p:childTnLst>
                                </p:cTn>
                              </p:par>
                              <p:par>
                                <p:cTn id="26" presetID="10" presetClass="entr" presetSubtype="0" fill="hold" grpId="0" nodeType="withEffect">
                                  <p:stCondLst>
                                    <p:cond delay="26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26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450"/>
                                        <p:tgtEl>
                                          <p:spTgt spid="7"/>
                                        </p:tgtEl>
                                      </p:cBhvr>
                                    </p:animEffect>
                                  </p:childTnLst>
                                </p:cTn>
                              </p:par>
                              <p:par>
                                <p:cTn id="32" presetID="10" presetClass="entr" presetSubtype="0" fill="hold" grpId="0" nodeType="withEffect">
                                  <p:stCondLst>
                                    <p:cond delay="26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450"/>
                                        <p:tgtEl>
                                          <p:spTgt spid="6"/>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450"/>
                                        <p:tgtEl>
                                          <p:spTgt spid="10"/>
                                        </p:tgtEl>
                                      </p:cBhvr>
                                    </p:animEffect>
                                  </p:childTnLst>
                                </p:cTn>
                              </p:par>
                              <p:par>
                                <p:cTn id="41" presetID="10" presetClass="entr" presetSubtype="0" fill="hold" grpId="0" nodeType="withEffect">
                                  <p:stCondLst>
                                    <p:cond delay="39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52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52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6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0E7490"/>
                </a:solidFill>
                <a:latin typeface="Courier New" pitchFamily="34" charset="0"/>
                <a:ea typeface="Courier New" pitchFamily="34" charset="-122"/>
                <a:cs typeface="Courier New" pitchFamily="34" charset="-120"/>
              </a:rPr>
              <a:t>SECTION 09 — WHAT SHOULD STUDENTS BUILD?</a:t>
            </a:r>
            <a:endParaRPr lang="en-US" sz="1250" dirty="0"/>
          </a:p>
        </p:txBody>
      </p:sp>
      <p:sp>
        <p:nvSpPr>
          <p:cNvPr id="3" name="Text 1"/>
          <p:cNvSpPr txBox="1"/>
          <p:nvPr/>
        </p:nvSpPr>
        <p:spPr>
          <a:xfrm>
            <a:off x="502920" y="822960"/>
            <a:ext cx="10058400" cy="640080"/>
          </a:xfrm>
          <a:prstGeom prst="rect">
            <a:avLst/>
          </a:prstGeom>
          <a:noFill/>
          <a:ln/>
        </p:spPr>
        <p:txBody>
          <a:bodyPr wrap="square" lIns="0" tIns="0" rIns="0" bIns="0" rtlCol="0" anchor="ctr"/>
          <a:lstStyle/>
          <a:p>
            <a:pPr marL="0" indent="0">
              <a:buNone/>
            </a:pPr>
            <a:r>
              <a:rPr lang="en-US" sz="3100" b="1" dirty="0">
                <a:solidFill>
                  <a:srgbClr val="0F172A"/>
                </a:solidFill>
                <a:latin typeface="Arial" pitchFamily="34" charset="0"/>
                <a:ea typeface="Arial" pitchFamily="34" charset="-122"/>
                <a:cs typeface="Arial" pitchFamily="34" charset="-120"/>
              </a:rPr>
              <a:t>Stop Building To-Do Apps 😄</a:t>
            </a:r>
            <a:endParaRPr lang="en-US" sz="3100" dirty="0"/>
          </a:p>
        </p:txBody>
      </p:sp>
      <p:sp>
        <p:nvSpPr>
          <p:cNvPr id="4" name="Text 2"/>
          <p:cNvSpPr txBox="1"/>
          <p:nvPr/>
        </p:nvSpPr>
        <p:spPr>
          <a:xfrm>
            <a:off x="502920" y="1481328"/>
            <a:ext cx="10515600" cy="457200"/>
          </a:xfrm>
          <a:prstGeom prst="rect">
            <a:avLst/>
          </a:prstGeom>
          <a:noFill/>
          <a:ln/>
        </p:spPr>
        <p:txBody>
          <a:bodyPr wrap="square" lIns="0" tIns="0" rIns="0" bIns="0" rtlCol="0" anchor="ctr"/>
          <a:lstStyle/>
          <a:p>
            <a:pPr marL="0" indent="0">
              <a:buNone/>
            </a:pPr>
            <a:r>
              <a:rPr lang="en-US" sz="1550" i="1" dirty="0">
                <a:solidFill>
                  <a:srgbClr val="64748B"/>
                </a:solidFill>
                <a:latin typeface="Arial" pitchFamily="34" charset="0"/>
                <a:ea typeface="Arial" pitchFamily="34" charset="-122"/>
                <a:cs typeface="Arial" pitchFamily="34" charset="-120"/>
              </a:rPr>
              <a:t>Your portfolio should show that you can solve real problems.</a:t>
            </a:r>
            <a:endParaRPr lang="en-US" sz="1550" dirty="0"/>
          </a:p>
        </p:txBody>
      </p:sp>
      <p:sp>
        <p:nvSpPr>
          <p:cNvPr id="5" name="Shape 3"/>
          <p:cNvSpPr/>
          <p:nvPr/>
        </p:nvSpPr>
        <p:spPr>
          <a:xfrm>
            <a:off x="502920" y="2148840"/>
            <a:ext cx="2075688" cy="1737360"/>
          </a:xfrm>
          <a:prstGeom prst="roundRect">
            <a:avLst>
              <a:gd name="adj" fmla="val 6316"/>
            </a:avLst>
          </a:prstGeom>
          <a:solidFill>
            <a:srgbClr val="F1F5F9"/>
          </a:solidFill>
          <a:ln/>
        </p:spPr>
      </p:sp>
      <p:sp>
        <p:nvSpPr>
          <p:cNvPr id="6" name="Shape 4"/>
          <p:cNvSpPr/>
          <p:nvPr/>
        </p:nvSpPr>
        <p:spPr>
          <a:xfrm>
            <a:off x="1266444" y="2441448"/>
            <a:ext cx="548640" cy="548640"/>
          </a:xfrm>
          <a:prstGeom prst="ellipse">
            <a:avLst/>
          </a:prstGeom>
          <a:solidFill>
            <a:srgbClr val="0E7490"/>
          </a:solidFill>
          <a:ln/>
        </p:spPr>
      </p:sp>
      <p:pic>
        <p:nvPicPr>
          <p:cNvPr id="7" name="Image 0" descr="/home/claude/icons/cart.png"/>
          <p:cNvPicPr>
            <a:picLocks noChangeAspect="1"/>
          </p:cNvPicPr>
          <p:nvPr/>
        </p:nvPicPr>
        <p:blipFill>
          <a:blip r:embed="rId3"/>
          <a:stretch>
            <a:fillRect/>
          </a:stretch>
        </p:blipFill>
        <p:spPr>
          <a:xfrm>
            <a:off x="1398118" y="2573122"/>
            <a:ext cx="285293" cy="285293"/>
          </a:xfrm>
          <a:prstGeom prst="rect">
            <a:avLst/>
          </a:prstGeom>
        </p:spPr>
      </p:pic>
      <p:sp>
        <p:nvSpPr>
          <p:cNvPr id="8" name="Text 5"/>
          <p:cNvSpPr txBox="1"/>
          <p:nvPr/>
        </p:nvSpPr>
        <p:spPr>
          <a:xfrm>
            <a:off x="576072" y="315468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E-commerce</a:t>
            </a:r>
            <a:endParaRPr lang="en-US" sz="1150" dirty="0"/>
          </a:p>
        </p:txBody>
      </p:sp>
      <p:sp>
        <p:nvSpPr>
          <p:cNvPr id="9" name="Shape 6"/>
          <p:cNvSpPr/>
          <p:nvPr/>
        </p:nvSpPr>
        <p:spPr>
          <a:xfrm>
            <a:off x="2779776" y="2148840"/>
            <a:ext cx="2075688" cy="1737360"/>
          </a:xfrm>
          <a:prstGeom prst="roundRect">
            <a:avLst>
              <a:gd name="adj" fmla="val 6316"/>
            </a:avLst>
          </a:prstGeom>
          <a:solidFill>
            <a:srgbClr val="F1F5F9"/>
          </a:solidFill>
          <a:ln/>
        </p:spPr>
      </p:sp>
      <p:sp>
        <p:nvSpPr>
          <p:cNvPr id="10" name="Shape 7"/>
          <p:cNvSpPr/>
          <p:nvPr/>
        </p:nvSpPr>
        <p:spPr>
          <a:xfrm>
            <a:off x="3543300" y="2441448"/>
            <a:ext cx="548640" cy="548640"/>
          </a:xfrm>
          <a:prstGeom prst="ellipse">
            <a:avLst/>
          </a:prstGeom>
          <a:solidFill>
            <a:srgbClr val="15803D"/>
          </a:solidFill>
          <a:ln/>
        </p:spPr>
      </p:sp>
      <p:pic>
        <p:nvPicPr>
          <p:cNvPr id="11" name="Image 1" descr="/home/claude/icons/dollar.png"/>
          <p:cNvPicPr>
            <a:picLocks noChangeAspect="1"/>
          </p:cNvPicPr>
          <p:nvPr/>
        </p:nvPicPr>
        <p:blipFill>
          <a:blip r:embed="rId4"/>
          <a:stretch>
            <a:fillRect/>
          </a:stretch>
        </p:blipFill>
        <p:spPr>
          <a:xfrm>
            <a:off x="3674974" y="2573122"/>
            <a:ext cx="285293" cy="285293"/>
          </a:xfrm>
          <a:prstGeom prst="rect">
            <a:avLst/>
          </a:prstGeom>
        </p:spPr>
      </p:pic>
      <p:sp>
        <p:nvSpPr>
          <p:cNvPr id="12" name="Text 8"/>
          <p:cNvSpPr txBox="1"/>
          <p:nvPr/>
        </p:nvSpPr>
        <p:spPr>
          <a:xfrm>
            <a:off x="2852928" y="315468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FinTech</a:t>
            </a:r>
            <a:endParaRPr lang="en-US" sz="1150" dirty="0"/>
          </a:p>
        </p:txBody>
      </p:sp>
      <p:sp>
        <p:nvSpPr>
          <p:cNvPr id="13" name="Shape 9"/>
          <p:cNvSpPr/>
          <p:nvPr/>
        </p:nvSpPr>
        <p:spPr>
          <a:xfrm>
            <a:off x="5056632" y="2148840"/>
            <a:ext cx="2075688" cy="1737360"/>
          </a:xfrm>
          <a:prstGeom prst="roundRect">
            <a:avLst>
              <a:gd name="adj" fmla="val 6316"/>
            </a:avLst>
          </a:prstGeom>
          <a:solidFill>
            <a:srgbClr val="F1F5F9"/>
          </a:solidFill>
          <a:ln/>
        </p:spPr>
      </p:sp>
      <p:sp>
        <p:nvSpPr>
          <p:cNvPr id="14" name="Shape 10"/>
          <p:cNvSpPr/>
          <p:nvPr/>
        </p:nvSpPr>
        <p:spPr>
          <a:xfrm>
            <a:off x="5820156" y="2441448"/>
            <a:ext cx="548640" cy="548640"/>
          </a:xfrm>
          <a:prstGeom prst="ellipse">
            <a:avLst/>
          </a:prstGeom>
          <a:solidFill>
            <a:srgbClr val="EA580C"/>
          </a:solidFill>
          <a:ln/>
        </p:spPr>
      </p:sp>
      <p:pic>
        <p:nvPicPr>
          <p:cNvPr id="15" name="Image 2" descr="/home/claude/icons/truck.png"/>
          <p:cNvPicPr>
            <a:picLocks noChangeAspect="1"/>
          </p:cNvPicPr>
          <p:nvPr/>
        </p:nvPicPr>
        <p:blipFill>
          <a:blip r:embed="rId5"/>
          <a:stretch>
            <a:fillRect/>
          </a:stretch>
        </p:blipFill>
        <p:spPr>
          <a:xfrm>
            <a:off x="5951830" y="2573122"/>
            <a:ext cx="285293" cy="285293"/>
          </a:xfrm>
          <a:prstGeom prst="rect">
            <a:avLst/>
          </a:prstGeom>
        </p:spPr>
      </p:pic>
      <p:sp>
        <p:nvSpPr>
          <p:cNvPr id="16" name="Text 11"/>
          <p:cNvSpPr txBox="1"/>
          <p:nvPr/>
        </p:nvSpPr>
        <p:spPr>
          <a:xfrm>
            <a:off x="5129784" y="315468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Food Delivery</a:t>
            </a:r>
            <a:endParaRPr lang="en-US" sz="1150" dirty="0"/>
          </a:p>
        </p:txBody>
      </p:sp>
      <p:sp>
        <p:nvSpPr>
          <p:cNvPr id="17" name="Shape 12"/>
          <p:cNvSpPr/>
          <p:nvPr/>
        </p:nvSpPr>
        <p:spPr>
          <a:xfrm>
            <a:off x="7333488" y="2148840"/>
            <a:ext cx="2075688" cy="1737360"/>
          </a:xfrm>
          <a:prstGeom prst="roundRect">
            <a:avLst>
              <a:gd name="adj" fmla="val 6316"/>
            </a:avLst>
          </a:prstGeom>
          <a:solidFill>
            <a:srgbClr val="F1F5F9"/>
          </a:solidFill>
          <a:ln/>
        </p:spPr>
      </p:sp>
      <p:sp>
        <p:nvSpPr>
          <p:cNvPr id="18" name="Shape 13"/>
          <p:cNvSpPr/>
          <p:nvPr/>
        </p:nvSpPr>
        <p:spPr>
          <a:xfrm>
            <a:off x="8097012" y="2441448"/>
            <a:ext cx="548640" cy="548640"/>
          </a:xfrm>
          <a:prstGeom prst="ellipse">
            <a:avLst/>
          </a:prstGeom>
          <a:solidFill>
            <a:srgbClr val="DC2626"/>
          </a:solidFill>
          <a:ln/>
        </p:spPr>
      </p:sp>
      <p:pic>
        <p:nvPicPr>
          <p:cNvPr id="19" name="Image 3" descr="/home/claude/icons/heart.png"/>
          <p:cNvPicPr>
            <a:picLocks noChangeAspect="1"/>
          </p:cNvPicPr>
          <p:nvPr/>
        </p:nvPicPr>
        <p:blipFill>
          <a:blip r:embed="rId6"/>
          <a:stretch>
            <a:fillRect/>
          </a:stretch>
        </p:blipFill>
        <p:spPr>
          <a:xfrm>
            <a:off x="8228686" y="2573122"/>
            <a:ext cx="285293" cy="285293"/>
          </a:xfrm>
          <a:prstGeom prst="rect">
            <a:avLst/>
          </a:prstGeom>
        </p:spPr>
      </p:pic>
      <p:sp>
        <p:nvSpPr>
          <p:cNvPr id="20" name="Text 14"/>
          <p:cNvSpPr txBox="1"/>
          <p:nvPr/>
        </p:nvSpPr>
        <p:spPr>
          <a:xfrm>
            <a:off x="7406640" y="315468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Healthcare</a:t>
            </a:r>
            <a:endParaRPr lang="en-US" sz="1150" dirty="0"/>
          </a:p>
        </p:txBody>
      </p:sp>
      <p:sp>
        <p:nvSpPr>
          <p:cNvPr id="21" name="Shape 15"/>
          <p:cNvSpPr/>
          <p:nvPr/>
        </p:nvSpPr>
        <p:spPr>
          <a:xfrm>
            <a:off x="9610344" y="2148840"/>
            <a:ext cx="2075688" cy="1737360"/>
          </a:xfrm>
          <a:prstGeom prst="roundRect">
            <a:avLst>
              <a:gd name="adj" fmla="val 6316"/>
            </a:avLst>
          </a:prstGeom>
          <a:solidFill>
            <a:srgbClr val="F1F5F9"/>
          </a:solidFill>
          <a:ln/>
        </p:spPr>
      </p:sp>
      <p:sp>
        <p:nvSpPr>
          <p:cNvPr id="22" name="Shape 16"/>
          <p:cNvSpPr/>
          <p:nvPr/>
        </p:nvSpPr>
        <p:spPr>
          <a:xfrm>
            <a:off x="10373868" y="2441448"/>
            <a:ext cx="548640" cy="548640"/>
          </a:xfrm>
          <a:prstGeom prst="ellipse">
            <a:avLst/>
          </a:prstGeom>
          <a:solidFill>
            <a:srgbClr val="7C3AED"/>
          </a:solidFill>
          <a:ln/>
        </p:spPr>
      </p:sp>
      <p:pic>
        <p:nvPicPr>
          <p:cNvPr id="23" name="Image 4" descr="/home/claude/icons/book.png"/>
          <p:cNvPicPr>
            <a:picLocks noChangeAspect="1"/>
          </p:cNvPicPr>
          <p:nvPr/>
        </p:nvPicPr>
        <p:blipFill>
          <a:blip r:embed="rId7"/>
          <a:stretch>
            <a:fillRect/>
          </a:stretch>
        </p:blipFill>
        <p:spPr>
          <a:xfrm>
            <a:off x="10505542" y="2573122"/>
            <a:ext cx="285293" cy="285293"/>
          </a:xfrm>
          <a:prstGeom prst="rect">
            <a:avLst/>
          </a:prstGeom>
        </p:spPr>
      </p:pic>
      <p:sp>
        <p:nvSpPr>
          <p:cNvPr id="24" name="Text 17"/>
          <p:cNvSpPr txBox="1"/>
          <p:nvPr/>
        </p:nvSpPr>
        <p:spPr>
          <a:xfrm>
            <a:off x="9683496" y="315468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Education</a:t>
            </a:r>
            <a:endParaRPr lang="en-US" sz="1150" dirty="0"/>
          </a:p>
        </p:txBody>
      </p:sp>
      <p:sp>
        <p:nvSpPr>
          <p:cNvPr id="25" name="Shape 18"/>
          <p:cNvSpPr/>
          <p:nvPr/>
        </p:nvSpPr>
        <p:spPr>
          <a:xfrm>
            <a:off x="502920" y="4114800"/>
            <a:ext cx="2075688" cy="1737360"/>
          </a:xfrm>
          <a:prstGeom prst="roundRect">
            <a:avLst>
              <a:gd name="adj" fmla="val 6316"/>
            </a:avLst>
          </a:prstGeom>
          <a:solidFill>
            <a:srgbClr val="F1F5F9"/>
          </a:solidFill>
          <a:ln/>
        </p:spPr>
      </p:sp>
      <p:sp>
        <p:nvSpPr>
          <p:cNvPr id="26" name="Shape 19"/>
          <p:cNvSpPr/>
          <p:nvPr/>
        </p:nvSpPr>
        <p:spPr>
          <a:xfrm>
            <a:off x="1266444" y="4407408"/>
            <a:ext cx="548640" cy="548640"/>
          </a:xfrm>
          <a:prstGeom prst="ellipse">
            <a:avLst/>
          </a:prstGeom>
          <a:solidFill>
            <a:srgbClr val="B45309"/>
          </a:solidFill>
          <a:ln/>
        </p:spPr>
      </p:sp>
      <p:pic>
        <p:nvPicPr>
          <p:cNvPr id="27" name="Image 5" descr="/home/claude/icons/package.png"/>
          <p:cNvPicPr>
            <a:picLocks noChangeAspect="1"/>
          </p:cNvPicPr>
          <p:nvPr/>
        </p:nvPicPr>
        <p:blipFill>
          <a:blip r:embed="rId8"/>
          <a:stretch>
            <a:fillRect/>
          </a:stretch>
        </p:blipFill>
        <p:spPr>
          <a:xfrm>
            <a:off x="1398118" y="4539082"/>
            <a:ext cx="285293" cy="285293"/>
          </a:xfrm>
          <a:prstGeom prst="rect">
            <a:avLst/>
          </a:prstGeom>
        </p:spPr>
      </p:pic>
      <p:sp>
        <p:nvSpPr>
          <p:cNvPr id="28" name="Text 20"/>
          <p:cNvSpPr txBox="1"/>
          <p:nvPr/>
        </p:nvSpPr>
        <p:spPr>
          <a:xfrm>
            <a:off x="576072" y="512064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Logistics</a:t>
            </a:r>
            <a:endParaRPr lang="en-US" sz="1150" dirty="0"/>
          </a:p>
        </p:txBody>
      </p:sp>
      <p:sp>
        <p:nvSpPr>
          <p:cNvPr id="29" name="Shape 21"/>
          <p:cNvSpPr/>
          <p:nvPr/>
        </p:nvSpPr>
        <p:spPr>
          <a:xfrm>
            <a:off x="2779776" y="4114800"/>
            <a:ext cx="2075688" cy="1737360"/>
          </a:xfrm>
          <a:prstGeom prst="roundRect">
            <a:avLst>
              <a:gd name="adj" fmla="val 6316"/>
            </a:avLst>
          </a:prstGeom>
          <a:solidFill>
            <a:srgbClr val="F1F5F9"/>
          </a:solidFill>
          <a:ln/>
        </p:spPr>
      </p:sp>
      <p:sp>
        <p:nvSpPr>
          <p:cNvPr id="30" name="Shape 22"/>
          <p:cNvSpPr/>
          <p:nvPr/>
        </p:nvSpPr>
        <p:spPr>
          <a:xfrm>
            <a:off x="3543300" y="4407408"/>
            <a:ext cx="548640" cy="548640"/>
          </a:xfrm>
          <a:prstGeom prst="ellipse">
            <a:avLst/>
          </a:prstGeom>
          <a:solidFill>
            <a:srgbClr val="DB2777"/>
          </a:solidFill>
          <a:ln/>
        </p:spPr>
      </p:sp>
      <p:pic>
        <p:nvPicPr>
          <p:cNvPr id="31" name="Image 6" descr="/home/claude/icons/userplus.png"/>
          <p:cNvPicPr>
            <a:picLocks noChangeAspect="1"/>
          </p:cNvPicPr>
          <p:nvPr/>
        </p:nvPicPr>
        <p:blipFill>
          <a:blip r:embed="rId9"/>
          <a:stretch>
            <a:fillRect/>
          </a:stretch>
        </p:blipFill>
        <p:spPr>
          <a:xfrm>
            <a:off x="3674974" y="4539082"/>
            <a:ext cx="285293" cy="285293"/>
          </a:xfrm>
          <a:prstGeom prst="rect">
            <a:avLst/>
          </a:prstGeom>
        </p:spPr>
      </p:pic>
      <p:sp>
        <p:nvSpPr>
          <p:cNvPr id="32" name="Text 23"/>
          <p:cNvSpPr txBox="1"/>
          <p:nvPr/>
        </p:nvSpPr>
        <p:spPr>
          <a:xfrm>
            <a:off x="2852928" y="512064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HR / Recruitment</a:t>
            </a:r>
            <a:endParaRPr lang="en-US" sz="1150" dirty="0"/>
          </a:p>
        </p:txBody>
      </p:sp>
      <p:sp>
        <p:nvSpPr>
          <p:cNvPr id="33" name="Shape 24"/>
          <p:cNvSpPr/>
          <p:nvPr/>
        </p:nvSpPr>
        <p:spPr>
          <a:xfrm>
            <a:off x="5056632" y="4114800"/>
            <a:ext cx="2075688" cy="1737360"/>
          </a:xfrm>
          <a:prstGeom prst="roundRect">
            <a:avLst>
              <a:gd name="adj" fmla="val 6316"/>
            </a:avLst>
          </a:prstGeom>
          <a:solidFill>
            <a:srgbClr val="F1F5F9"/>
          </a:solidFill>
          <a:ln/>
        </p:spPr>
      </p:sp>
      <p:sp>
        <p:nvSpPr>
          <p:cNvPr id="34" name="Shape 25"/>
          <p:cNvSpPr/>
          <p:nvPr/>
        </p:nvSpPr>
        <p:spPr>
          <a:xfrm>
            <a:off x="5820156" y="4407408"/>
            <a:ext cx="548640" cy="548640"/>
          </a:xfrm>
          <a:prstGeom prst="ellipse">
            <a:avLst/>
          </a:prstGeom>
          <a:solidFill>
            <a:srgbClr val="0EA5B5"/>
          </a:solidFill>
          <a:ln/>
        </p:spPr>
      </p:sp>
      <p:pic>
        <p:nvPicPr>
          <p:cNvPr id="35" name="Image 7" descr="/home/claude/icons/share.png"/>
          <p:cNvPicPr>
            <a:picLocks noChangeAspect="1"/>
          </p:cNvPicPr>
          <p:nvPr/>
        </p:nvPicPr>
        <p:blipFill>
          <a:blip r:embed="rId10"/>
          <a:stretch>
            <a:fillRect/>
          </a:stretch>
        </p:blipFill>
        <p:spPr>
          <a:xfrm>
            <a:off x="5951830" y="4539082"/>
            <a:ext cx="285293" cy="285293"/>
          </a:xfrm>
          <a:prstGeom prst="rect">
            <a:avLst/>
          </a:prstGeom>
        </p:spPr>
      </p:pic>
      <p:sp>
        <p:nvSpPr>
          <p:cNvPr id="36" name="Text 26"/>
          <p:cNvSpPr txBox="1"/>
          <p:nvPr/>
        </p:nvSpPr>
        <p:spPr>
          <a:xfrm>
            <a:off x="5129784" y="512064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Social Platforms</a:t>
            </a:r>
            <a:endParaRPr lang="en-US" sz="1150" dirty="0"/>
          </a:p>
        </p:txBody>
      </p:sp>
      <p:sp>
        <p:nvSpPr>
          <p:cNvPr id="37" name="Shape 27"/>
          <p:cNvSpPr/>
          <p:nvPr/>
        </p:nvSpPr>
        <p:spPr>
          <a:xfrm>
            <a:off x="7333488" y="4114800"/>
            <a:ext cx="2075688" cy="1737360"/>
          </a:xfrm>
          <a:prstGeom prst="roundRect">
            <a:avLst>
              <a:gd name="adj" fmla="val 6316"/>
            </a:avLst>
          </a:prstGeom>
          <a:solidFill>
            <a:srgbClr val="F1F5F9"/>
          </a:solidFill>
          <a:ln/>
        </p:spPr>
      </p:sp>
      <p:sp>
        <p:nvSpPr>
          <p:cNvPr id="38" name="Shape 28"/>
          <p:cNvSpPr/>
          <p:nvPr/>
        </p:nvSpPr>
        <p:spPr>
          <a:xfrm>
            <a:off x="8097012" y="4407408"/>
            <a:ext cx="548640" cy="548640"/>
          </a:xfrm>
          <a:prstGeom prst="ellipse">
            <a:avLst/>
          </a:prstGeom>
          <a:solidFill>
            <a:srgbClr val="6D28D9"/>
          </a:solidFill>
          <a:ln/>
        </p:spPr>
      </p:sp>
      <p:pic>
        <p:nvPicPr>
          <p:cNvPr id="39" name="Image 8" descr="/home/claude/icons/cloud.png"/>
          <p:cNvPicPr>
            <a:picLocks noChangeAspect="1"/>
          </p:cNvPicPr>
          <p:nvPr/>
        </p:nvPicPr>
        <p:blipFill>
          <a:blip r:embed="rId11"/>
          <a:stretch>
            <a:fillRect/>
          </a:stretch>
        </p:blipFill>
        <p:spPr>
          <a:xfrm>
            <a:off x="8228686" y="4539082"/>
            <a:ext cx="285293" cy="285293"/>
          </a:xfrm>
          <a:prstGeom prst="rect">
            <a:avLst/>
          </a:prstGeom>
        </p:spPr>
      </p:pic>
      <p:sp>
        <p:nvSpPr>
          <p:cNvPr id="40" name="Text 29"/>
          <p:cNvSpPr txBox="1"/>
          <p:nvPr/>
        </p:nvSpPr>
        <p:spPr>
          <a:xfrm>
            <a:off x="7406640" y="512064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SaaS Applications</a:t>
            </a:r>
            <a:endParaRPr lang="en-US" sz="1150" dirty="0"/>
          </a:p>
        </p:txBody>
      </p:sp>
      <p:sp>
        <p:nvSpPr>
          <p:cNvPr id="41" name="Shape 30"/>
          <p:cNvSpPr/>
          <p:nvPr/>
        </p:nvSpPr>
        <p:spPr>
          <a:xfrm>
            <a:off x="9610344" y="4114800"/>
            <a:ext cx="2075688" cy="1737360"/>
          </a:xfrm>
          <a:prstGeom prst="roundRect">
            <a:avLst>
              <a:gd name="adj" fmla="val 6316"/>
            </a:avLst>
          </a:prstGeom>
          <a:solidFill>
            <a:srgbClr val="F1F5F9"/>
          </a:solidFill>
          <a:ln/>
        </p:spPr>
      </p:sp>
      <p:sp>
        <p:nvSpPr>
          <p:cNvPr id="42" name="Shape 31"/>
          <p:cNvSpPr/>
          <p:nvPr/>
        </p:nvSpPr>
        <p:spPr>
          <a:xfrm>
            <a:off x="10373868" y="4407408"/>
            <a:ext cx="548640" cy="548640"/>
          </a:xfrm>
          <a:prstGeom prst="ellipse">
            <a:avLst/>
          </a:prstGeom>
          <a:solidFill>
            <a:srgbClr val="15803D"/>
          </a:solidFill>
          <a:ln/>
        </p:spPr>
      </p:sp>
      <p:pic>
        <p:nvPicPr>
          <p:cNvPr id="43" name="Image 9" descr="/home/claude/icons/layers.png"/>
          <p:cNvPicPr>
            <a:picLocks noChangeAspect="1"/>
          </p:cNvPicPr>
          <p:nvPr/>
        </p:nvPicPr>
        <p:blipFill>
          <a:blip r:embed="rId12"/>
          <a:stretch>
            <a:fillRect/>
          </a:stretch>
        </p:blipFill>
        <p:spPr>
          <a:xfrm>
            <a:off x="10505542" y="4539082"/>
            <a:ext cx="285293" cy="285293"/>
          </a:xfrm>
          <a:prstGeom prst="rect">
            <a:avLst/>
          </a:prstGeom>
        </p:spPr>
      </p:pic>
      <p:sp>
        <p:nvSpPr>
          <p:cNvPr id="44" name="Text 32"/>
          <p:cNvSpPr txBox="1"/>
          <p:nvPr/>
        </p:nvSpPr>
        <p:spPr>
          <a:xfrm>
            <a:off x="9683496" y="5120640"/>
            <a:ext cx="1929384" cy="594360"/>
          </a:xfrm>
          <a:prstGeom prst="rect">
            <a:avLst/>
          </a:prstGeom>
          <a:noFill/>
          <a:ln/>
        </p:spPr>
        <p:txBody>
          <a:bodyPr wrap="square" lIns="0" tIns="0" rIns="0" bIns="0" rtlCol="0" anchor="ctr"/>
          <a:lstStyle/>
          <a:p>
            <a:pPr marL="0" indent="0" algn="ctr">
              <a:lnSpc>
                <a:spcPts val="1300"/>
              </a:lnSpc>
              <a:buNone/>
            </a:pPr>
            <a:r>
              <a:rPr lang="en-US" sz="1150" b="1" dirty="0">
                <a:solidFill>
                  <a:srgbClr val="0F172A"/>
                </a:solidFill>
                <a:latin typeface="Arial" pitchFamily="34" charset="0"/>
                <a:ea typeface="Arial" pitchFamily="34" charset="-122"/>
                <a:cs typeface="Arial" pitchFamily="34" charset="-120"/>
              </a:rPr>
              <a:t>Inventory Management</a:t>
            </a:r>
            <a:endParaRPr lang="en-US" sz="1150" dirty="0"/>
          </a:p>
        </p:txBody>
      </p:sp>
      <p:sp>
        <p:nvSpPr>
          <p:cNvPr id="46" name="Text 33"/>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07 / 12</a:t>
            </a:r>
            <a:endParaRPr lang="en-US" sz="900" dirty="0"/>
          </a:p>
        </p:txBody>
      </p:sp>
      <p:sp>
        <p:nvSpPr>
          <p:cNvPr id="47" name="Text 34"/>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48" name="TWS Logo" descr="Tekki Web Solutions logo"/>
          <p:cNvPicPr>
            <a:picLocks noChangeAspect="1"/>
          </p:cNvPicPr>
          <p:nvPr/>
        </p:nvPicPr>
        <p:blipFill>
          <a:blip r:embed="rId13"/>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39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fill="hold" grpId="0" nodeType="withEffect">
                                  <p:stCondLst>
                                    <p:cond delay="39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0" nodeType="withEffect">
                                  <p:stCondLst>
                                    <p:cond delay="39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52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50"/>
                                        <p:tgtEl>
                                          <p:spTgt spid="9"/>
                                        </p:tgtEl>
                                      </p:cBhvr>
                                    </p:animEffect>
                                  </p:childTnLst>
                                </p:cTn>
                              </p:par>
                              <p:par>
                                <p:cTn id="29" presetID="10" presetClass="entr" presetSubtype="0" fill="hold" grpId="0" nodeType="withEffect">
                                  <p:stCondLst>
                                    <p:cond delay="52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50"/>
                                        <p:tgtEl>
                                          <p:spTgt spid="10"/>
                                        </p:tgtEl>
                                      </p:cBhvr>
                                    </p:animEffect>
                                  </p:childTnLst>
                                </p:cTn>
                              </p:par>
                              <p:par>
                                <p:cTn id="32" presetID="10" presetClass="entr" presetSubtype="0" fill="hold" grpId="0" nodeType="withEffect">
                                  <p:stCondLst>
                                    <p:cond delay="52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450"/>
                                        <p:tgtEl>
                                          <p:spTgt spid="11"/>
                                        </p:tgtEl>
                                      </p:cBhvr>
                                    </p:animEffect>
                                  </p:childTnLst>
                                </p:cTn>
                              </p:par>
                              <p:par>
                                <p:cTn id="35" presetID="10" presetClass="entr" presetSubtype="0" fill="hold" grpId="0" nodeType="withEffect">
                                  <p:stCondLst>
                                    <p:cond delay="5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grpId="0" nodeType="withEffect">
                                  <p:stCondLst>
                                    <p:cond delay="6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grpId="0" nodeType="withEffect">
                                  <p:stCondLst>
                                    <p:cond delay="6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50"/>
                                        <p:tgtEl>
                                          <p:spTgt spid="14"/>
                                        </p:tgtEl>
                                      </p:cBhvr>
                                    </p:animEffect>
                                  </p:childTnLst>
                                </p:cTn>
                              </p:par>
                              <p:par>
                                <p:cTn id="44" presetID="10" presetClass="entr" presetSubtype="0" fill="hold" grpId="0" nodeType="withEffect">
                                  <p:stCondLst>
                                    <p:cond delay="6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50"/>
                                        <p:tgtEl>
                                          <p:spTgt spid="15"/>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78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450"/>
                                        <p:tgtEl>
                                          <p:spTgt spid="17"/>
                                        </p:tgtEl>
                                      </p:cBhvr>
                                    </p:animEffect>
                                  </p:childTnLst>
                                </p:cTn>
                              </p:par>
                              <p:par>
                                <p:cTn id="53" presetID="10" presetClass="entr" presetSubtype="0" fill="hold" grpId="0" nodeType="withEffect">
                                  <p:stCondLst>
                                    <p:cond delay="78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450"/>
                                        <p:tgtEl>
                                          <p:spTgt spid="18"/>
                                        </p:tgtEl>
                                      </p:cBhvr>
                                    </p:animEffect>
                                  </p:childTnLst>
                                </p:cTn>
                              </p:par>
                              <p:par>
                                <p:cTn id="56" presetID="10" presetClass="entr" presetSubtype="0" fill="hold" grpId="0" nodeType="withEffect">
                                  <p:stCondLst>
                                    <p:cond delay="78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450"/>
                                        <p:tgtEl>
                                          <p:spTgt spid="19"/>
                                        </p:tgtEl>
                                      </p:cBhvr>
                                    </p:animEffect>
                                  </p:childTnLst>
                                </p:cTn>
                              </p:par>
                              <p:par>
                                <p:cTn id="59" presetID="10" presetClass="entr" presetSubtype="0" fill="hold" grpId="0" nodeType="withEffect">
                                  <p:stCondLst>
                                    <p:cond delay="7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grpId="0" nodeType="withEffect">
                                  <p:stCondLst>
                                    <p:cond delay="91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grpId="0" nodeType="withEffect">
                                  <p:stCondLst>
                                    <p:cond delay="91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91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450"/>
                                        <p:tgtEl>
                                          <p:spTgt spid="23"/>
                                        </p:tgtEl>
                                      </p:cBhvr>
                                    </p:animEffect>
                                  </p:childTnLst>
                                </p:cTn>
                              </p:par>
                              <p:par>
                                <p:cTn id="71" presetID="10" presetClass="entr" presetSubtype="0" fill="hold" grpId="0" nodeType="withEffect">
                                  <p:stCondLst>
                                    <p:cond delay="91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450"/>
                                        <p:tgtEl>
                                          <p:spTgt spid="24"/>
                                        </p:tgtEl>
                                      </p:cBhvr>
                                    </p:animEffect>
                                  </p:childTnLst>
                                </p:cTn>
                              </p:par>
                              <p:par>
                                <p:cTn id="74" presetID="10" presetClass="entr" presetSubtype="0" fill="hold" grpId="0" nodeType="withEffect">
                                  <p:stCondLst>
                                    <p:cond delay="104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50"/>
                                        <p:tgtEl>
                                          <p:spTgt spid="25"/>
                                        </p:tgtEl>
                                      </p:cBhvr>
                                    </p:animEffect>
                                  </p:childTnLst>
                                </p:cTn>
                              </p:par>
                              <p:par>
                                <p:cTn id="77" presetID="10" presetClass="entr" presetSubtype="0" fill="hold" grpId="0" nodeType="withEffect">
                                  <p:stCondLst>
                                    <p:cond delay="104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450"/>
                                        <p:tgtEl>
                                          <p:spTgt spid="26"/>
                                        </p:tgtEl>
                                      </p:cBhvr>
                                    </p:animEffect>
                                  </p:childTnLst>
                                </p:cTn>
                              </p:par>
                              <p:par>
                                <p:cTn id="80" presetID="10" presetClass="entr" presetSubtype="0" fill="hold" grpId="0" nodeType="withEffect">
                                  <p:stCondLst>
                                    <p:cond delay="104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450"/>
                                        <p:tgtEl>
                                          <p:spTgt spid="27"/>
                                        </p:tgtEl>
                                      </p:cBhvr>
                                    </p:animEffect>
                                  </p:childTnLst>
                                </p:cTn>
                              </p:par>
                              <p:par>
                                <p:cTn id="83" presetID="10" presetClass="entr" presetSubtype="0" fill="hold" grpId="0" nodeType="withEffect">
                                  <p:stCondLst>
                                    <p:cond delay="104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450"/>
                                        <p:tgtEl>
                                          <p:spTgt spid="28"/>
                                        </p:tgtEl>
                                      </p:cBhvr>
                                    </p:animEffect>
                                  </p:childTnLst>
                                </p:cTn>
                              </p:par>
                              <p:par>
                                <p:cTn id="86" presetID="10" presetClass="entr" presetSubtype="0" fill="hold" grpId="0" nodeType="withEffect">
                                  <p:stCondLst>
                                    <p:cond delay="117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117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117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450"/>
                                        <p:tgtEl>
                                          <p:spTgt spid="31"/>
                                        </p:tgtEl>
                                      </p:cBhvr>
                                    </p:animEffect>
                                  </p:childTnLst>
                                </p:cTn>
                              </p:par>
                              <p:par>
                                <p:cTn id="95" presetID="10" presetClass="entr" presetSubtype="0" fill="hold" grpId="0" nodeType="withEffect">
                                  <p:stCondLst>
                                    <p:cond delay="117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450"/>
                                        <p:tgtEl>
                                          <p:spTgt spid="32"/>
                                        </p:tgtEl>
                                      </p:cBhvr>
                                    </p:animEffect>
                                  </p:childTnLst>
                                </p:cTn>
                              </p:par>
                              <p:par>
                                <p:cTn id="98" presetID="10" presetClass="entr" presetSubtype="0" fill="hold" grpId="0" nodeType="withEffect">
                                  <p:stCondLst>
                                    <p:cond delay="130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450"/>
                                        <p:tgtEl>
                                          <p:spTgt spid="33"/>
                                        </p:tgtEl>
                                      </p:cBhvr>
                                    </p:animEffect>
                                  </p:childTnLst>
                                </p:cTn>
                              </p:par>
                              <p:par>
                                <p:cTn id="101" presetID="10" presetClass="entr" presetSubtype="0" fill="hold" grpId="0" nodeType="withEffect">
                                  <p:stCondLst>
                                    <p:cond delay="130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450"/>
                                        <p:tgtEl>
                                          <p:spTgt spid="34"/>
                                        </p:tgtEl>
                                      </p:cBhvr>
                                    </p:animEffect>
                                  </p:childTnLst>
                                </p:cTn>
                              </p:par>
                              <p:par>
                                <p:cTn id="104" presetID="10" presetClass="entr" presetSubtype="0" fill="hold" grpId="0" nodeType="withEffect">
                                  <p:stCondLst>
                                    <p:cond delay="1300"/>
                                  </p:stCondLst>
                                  <p:childTnLst>
                                    <p:set>
                                      <p:cBhvr>
                                        <p:cTn id="105" dur="1" fill="hold">
                                          <p:stCondLst>
                                            <p:cond delay="0"/>
                                          </p:stCondLst>
                                        </p:cTn>
                                        <p:tgtEl>
                                          <p:spTgt spid="35"/>
                                        </p:tgtEl>
                                        <p:attrNameLst>
                                          <p:attrName>style.visibility</p:attrName>
                                        </p:attrNameLst>
                                      </p:cBhvr>
                                      <p:to>
                                        <p:strVal val="visible"/>
                                      </p:to>
                                    </p:set>
                                    <p:animEffect transition="in" filter="fade">
                                      <p:cBhvr>
                                        <p:cTn id="106" dur="450"/>
                                        <p:tgtEl>
                                          <p:spTgt spid="35"/>
                                        </p:tgtEl>
                                      </p:cBhvr>
                                    </p:animEffect>
                                  </p:childTnLst>
                                </p:cTn>
                              </p:par>
                              <p:par>
                                <p:cTn id="107" presetID="10" presetClass="entr" presetSubtype="0" fill="hold" grpId="0" nodeType="withEffect">
                                  <p:stCondLst>
                                    <p:cond delay="1300"/>
                                  </p:stCondLst>
                                  <p:childTnLst>
                                    <p:set>
                                      <p:cBhvr>
                                        <p:cTn id="108" dur="1" fill="hold">
                                          <p:stCondLst>
                                            <p:cond delay="0"/>
                                          </p:stCondLst>
                                        </p:cTn>
                                        <p:tgtEl>
                                          <p:spTgt spid="36"/>
                                        </p:tgtEl>
                                        <p:attrNameLst>
                                          <p:attrName>style.visibility</p:attrName>
                                        </p:attrNameLst>
                                      </p:cBhvr>
                                      <p:to>
                                        <p:strVal val="visible"/>
                                      </p:to>
                                    </p:set>
                                    <p:animEffect transition="in" filter="fade">
                                      <p:cBhvr>
                                        <p:cTn id="109" dur="450"/>
                                        <p:tgtEl>
                                          <p:spTgt spid="36"/>
                                        </p:tgtEl>
                                      </p:cBhvr>
                                    </p:animEffect>
                                  </p:childTnLst>
                                </p:cTn>
                              </p:par>
                              <p:par>
                                <p:cTn id="110" presetID="10" presetClass="entr" presetSubtype="0" fill="hold" grpId="0" nodeType="withEffect">
                                  <p:stCondLst>
                                    <p:cond delay="1430"/>
                                  </p:stCondLst>
                                  <p:childTnLst>
                                    <p:set>
                                      <p:cBhvr>
                                        <p:cTn id="111" dur="1" fill="hold">
                                          <p:stCondLst>
                                            <p:cond delay="0"/>
                                          </p:stCondLst>
                                        </p:cTn>
                                        <p:tgtEl>
                                          <p:spTgt spid="37"/>
                                        </p:tgtEl>
                                        <p:attrNameLst>
                                          <p:attrName>style.visibility</p:attrName>
                                        </p:attrNameLst>
                                      </p:cBhvr>
                                      <p:to>
                                        <p:strVal val="visible"/>
                                      </p:to>
                                    </p:set>
                                    <p:animEffect transition="in" filter="fade">
                                      <p:cBhvr>
                                        <p:cTn id="112" dur="450"/>
                                        <p:tgtEl>
                                          <p:spTgt spid="37"/>
                                        </p:tgtEl>
                                      </p:cBhvr>
                                    </p:animEffect>
                                  </p:childTnLst>
                                </p:cTn>
                              </p:par>
                              <p:par>
                                <p:cTn id="113" presetID="10" presetClass="entr" presetSubtype="0" fill="hold" grpId="0" nodeType="withEffect">
                                  <p:stCondLst>
                                    <p:cond delay="143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143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1430"/>
                                  </p:stCondLst>
                                  <p:childTnLst>
                                    <p:set>
                                      <p:cBhvr>
                                        <p:cTn id="120" dur="1" fill="hold">
                                          <p:stCondLst>
                                            <p:cond delay="0"/>
                                          </p:stCondLst>
                                        </p:cTn>
                                        <p:tgtEl>
                                          <p:spTgt spid="40"/>
                                        </p:tgtEl>
                                        <p:attrNameLst>
                                          <p:attrName>style.visibility</p:attrName>
                                        </p:attrNameLst>
                                      </p:cBhvr>
                                      <p:to>
                                        <p:strVal val="visible"/>
                                      </p:to>
                                    </p:set>
                                    <p:animEffect transition="in" filter="fade">
                                      <p:cBhvr>
                                        <p:cTn id="121" dur="450"/>
                                        <p:tgtEl>
                                          <p:spTgt spid="40"/>
                                        </p:tgtEl>
                                      </p:cBhvr>
                                    </p:animEffect>
                                  </p:childTnLst>
                                </p:cTn>
                              </p:par>
                              <p:par>
                                <p:cTn id="122" presetID="10" presetClass="entr" presetSubtype="0" fill="hold" grpId="0" nodeType="withEffect">
                                  <p:stCondLst>
                                    <p:cond delay="1560"/>
                                  </p:stCondLst>
                                  <p:childTnLst>
                                    <p:set>
                                      <p:cBhvr>
                                        <p:cTn id="123" dur="1" fill="hold">
                                          <p:stCondLst>
                                            <p:cond delay="0"/>
                                          </p:stCondLst>
                                        </p:cTn>
                                        <p:tgtEl>
                                          <p:spTgt spid="41"/>
                                        </p:tgtEl>
                                        <p:attrNameLst>
                                          <p:attrName>style.visibility</p:attrName>
                                        </p:attrNameLst>
                                      </p:cBhvr>
                                      <p:to>
                                        <p:strVal val="visible"/>
                                      </p:to>
                                    </p:set>
                                    <p:animEffect transition="in" filter="fade">
                                      <p:cBhvr>
                                        <p:cTn id="124" dur="450"/>
                                        <p:tgtEl>
                                          <p:spTgt spid="41"/>
                                        </p:tgtEl>
                                      </p:cBhvr>
                                    </p:animEffect>
                                  </p:childTnLst>
                                </p:cTn>
                              </p:par>
                              <p:par>
                                <p:cTn id="125" presetID="10" presetClass="entr" presetSubtype="0" fill="hold" grpId="0" nodeType="withEffect">
                                  <p:stCondLst>
                                    <p:cond delay="1560"/>
                                  </p:stCondLst>
                                  <p:childTnLst>
                                    <p:set>
                                      <p:cBhvr>
                                        <p:cTn id="126" dur="1" fill="hold">
                                          <p:stCondLst>
                                            <p:cond delay="0"/>
                                          </p:stCondLst>
                                        </p:cTn>
                                        <p:tgtEl>
                                          <p:spTgt spid="42"/>
                                        </p:tgtEl>
                                        <p:attrNameLst>
                                          <p:attrName>style.visibility</p:attrName>
                                        </p:attrNameLst>
                                      </p:cBhvr>
                                      <p:to>
                                        <p:strVal val="visible"/>
                                      </p:to>
                                    </p:set>
                                    <p:animEffect transition="in" filter="fade">
                                      <p:cBhvr>
                                        <p:cTn id="127" dur="450"/>
                                        <p:tgtEl>
                                          <p:spTgt spid="42"/>
                                        </p:tgtEl>
                                      </p:cBhvr>
                                    </p:animEffect>
                                  </p:childTnLst>
                                </p:cTn>
                              </p:par>
                              <p:par>
                                <p:cTn id="128" presetID="10" presetClass="entr" presetSubtype="0" fill="hold" grpId="0" nodeType="withEffect">
                                  <p:stCondLst>
                                    <p:cond delay="156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450"/>
                                        <p:tgtEl>
                                          <p:spTgt spid="43"/>
                                        </p:tgtEl>
                                      </p:cBhvr>
                                    </p:animEffect>
                                  </p:childTnLst>
                                </p:cTn>
                              </p:par>
                              <p:par>
                                <p:cTn id="131" presetID="10" presetClass="entr" presetSubtype="0" fill="hold" grpId="0" nodeType="withEffect">
                                  <p:stCondLst>
                                    <p:cond delay="1560"/>
                                  </p:stCondLst>
                                  <p:childTnLst>
                                    <p:set>
                                      <p:cBhvr>
                                        <p:cTn id="132" dur="1" fill="hold">
                                          <p:stCondLst>
                                            <p:cond delay="0"/>
                                          </p:stCondLst>
                                        </p:cTn>
                                        <p:tgtEl>
                                          <p:spTgt spid="44"/>
                                        </p:tgtEl>
                                        <p:attrNameLst>
                                          <p:attrName>style.visibility</p:attrName>
                                        </p:attrNameLst>
                                      </p:cBhvr>
                                      <p:to>
                                        <p:strVal val="visible"/>
                                      </p:to>
                                    </p:set>
                                    <p:animEffect transition="in" filter="fade">
                                      <p:cBhvr>
                                        <p:cTn id="133" dur="45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0E7490"/>
                </a:solidFill>
                <a:latin typeface="Courier New" pitchFamily="34" charset="0"/>
                <a:ea typeface="Courier New" pitchFamily="34" charset="-122"/>
                <a:cs typeface="Courier New" pitchFamily="34" charset="-120"/>
              </a:rPr>
              <a:t>SECTION 10 — FROM COLLEGE TO JOB</a:t>
            </a:r>
            <a:endParaRPr lang="en-US" sz="1250" dirty="0"/>
          </a:p>
        </p:txBody>
      </p:sp>
      <p:sp>
        <p:nvSpPr>
          <p:cNvPr id="3" name="Text 1"/>
          <p:cNvSpPr txBox="1"/>
          <p:nvPr/>
        </p:nvSpPr>
        <p:spPr>
          <a:xfrm>
            <a:off x="502920" y="841248"/>
            <a:ext cx="10515600" cy="640080"/>
          </a:xfrm>
          <a:prstGeom prst="rect">
            <a:avLst/>
          </a:prstGeom>
          <a:noFill/>
          <a:ln/>
        </p:spPr>
        <p:txBody>
          <a:bodyPr wrap="square" lIns="0" tIns="0" rIns="0" bIns="0" rtlCol="0" anchor="ctr"/>
          <a:lstStyle/>
          <a:p>
            <a:pPr marL="0" indent="0">
              <a:buNone/>
            </a:pPr>
            <a:r>
              <a:rPr lang="en-US" sz="2900" b="1" dirty="0">
                <a:solidFill>
                  <a:srgbClr val="0F172A"/>
                </a:solidFill>
                <a:latin typeface="Arial" pitchFamily="34" charset="0"/>
                <a:ea typeface="Arial" pitchFamily="34" charset="-122"/>
                <a:cs typeface="Arial" pitchFamily="34" charset="-120"/>
              </a:rPr>
              <a:t>Build Your Professional Identity</a:t>
            </a:r>
            <a:endParaRPr lang="en-US" sz="2900" dirty="0"/>
          </a:p>
        </p:txBody>
      </p:sp>
      <p:sp>
        <p:nvSpPr>
          <p:cNvPr id="4" name="Shape 2"/>
          <p:cNvSpPr/>
          <p:nvPr/>
        </p:nvSpPr>
        <p:spPr>
          <a:xfrm>
            <a:off x="502920" y="1783080"/>
            <a:ext cx="3514344" cy="3840480"/>
          </a:xfrm>
          <a:prstGeom prst="roundRect">
            <a:avLst>
              <a:gd name="adj" fmla="val 3643"/>
            </a:avLst>
          </a:prstGeom>
          <a:solidFill>
            <a:srgbClr val="F1F5F9"/>
          </a:solidFill>
          <a:ln/>
          <a:effectLst>
            <a:outerShdw blurRad="76200" dist="25400" dir="5400000" algn="bl" rotWithShape="0">
              <a:srgbClr val="0A0E1A">
                <a:alpha val="8000"/>
              </a:srgbClr>
            </a:outerShdw>
          </a:effectLst>
        </p:spPr>
      </p:sp>
      <p:sp>
        <p:nvSpPr>
          <p:cNvPr id="5" name="Shape 3"/>
          <p:cNvSpPr/>
          <p:nvPr/>
        </p:nvSpPr>
        <p:spPr>
          <a:xfrm>
            <a:off x="1825752" y="2125980"/>
            <a:ext cx="868680" cy="868680"/>
          </a:xfrm>
          <a:prstGeom prst="ellipse">
            <a:avLst/>
          </a:prstGeom>
          <a:solidFill>
            <a:srgbClr val="0A66C2"/>
          </a:solidFill>
          <a:ln/>
        </p:spPr>
      </p:sp>
      <p:pic>
        <p:nvPicPr>
          <p:cNvPr id="6" name="Image 0" descr="/home/claude/icons/linkedin.png"/>
          <p:cNvPicPr>
            <a:picLocks noChangeAspect="1"/>
          </p:cNvPicPr>
          <p:nvPr/>
        </p:nvPicPr>
        <p:blipFill>
          <a:blip r:embed="rId3"/>
          <a:stretch>
            <a:fillRect/>
          </a:stretch>
        </p:blipFill>
        <p:spPr>
          <a:xfrm>
            <a:off x="2042922" y="2343150"/>
            <a:ext cx="434340" cy="434340"/>
          </a:xfrm>
          <a:prstGeom prst="rect">
            <a:avLst/>
          </a:prstGeom>
        </p:spPr>
      </p:pic>
      <p:sp>
        <p:nvSpPr>
          <p:cNvPr id="7" name="Text 4"/>
          <p:cNvSpPr txBox="1"/>
          <p:nvPr/>
        </p:nvSpPr>
        <p:spPr>
          <a:xfrm>
            <a:off x="685800" y="3154680"/>
            <a:ext cx="3148584" cy="411480"/>
          </a:xfrm>
          <a:prstGeom prst="rect">
            <a:avLst/>
          </a:prstGeom>
          <a:noFill/>
          <a:ln/>
        </p:spPr>
        <p:txBody>
          <a:bodyPr wrap="square" lIns="0" tIns="0" rIns="0" bIns="0" rtlCol="0" anchor="ctr"/>
          <a:lstStyle/>
          <a:p>
            <a:pPr marL="0" indent="0" algn="ctr">
              <a:buNone/>
            </a:pPr>
            <a:r>
              <a:rPr lang="en-US" sz="1800" b="1" dirty="0">
                <a:solidFill>
                  <a:srgbClr val="0F172A"/>
                </a:solidFill>
                <a:latin typeface="Arial" pitchFamily="34" charset="0"/>
                <a:ea typeface="Arial" pitchFamily="34" charset="-122"/>
                <a:cs typeface="Arial" pitchFamily="34" charset="-120"/>
              </a:rPr>
              <a:t>LinkedIn</a:t>
            </a:r>
            <a:endParaRPr lang="en-US" sz="1800" dirty="0"/>
          </a:p>
        </p:txBody>
      </p:sp>
      <p:sp>
        <p:nvSpPr>
          <p:cNvPr id="8" name="Text 5"/>
          <p:cNvSpPr txBox="1"/>
          <p:nvPr/>
        </p:nvSpPr>
        <p:spPr>
          <a:xfrm>
            <a:off x="822960" y="3611880"/>
            <a:ext cx="2874264" cy="777240"/>
          </a:xfrm>
          <a:prstGeom prst="rect">
            <a:avLst/>
          </a:prstGeom>
          <a:noFill/>
          <a:ln/>
        </p:spPr>
        <p:txBody>
          <a:bodyPr wrap="square" lIns="0" tIns="0" rIns="0" bIns="0" rtlCol="0" anchor="ctr"/>
          <a:lstStyle/>
          <a:p>
            <a:pPr marL="0" indent="0" algn="ctr">
              <a:lnSpc>
                <a:spcPts val="1600"/>
              </a:lnSpc>
              <a:buNone/>
            </a:pPr>
            <a:r>
              <a:rPr lang="en-US" sz="1200" dirty="0">
                <a:solidFill>
                  <a:srgbClr val="64748B"/>
                </a:solidFill>
                <a:latin typeface="Calibri" pitchFamily="34" charset="0"/>
                <a:ea typeface="Calibri" pitchFamily="34" charset="-122"/>
                <a:cs typeface="Calibri" pitchFamily="34" charset="-120"/>
              </a:rPr>
              <a:t>Build your professional network.</a:t>
            </a:r>
            <a:endParaRPr lang="en-US" sz="1200" dirty="0"/>
          </a:p>
        </p:txBody>
      </p:sp>
      <p:sp>
        <p:nvSpPr>
          <p:cNvPr id="11" name="Shape 8"/>
          <p:cNvSpPr/>
          <p:nvPr/>
        </p:nvSpPr>
        <p:spPr>
          <a:xfrm>
            <a:off x="4337304" y="1783080"/>
            <a:ext cx="3514344" cy="3840480"/>
          </a:xfrm>
          <a:prstGeom prst="roundRect">
            <a:avLst>
              <a:gd name="adj" fmla="val 3643"/>
            </a:avLst>
          </a:prstGeom>
          <a:solidFill>
            <a:srgbClr val="F1F5F9"/>
          </a:solidFill>
          <a:ln/>
          <a:effectLst>
            <a:outerShdw blurRad="76200" dist="25400" dir="5400000" algn="bl" rotWithShape="0">
              <a:srgbClr val="0A0E1A">
                <a:alpha val="8000"/>
              </a:srgbClr>
            </a:outerShdw>
          </a:effectLst>
        </p:spPr>
      </p:sp>
      <p:sp>
        <p:nvSpPr>
          <p:cNvPr id="12" name="Shape 9"/>
          <p:cNvSpPr/>
          <p:nvPr/>
        </p:nvSpPr>
        <p:spPr>
          <a:xfrm>
            <a:off x="5660136" y="2125980"/>
            <a:ext cx="868680" cy="868680"/>
          </a:xfrm>
          <a:prstGeom prst="ellipse">
            <a:avLst/>
          </a:prstGeom>
          <a:solidFill>
            <a:srgbClr val="1F2937"/>
          </a:solidFill>
          <a:ln/>
        </p:spPr>
      </p:sp>
      <p:pic>
        <p:nvPicPr>
          <p:cNvPr id="13" name="Image 1" descr="/home/claude/icons/github.png"/>
          <p:cNvPicPr>
            <a:picLocks noChangeAspect="1"/>
          </p:cNvPicPr>
          <p:nvPr/>
        </p:nvPicPr>
        <p:blipFill>
          <a:blip r:embed="rId4"/>
          <a:stretch>
            <a:fillRect/>
          </a:stretch>
        </p:blipFill>
        <p:spPr>
          <a:xfrm>
            <a:off x="5877306" y="2343150"/>
            <a:ext cx="434340" cy="434340"/>
          </a:xfrm>
          <a:prstGeom prst="rect">
            <a:avLst/>
          </a:prstGeom>
        </p:spPr>
      </p:pic>
      <p:sp>
        <p:nvSpPr>
          <p:cNvPr id="14" name="Text 10"/>
          <p:cNvSpPr txBox="1"/>
          <p:nvPr/>
        </p:nvSpPr>
        <p:spPr>
          <a:xfrm>
            <a:off x="4520184" y="3154680"/>
            <a:ext cx="3148584" cy="411480"/>
          </a:xfrm>
          <a:prstGeom prst="rect">
            <a:avLst/>
          </a:prstGeom>
          <a:noFill/>
          <a:ln/>
        </p:spPr>
        <p:txBody>
          <a:bodyPr wrap="square" lIns="0" tIns="0" rIns="0" bIns="0" rtlCol="0" anchor="ctr"/>
          <a:lstStyle/>
          <a:p>
            <a:pPr marL="0" indent="0" algn="ctr">
              <a:buNone/>
            </a:pPr>
            <a:r>
              <a:rPr lang="en-US" sz="1800" b="1" dirty="0">
                <a:solidFill>
                  <a:srgbClr val="0F172A"/>
                </a:solidFill>
                <a:latin typeface="Arial" pitchFamily="34" charset="0"/>
                <a:ea typeface="Arial" pitchFamily="34" charset="-122"/>
                <a:cs typeface="Arial" pitchFamily="34" charset="-120"/>
              </a:rPr>
              <a:t>GitHub</a:t>
            </a:r>
            <a:endParaRPr lang="en-US" sz="1800" dirty="0"/>
          </a:p>
        </p:txBody>
      </p:sp>
      <p:sp>
        <p:nvSpPr>
          <p:cNvPr id="15" name="Text 11"/>
          <p:cNvSpPr txBox="1"/>
          <p:nvPr/>
        </p:nvSpPr>
        <p:spPr>
          <a:xfrm>
            <a:off x="4657344" y="3611880"/>
            <a:ext cx="2874264" cy="777240"/>
          </a:xfrm>
          <a:prstGeom prst="rect">
            <a:avLst/>
          </a:prstGeom>
          <a:noFill/>
          <a:ln/>
        </p:spPr>
        <p:txBody>
          <a:bodyPr wrap="square" lIns="0" tIns="0" rIns="0" bIns="0" rtlCol="0" anchor="ctr"/>
          <a:lstStyle/>
          <a:p>
            <a:pPr marL="0" indent="0" algn="ctr">
              <a:lnSpc>
                <a:spcPts val="1600"/>
              </a:lnSpc>
              <a:buNone/>
            </a:pPr>
            <a:r>
              <a:rPr lang="en-US" sz="1200" dirty="0">
                <a:solidFill>
                  <a:srgbClr val="64748B"/>
                </a:solidFill>
                <a:latin typeface="Calibri" pitchFamily="34" charset="0"/>
                <a:ea typeface="Calibri" pitchFamily="34" charset="-122"/>
                <a:cs typeface="Calibri" pitchFamily="34" charset="-120"/>
              </a:rPr>
              <a:t>Show your code and projects.</a:t>
            </a:r>
            <a:endParaRPr lang="en-US" sz="1200" dirty="0"/>
          </a:p>
        </p:txBody>
      </p:sp>
      <p:sp>
        <p:nvSpPr>
          <p:cNvPr id="16" name="Shape 12"/>
          <p:cNvSpPr/>
          <p:nvPr/>
        </p:nvSpPr>
        <p:spPr>
          <a:xfrm>
            <a:off x="8171688" y="1783080"/>
            <a:ext cx="3514344" cy="3840480"/>
          </a:xfrm>
          <a:prstGeom prst="roundRect">
            <a:avLst>
              <a:gd name="adj" fmla="val 3643"/>
            </a:avLst>
          </a:prstGeom>
          <a:solidFill>
            <a:srgbClr val="F1F5F9"/>
          </a:solidFill>
          <a:ln/>
          <a:effectLst>
            <a:outerShdw blurRad="76200" dist="25400" dir="5400000" algn="bl" rotWithShape="0">
              <a:srgbClr val="0A0E1A">
                <a:alpha val="8000"/>
              </a:srgbClr>
            </a:outerShdw>
          </a:effectLst>
        </p:spPr>
      </p:sp>
      <p:sp>
        <p:nvSpPr>
          <p:cNvPr id="17" name="Shape 13"/>
          <p:cNvSpPr/>
          <p:nvPr/>
        </p:nvSpPr>
        <p:spPr>
          <a:xfrm>
            <a:off x="9494520" y="2125980"/>
            <a:ext cx="868680" cy="868680"/>
          </a:xfrm>
          <a:prstGeom prst="ellipse">
            <a:avLst/>
          </a:prstGeom>
          <a:solidFill>
            <a:srgbClr val="15803D"/>
          </a:solidFill>
          <a:ln/>
        </p:spPr>
      </p:sp>
      <p:pic>
        <p:nvPicPr>
          <p:cNvPr id="18" name="Image 2" descr="/home/claude/icons/filetext.png"/>
          <p:cNvPicPr>
            <a:picLocks noChangeAspect="1"/>
          </p:cNvPicPr>
          <p:nvPr/>
        </p:nvPicPr>
        <p:blipFill>
          <a:blip r:embed="rId5"/>
          <a:stretch>
            <a:fillRect/>
          </a:stretch>
        </p:blipFill>
        <p:spPr>
          <a:xfrm>
            <a:off x="9711690" y="2343150"/>
            <a:ext cx="434340" cy="434340"/>
          </a:xfrm>
          <a:prstGeom prst="rect">
            <a:avLst/>
          </a:prstGeom>
        </p:spPr>
      </p:pic>
      <p:sp>
        <p:nvSpPr>
          <p:cNvPr id="19" name="Text 14"/>
          <p:cNvSpPr txBox="1"/>
          <p:nvPr/>
        </p:nvSpPr>
        <p:spPr>
          <a:xfrm>
            <a:off x="8354568" y="3154680"/>
            <a:ext cx="3148584" cy="411480"/>
          </a:xfrm>
          <a:prstGeom prst="rect">
            <a:avLst/>
          </a:prstGeom>
          <a:noFill/>
          <a:ln/>
        </p:spPr>
        <p:txBody>
          <a:bodyPr wrap="square" lIns="0" tIns="0" rIns="0" bIns="0" rtlCol="0" anchor="ctr"/>
          <a:lstStyle/>
          <a:p>
            <a:pPr marL="0" indent="0" algn="ctr">
              <a:buNone/>
            </a:pPr>
            <a:r>
              <a:rPr lang="en-US" sz="1800" b="1" dirty="0">
                <a:solidFill>
                  <a:srgbClr val="0F172A"/>
                </a:solidFill>
                <a:latin typeface="Arial" pitchFamily="34" charset="0"/>
                <a:ea typeface="Arial" pitchFamily="34" charset="-122"/>
                <a:cs typeface="Arial" pitchFamily="34" charset="-120"/>
              </a:rPr>
              <a:t>Resume</a:t>
            </a:r>
            <a:endParaRPr lang="en-US" sz="1800" dirty="0"/>
          </a:p>
        </p:txBody>
      </p:sp>
      <p:sp>
        <p:nvSpPr>
          <p:cNvPr id="20" name="Text 15"/>
          <p:cNvSpPr txBox="1"/>
          <p:nvPr/>
        </p:nvSpPr>
        <p:spPr>
          <a:xfrm>
            <a:off x="8491728" y="3611880"/>
            <a:ext cx="2874264" cy="777240"/>
          </a:xfrm>
          <a:prstGeom prst="rect">
            <a:avLst/>
          </a:prstGeom>
          <a:noFill/>
          <a:ln/>
        </p:spPr>
        <p:txBody>
          <a:bodyPr wrap="square" lIns="0" tIns="0" rIns="0" bIns="0" rtlCol="0" anchor="ctr"/>
          <a:lstStyle/>
          <a:p>
            <a:pPr marL="0" indent="0" algn="ctr">
              <a:lnSpc>
                <a:spcPts val="1600"/>
              </a:lnSpc>
              <a:buNone/>
            </a:pPr>
            <a:r>
              <a:rPr lang="en-US" sz="1200" dirty="0">
                <a:solidFill>
                  <a:srgbClr val="64748B"/>
                </a:solidFill>
                <a:latin typeface="Calibri" pitchFamily="34" charset="0"/>
                <a:ea typeface="Calibri" pitchFamily="34" charset="-122"/>
                <a:cs typeface="Calibri" pitchFamily="34" charset="-120"/>
              </a:rPr>
              <a:t>Show impact, not just technologies.</a:t>
            </a:r>
            <a:endParaRPr lang="en-US" sz="1200" dirty="0"/>
          </a:p>
        </p:txBody>
      </p:sp>
      <p:sp>
        <p:nvSpPr>
          <p:cNvPr id="24" name="Text 18"/>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08 / 12</a:t>
            </a:r>
            <a:endParaRPr lang="en-US" sz="900" dirty="0"/>
          </a:p>
        </p:txBody>
      </p:sp>
      <p:sp>
        <p:nvSpPr>
          <p:cNvPr id="25" name="Text 19"/>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26" name="TWS Logo" descr="Tekki Web Solutions logo"/>
          <p:cNvPicPr>
            <a:picLocks noChangeAspect="1"/>
          </p:cNvPicPr>
          <p:nvPr/>
        </p:nvPicPr>
        <p:blipFill>
          <a:blip r:embed="rId6"/>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50"/>
                                        <p:tgtEl>
                                          <p:spTgt spid="6"/>
                                        </p:tgtEl>
                                      </p:cBhvr>
                                    </p:animEffect>
                                  </p:childTnLst>
                                </p:cTn>
                              </p:par>
                              <p:par>
                                <p:cTn id="20" presetID="10" presetClass="entr" presetSubtype="0" fill="hold" grpId="0" nodeType="withEffect">
                                  <p:stCondLst>
                                    <p:cond delay="26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50"/>
                                        <p:tgtEl>
                                          <p:spTgt spid="7"/>
                                        </p:tgtEl>
                                      </p:cBhvr>
                                    </p:animEffect>
                                  </p:childTnLst>
                                </p:cTn>
                              </p:par>
                              <p:par>
                                <p:cTn id="23" presetID="10" presetClass="entr" presetSubtype="0" fill="hold" grpId="0" nodeType="withEffect">
                                  <p:stCondLst>
                                    <p:cond delay="2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39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50"/>
                                        <p:tgtEl>
                                          <p:spTgt spid="12"/>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50"/>
                                        <p:tgtEl>
                                          <p:spTgt spid="13"/>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450"/>
                                        <p:tgtEl>
                                          <p:spTgt spid="14"/>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2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2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50"/>
                                        <p:tgtEl>
                                          <p:spTgt spid="18"/>
                                        </p:tgtEl>
                                      </p:cBhvr>
                                    </p:animEffect>
                                  </p:childTnLst>
                                </p:cTn>
                              </p:par>
                              <p:par>
                                <p:cTn id="50" presetID="10" presetClass="entr" presetSubtype="0" fill="hold" grpId="0" nodeType="withEffect">
                                  <p:stCondLst>
                                    <p:cond delay="52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52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457200"/>
            <a:ext cx="7315200" cy="292608"/>
          </a:xfrm>
          <a:prstGeom prst="rect">
            <a:avLst/>
          </a:prstGeom>
          <a:noFill/>
          <a:ln/>
        </p:spPr>
        <p:txBody>
          <a:bodyPr wrap="square" lIns="0" tIns="0" rIns="0" bIns="0" rtlCol="0" anchor="ctr"/>
          <a:lstStyle/>
          <a:p>
            <a:pPr marL="0" indent="0">
              <a:buNone/>
            </a:pPr>
            <a:r>
              <a:rPr lang="en-US" sz="1250" b="1" kern="0" spc="220" dirty="0">
                <a:solidFill>
                  <a:srgbClr val="0E7490"/>
                </a:solidFill>
                <a:latin typeface="Courier New" pitchFamily="34" charset="0"/>
                <a:ea typeface="Courier New" pitchFamily="34" charset="-122"/>
                <a:cs typeface="Courier New" pitchFamily="34" charset="-120"/>
              </a:rPr>
              <a:t>SECTION 10 — FROM COLLEGE TO JOB</a:t>
            </a:r>
            <a:endParaRPr lang="en-US" sz="1250" dirty="0"/>
          </a:p>
        </p:txBody>
      </p:sp>
      <p:sp>
        <p:nvSpPr>
          <p:cNvPr id="3" name="Text 1"/>
          <p:cNvSpPr txBox="1"/>
          <p:nvPr/>
        </p:nvSpPr>
        <p:spPr>
          <a:xfrm>
            <a:off x="502920" y="822960"/>
            <a:ext cx="7315200" cy="594360"/>
          </a:xfrm>
          <a:prstGeom prst="rect">
            <a:avLst/>
          </a:prstGeom>
          <a:noFill/>
          <a:ln/>
        </p:spPr>
        <p:txBody>
          <a:bodyPr wrap="square" lIns="0" tIns="0" rIns="0" bIns="0" rtlCol="0" anchor="ctr"/>
          <a:lstStyle/>
          <a:p>
            <a:pPr marL="0" indent="0">
              <a:buNone/>
            </a:pPr>
            <a:r>
              <a:rPr lang="en-US" sz="3000" b="1" dirty="0">
                <a:solidFill>
                  <a:srgbClr val="0F172A"/>
                </a:solidFill>
                <a:latin typeface="Arial" pitchFamily="34" charset="0"/>
                <a:ea typeface="Arial" pitchFamily="34" charset="-122"/>
                <a:cs typeface="Arial" pitchFamily="34" charset="-120"/>
              </a:rPr>
              <a:t>Your Roadmap</a:t>
            </a:r>
            <a:endParaRPr lang="en-US" sz="3000" dirty="0"/>
          </a:p>
        </p:txBody>
      </p:sp>
      <p:sp>
        <p:nvSpPr>
          <p:cNvPr id="4" name="Shape 2"/>
          <p:cNvSpPr/>
          <p:nvPr/>
        </p:nvSpPr>
        <p:spPr>
          <a:xfrm>
            <a:off x="502920" y="1645920"/>
            <a:ext cx="3557016" cy="1234440"/>
          </a:xfrm>
          <a:prstGeom prst="roundRect">
            <a:avLst>
              <a:gd name="adj" fmla="val 8889"/>
            </a:avLst>
          </a:prstGeom>
          <a:solidFill>
            <a:srgbClr val="F1F5F9"/>
          </a:solidFill>
          <a:ln/>
        </p:spPr>
      </p:sp>
      <p:sp>
        <p:nvSpPr>
          <p:cNvPr id="5" name="Text 3"/>
          <p:cNvSpPr txBox="1"/>
          <p:nvPr/>
        </p:nvSpPr>
        <p:spPr>
          <a:xfrm>
            <a:off x="685800" y="177393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1</a:t>
            </a:r>
            <a:endParaRPr lang="en-US" sz="900" dirty="0"/>
          </a:p>
        </p:txBody>
      </p:sp>
      <p:sp>
        <p:nvSpPr>
          <p:cNvPr id="6" name="Shape 4"/>
          <p:cNvSpPr/>
          <p:nvPr/>
        </p:nvSpPr>
        <p:spPr>
          <a:xfrm>
            <a:off x="731520" y="2167128"/>
            <a:ext cx="457200" cy="457200"/>
          </a:xfrm>
          <a:prstGeom prst="ellipse">
            <a:avLst/>
          </a:prstGeom>
          <a:solidFill>
            <a:srgbClr val="0E7490"/>
          </a:solidFill>
          <a:ln/>
        </p:spPr>
      </p:sp>
      <p:pic>
        <p:nvPicPr>
          <p:cNvPr id="7" name="Image 0" descr="/home/claude/icons/target.png"/>
          <p:cNvPicPr>
            <a:picLocks noChangeAspect="1"/>
          </p:cNvPicPr>
          <p:nvPr/>
        </p:nvPicPr>
        <p:blipFill>
          <a:blip r:embed="rId3"/>
          <a:stretch>
            <a:fillRect/>
          </a:stretch>
        </p:blipFill>
        <p:spPr>
          <a:xfrm>
            <a:off x="841248" y="2276856"/>
            <a:ext cx="237744" cy="237744"/>
          </a:xfrm>
          <a:prstGeom prst="rect">
            <a:avLst/>
          </a:prstGeom>
        </p:spPr>
      </p:pic>
      <p:sp>
        <p:nvSpPr>
          <p:cNvPr id="8" name="Text 5"/>
          <p:cNvSpPr txBox="1"/>
          <p:nvPr/>
        </p:nvSpPr>
        <p:spPr>
          <a:xfrm>
            <a:off x="1307592" y="202996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Choose ONE career direction</a:t>
            </a:r>
            <a:endParaRPr lang="en-US" sz="1150" dirty="0"/>
          </a:p>
        </p:txBody>
      </p:sp>
      <p:sp>
        <p:nvSpPr>
          <p:cNvPr id="9" name="Text 6"/>
          <p:cNvSpPr txBox="1"/>
          <p:nvPr/>
        </p:nvSpPr>
        <p:spPr>
          <a:xfrm>
            <a:off x="4059936" y="2084832"/>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10" name="Shape 7"/>
          <p:cNvSpPr/>
          <p:nvPr/>
        </p:nvSpPr>
        <p:spPr>
          <a:xfrm>
            <a:off x="4315968" y="1645920"/>
            <a:ext cx="3557016" cy="1234440"/>
          </a:xfrm>
          <a:prstGeom prst="roundRect">
            <a:avLst>
              <a:gd name="adj" fmla="val 8889"/>
            </a:avLst>
          </a:prstGeom>
          <a:solidFill>
            <a:srgbClr val="F1F5F9"/>
          </a:solidFill>
          <a:ln/>
        </p:spPr>
      </p:sp>
      <p:sp>
        <p:nvSpPr>
          <p:cNvPr id="11" name="Text 8"/>
          <p:cNvSpPr txBox="1"/>
          <p:nvPr/>
        </p:nvSpPr>
        <p:spPr>
          <a:xfrm>
            <a:off x="4498848" y="177393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2</a:t>
            </a:r>
            <a:endParaRPr lang="en-US" sz="900" dirty="0"/>
          </a:p>
        </p:txBody>
      </p:sp>
      <p:sp>
        <p:nvSpPr>
          <p:cNvPr id="12" name="Shape 9"/>
          <p:cNvSpPr/>
          <p:nvPr/>
        </p:nvSpPr>
        <p:spPr>
          <a:xfrm>
            <a:off x="4544568" y="2167128"/>
            <a:ext cx="457200" cy="457200"/>
          </a:xfrm>
          <a:prstGeom prst="ellipse">
            <a:avLst/>
          </a:prstGeom>
          <a:solidFill>
            <a:srgbClr val="7C3AED"/>
          </a:solidFill>
          <a:ln/>
        </p:spPr>
      </p:sp>
      <p:pic>
        <p:nvPicPr>
          <p:cNvPr id="13" name="Image 1" descr="/home/claude/icons/bookopen.png"/>
          <p:cNvPicPr>
            <a:picLocks noChangeAspect="1"/>
          </p:cNvPicPr>
          <p:nvPr/>
        </p:nvPicPr>
        <p:blipFill>
          <a:blip r:embed="rId4"/>
          <a:stretch>
            <a:fillRect/>
          </a:stretch>
        </p:blipFill>
        <p:spPr>
          <a:xfrm>
            <a:off x="4654296" y="2276856"/>
            <a:ext cx="237744" cy="237744"/>
          </a:xfrm>
          <a:prstGeom prst="rect">
            <a:avLst/>
          </a:prstGeom>
        </p:spPr>
      </p:pic>
      <p:sp>
        <p:nvSpPr>
          <p:cNvPr id="14" name="Text 10"/>
          <p:cNvSpPr txBox="1"/>
          <p:nvPr/>
        </p:nvSpPr>
        <p:spPr>
          <a:xfrm>
            <a:off x="5120640" y="202996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Learn fundamentals</a:t>
            </a:r>
            <a:endParaRPr lang="en-US" sz="1150" dirty="0"/>
          </a:p>
        </p:txBody>
      </p:sp>
      <p:sp>
        <p:nvSpPr>
          <p:cNvPr id="15" name="Text 11"/>
          <p:cNvSpPr txBox="1"/>
          <p:nvPr/>
        </p:nvSpPr>
        <p:spPr>
          <a:xfrm>
            <a:off x="7872984" y="2084832"/>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16" name="Shape 12"/>
          <p:cNvSpPr/>
          <p:nvPr/>
        </p:nvSpPr>
        <p:spPr>
          <a:xfrm>
            <a:off x="8129016" y="1645920"/>
            <a:ext cx="3557016" cy="1234440"/>
          </a:xfrm>
          <a:prstGeom prst="roundRect">
            <a:avLst>
              <a:gd name="adj" fmla="val 8889"/>
            </a:avLst>
          </a:prstGeom>
          <a:solidFill>
            <a:srgbClr val="F1F5F9"/>
          </a:solidFill>
          <a:ln/>
        </p:spPr>
      </p:sp>
      <p:sp>
        <p:nvSpPr>
          <p:cNvPr id="17" name="Text 13"/>
          <p:cNvSpPr txBox="1"/>
          <p:nvPr/>
        </p:nvSpPr>
        <p:spPr>
          <a:xfrm>
            <a:off x="8311896" y="177393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3</a:t>
            </a:r>
            <a:endParaRPr lang="en-US" sz="900" dirty="0"/>
          </a:p>
        </p:txBody>
      </p:sp>
      <p:sp>
        <p:nvSpPr>
          <p:cNvPr id="18" name="Shape 14"/>
          <p:cNvSpPr/>
          <p:nvPr/>
        </p:nvSpPr>
        <p:spPr>
          <a:xfrm>
            <a:off x="8357616" y="2167128"/>
            <a:ext cx="457200" cy="457200"/>
          </a:xfrm>
          <a:prstGeom prst="ellipse">
            <a:avLst/>
          </a:prstGeom>
          <a:solidFill>
            <a:srgbClr val="EA580C"/>
          </a:solidFill>
          <a:ln/>
        </p:spPr>
      </p:sp>
      <p:pic>
        <p:nvPicPr>
          <p:cNvPr id="19" name="Image 2" descr="/home/claude/icons/code.png"/>
          <p:cNvPicPr>
            <a:picLocks noChangeAspect="1"/>
          </p:cNvPicPr>
          <p:nvPr/>
        </p:nvPicPr>
        <p:blipFill>
          <a:blip r:embed="rId5"/>
          <a:stretch>
            <a:fillRect/>
          </a:stretch>
        </p:blipFill>
        <p:spPr>
          <a:xfrm>
            <a:off x="8467344" y="2276856"/>
            <a:ext cx="237744" cy="237744"/>
          </a:xfrm>
          <a:prstGeom prst="rect">
            <a:avLst/>
          </a:prstGeom>
        </p:spPr>
      </p:pic>
      <p:sp>
        <p:nvSpPr>
          <p:cNvPr id="20" name="Text 15"/>
          <p:cNvSpPr txBox="1"/>
          <p:nvPr/>
        </p:nvSpPr>
        <p:spPr>
          <a:xfrm>
            <a:off x="8933688" y="202996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Build projects</a:t>
            </a:r>
            <a:endParaRPr lang="en-US" sz="1150" dirty="0"/>
          </a:p>
        </p:txBody>
      </p:sp>
      <p:sp>
        <p:nvSpPr>
          <p:cNvPr id="21" name="Shape 16"/>
          <p:cNvSpPr/>
          <p:nvPr/>
        </p:nvSpPr>
        <p:spPr>
          <a:xfrm>
            <a:off x="502920" y="3154680"/>
            <a:ext cx="3557016" cy="1234440"/>
          </a:xfrm>
          <a:prstGeom prst="roundRect">
            <a:avLst>
              <a:gd name="adj" fmla="val 8889"/>
            </a:avLst>
          </a:prstGeom>
          <a:solidFill>
            <a:srgbClr val="F1F5F9"/>
          </a:solidFill>
          <a:ln/>
        </p:spPr>
      </p:sp>
      <p:sp>
        <p:nvSpPr>
          <p:cNvPr id="22" name="Text 17"/>
          <p:cNvSpPr txBox="1"/>
          <p:nvPr/>
        </p:nvSpPr>
        <p:spPr>
          <a:xfrm>
            <a:off x="685800" y="328269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4</a:t>
            </a:r>
            <a:endParaRPr lang="en-US" sz="900" dirty="0"/>
          </a:p>
        </p:txBody>
      </p:sp>
      <p:sp>
        <p:nvSpPr>
          <p:cNvPr id="23" name="Shape 18"/>
          <p:cNvSpPr/>
          <p:nvPr/>
        </p:nvSpPr>
        <p:spPr>
          <a:xfrm>
            <a:off x="731520" y="3675888"/>
            <a:ext cx="457200" cy="457200"/>
          </a:xfrm>
          <a:prstGeom prst="ellipse">
            <a:avLst/>
          </a:prstGeom>
          <a:solidFill>
            <a:srgbClr val="0E7490"/>
          </a:solidFill>
          <a:ln/>
        </p:spPr>
      </p:sp>
      <p:pic>
        <p:nvPicPr>
          <p:cNvPr id="24" name="Image 3" descr="/home/claude/icons/cpu.png"/>
          <p:cNvPicPr>
            <a:picLocks noChangeAspect="1"/>
          </p:cNvPicPr>
          <p:nvPr/>
        </p:nvPicPr>
        <p:blipFill>
          <a:blip r:embed="rId6"/>
          <a:stretch>
            <a:fillRect/>
          </a:stretch>
        </p:blipFill>
        <p:spPr>
          <a:xfrm>
            <a:off x="841248" y="3785616"/>
            <a:ext cx="237744" cy="237744"/>
          </a:xfrm>
          <a:prstGeom prst="rect">
            <a:avLst/>
          </a:prstGeom>
        </p:spPr>
      </p:pic>
      <p:sp>
        <p:nvSpPr>
          <p:cNvPr id="25" name="Text 19"/>
          <p:cNvSpPr txBox="1"/>
          <p:nvPr/>
        </p:nvSpPr>
        <p:spPr>
          <a:xfrm>
            <a:off x="1307592" y="353872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Use AI effectively</a:t>
            </a:r>
            <a:endParaRPr lang="en-US" sz="1150" dirty="0"/>
          </a:p>
        </p:txBody>
      </p:sp>
      <p:sp>
        <p:nvSpPr>
          <p:cNvPr id="26" name="Text 20"/>
          <p:cNvSpPr txBox="1"/>
          <p:nvPr/>
        </p:nvSpPr>
        <p:spPr>
          <a:xfrm>
            <a:off x="4059936" y="3593592"/>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27" name="Shape 21"/>
          <p:cNvSpPr/>
          <p:nvPr/>
        </p:nvSpPr>
        <p:spPr>
          <a:xfrm>
            <a:off x="4315968" y="3154680"/>
            <a:ext cx="3557016" cy="1234440"/>
          </a:xfrm>
          <a:prstGeom prst="roundRect">
            <a:avLst>
              <a:gd name="adj" fmla="val 8889"/>
            </a:avLst>
          </a:prstGeom>
          <a:solidFill>
            <a:srgbClr val="F1F5F9"/>
          </a:solidFill>
          <a:ln/>
        </p:spPr>
      </p:sp>
      <p:sp>
        <p:nvSpPr>
          <p:cNvPr id="28" name="Text 22"/>
          <p:cNvSpPr txBox="1"/>
          <p:nvPr/>
        </p:nvSpPr>
        <p:spPr>
          <a:xfrm>
            <a:off x="4498848" y="328269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5</a:t>
            </a:r>
            <a:endParaRPr lang="en-US" sz="900" dirty="0"/>
          </a:p>
        </p:txBody>
      </p:sp>
      <p:sp>
        <p:nvSpPr>
          <p:cNvPr id="29" name="Shape 23"/>
          <p:cNvSpPr/>
          <p:nvPr/>
        </p:nvSpPr>
        <p:spPr>
          <a:xfrm>
            <a:off x="4544568" y="3675888"/>
            <a:ext cx="457200" cy="457200"/>
          </a:xfrm>
          <a:prstGeom prst="ellipse">
            <a:avLst/>
          </a:prstGeom>
          <a:solidFill>
            <a:srgbClr val="7C3AED"/>
          </a:solidFill>
          <a:ln/>
        </p:spPr>
      </p:sp>
      <p:pic>
        <p:nvPicPr>
          <p:cNvPr id="30" name="Image 4" descr="/home/claude/icons/github.png"/>
          <p:cNvPicPr>
            <a:picLocks noChangeAspect="1"/>
          </p:cNvPicPr>
          <p:nvPr/>
        </p:nvPicPr>
        <p:blipFill>
          <a:blip r:embed="rId7"/>
          <a:stretch>
            <a:fillRect/>
          </a:stretch>
        </p:blipFill>
        <p:spPr>
          <a:xfrm>
            <a:off x="4654296" y="3785616"/>
            <a:ext cx="237744" cy="237744"/>
          </a:xfrm>
          <a:prstGeom prst="rect">
            <a:avLst/>
          </a:prstGeom>
        </p:spPr>
      </p:pic>
      <p:sp>
        <p:nvSpPr>
          <p:cNvPr id="31" name="Text 24"/>
          <p:cNvSpPr txBox="1"/>
          <p:nvPr/>
        </p:nvSpPr>
        <p:spPr>
          <a:xfrm>
            <a:off x="5120640" y="353872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Put projects on GitHub</a:t>
            </a:r>
            <a:endParaRPr lang="en-US" sz="1150" dirty="0"/>
          </a:p>
        </p:txBody>
      </p:sp>
      <p:sp>
        <p:nvSpPr>
          <p:cNvPr id="32" name="Text 25"/>
          <p:cNvSpPr txBox="1"/>
          <p:nvPr/>
        </p:nvSpPr>
        <p:spPr>
          <a:xfrm>
            <a:off x="7872984" y="3593592"/>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33" name="Shape 26"/>
          <p:cNvSpPr/>
          <p:nvPr/>
        </p:nvSpPr>
        <p:spPr>
          <a:xfrm>
            <a:off x="8129016" y="3154680"/>
            <a:ext cx="3557016" cy="1234440"/>
          </a:xfrm>
          <a:prstGeom prst="roundRect">
            <a:avLst>
              <a:gd name="adj" fmla="val 8889"/>
            </a:avLst>
          </a:prstGeom>
          <a:solidFill>
            <a:srgbClr val="F1F5F9"/>
          </a:solidFill>
          <a:ln/>
        </p:spPr>
      </p:sp>
      <p:sp>
        <p:nvSpPr>
          <p:cNvPr id="34" name="Text 27"/>
          <p:cNvSpPr txBox="1"/>
          <p:nvPr/>
        </p:nvSpPr>
        <p:spPr>
          <a:xfrm>
            <a:off x="8311896" y="328269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6</a:t>
            </a:r>
            <a:endParaRPr lang="en-US" sz="900" dirty="0"/>
          </a:p>
        </p:txBody>
      </p:sp>
      <p:sp>
        <p:nvSpPr>
          <p:cNvPr id="35" name="Shape 28"/>
          <p:cNvSpPr/>
          <p:nvPr/>
        </p:nvSpPr>
        <p:spPr>
          <a:xfrm>
            <a:off x="8357616" y="3675888"/>
            <a:ext cx="457200" cy="457200"/>
          </a:xfrm>
          <a:prstGeom prst="ellipse">
            <a:avLst/>
          </a:prstGeom>
          <a:solidFill>
            <a:srgbClr val="EA580C"/>
          </a:solidFill>
          <a:ln/>
        </p:spPr>
      </p:sp>
      <p:pic>
        <p:nvPicPr>
          <p:cNvPr id="36" name="Image 5" descr="/home/claude/icons/linkedin.png"/>
          <p:cNvPicPr>
            <a:picLocks noChangeAspect="1"/>
          </p:cNvPicPr>
          <p:nvPr/>
        </p:nvPicPr>
        <p:blipFill>
          <a:blip r:embed="rId8"/>
          <a:stretch>
            <a:fillRect/>
          </a:stretch>
        </p:blipFill>
        <p:spPr>
          <a:xfrm>
            <a:off x="8467344" y="3785616"/>
            <a:ext cx="237744" cy="237744"/>
          </a:xfrm>
          <a:prstGeom prst="rect">
            <a:avLst/>
          </a:prstGeom>
        </p:spPr>
      </p:pic>
      <p:sp>
        <p:nvSpPr>
          <p:cNvPr id="37" name="Text 29"/>
          <p:cNvSpPr txBox="1"/>
          <p:nvPr/>
        </p:nvSpPr>
        <p:spPr>
          <a:xfrm>
            <a:off x="8933688" y="353872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Build LinkedIn presence</a:t>
            </a:r>
            <a:endParaRPr lang="en-US" sz="1150" dirty="0"/>
          </a:p>
        </p:txBody>
      </p:sp>
      <p:sp>
        <p:nvSpPr>
          <p:cNvPr id="38" name="Shape 30"/>
          <p:cNvSpPr/>
          <p:nvPr/>
        </p:nvSpPr>
        <p:spPr>
          <a:xfrm>
            <a:off x="502920" y="4663440"/>
            <a:ext cx="3557016" cy="1234440"/>
          </a:xfrm>
          <a:prstGeom prst="roundRect">
            <a:avLst>
              <a:gd name="adj" fmla="val 8889"/>
            </a:avLst>
          </a:prstGeom>
          <a:solidFill>
            <a:srgbClr val="F1F5F9"/>
          </a:solidFill>
          <a:ln/>
        </p:spPr>
      </p:sp>
      <p:sp>
        <p:nvSpPr>
          <p:cNvPr id="39" name="Text 31"/>
          <p:cNvSpPr txBox="1"/>
          <p:nvPr/>
        </p:nvSpPr>
        <p:spPr>
          <a:xfrm>
            <a:off x="685800" y="479145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7</a:t>
            </a:r>
            <a:endParaRPr lang="en-US" sz="900" dirty="0"/>
          </a:p>
        </p:txBody>
      </p:sp>
      <p:sp>
        <p:nvSpPr>
          <p:cNvPr id="40" name="Shape 32"/>
          <p:cNvSpPr/>
          <p:nvPr/>
        </p:nvSpPr>
        <p:spPr>
          <a:xfrm>
            <a:off x="731520" y="5184648"/>
            <a:ext cx="457200" cy="457200"/>
          </a:xfrm>
          <a:prstGeom prst="ellipse">
            <a:avLst/>
          </a:prstGeom>
          <a:solidFill>
            <a:srgbClr val="0E7490"/>
          </a:solidFill>
          <a:ln/>
        </p:spPr>
      </p:sp>
      <p:pic>
        <p:nvPicPr>
          <p:cNvPr id="41" name="Image 6" descr="/home/claude/icons/filetext.png"/>
          <p:cNvPicPr>
            <a:picLocks noChangeAspect="1"/>
          </p:cNvPicPr>
          <p:nvPr/>
        </p:nvPicPr>
        <p:blipFill>
          <a:blip r:embed="rId9"/>
          <a:stretch>
            <a:fillRect/>
          </a:stretch>
        </p:blipFill>
        <p:spPr>
          <a:xfrm>
            <a:off x="841248" y="5294376"/>
            <a:ext cx="237744" cy="237744"/>
          </a:xfrm>
          <a:prstGeom prst="rect">
            <a:avLst/>
          </a:prstGeom>
        </p:spPr>
      </p:pic>
      <p:sp>
        <p:nvSpPr>
          <p:cNvPr id="42" name="Text 33"/>
          <p:cNvSpPr txBox="1"/>
          <p:nvPr/>
        </p:nvSpPr>
        <p:spPr>
          <a:xfrm>
            <a:off x="1307592" y="504748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Prepare resume</a:t>
            </a:r>
            <a:endParaRPr lang="en-US" sz="1150" dirty="0"/>
          </a:p>
        </p:txBody>
      </p:sp>
      <p:sp>
        <p:nvSpPr>
          <p:cNvPr id="43" name="Text 34"/>
          <p:cNvSpPr txBox="1"/>
          <p:nvPr/>
        </p:nvSpPr>
        <p:spPr>
          <a:xfrm>
            <a:off x="4059936" y="5102352"/>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44" name="Shape 35"/>
          <p:cNvSpPr/>
          <p:nvPr/>
        </p:nvSpPr>
        <p:spPr>
          <a:xfrm>
            <a:off x="4315968" y="4663440"/>
            <a:ext cx="3557016" cy="1234440"/>
          </a:xfrm>
          <a:prstGeom prst="roundRect">
            <a:avLst>
              <a:gd name="adj" fmla="val 8889"/>
            </a:avLst>
          </a:prstGeom>
          <a:solidFill>
            <a:srgbClr val="F1F5F9"/>
          </a:solidFill>
          <a:ln/>
        </p:spPr>
      </p:sp>
      <p:sp>
        <p:nvSpPr>
          <p:cNvPr id="45" name="Text 36"/>
          <p:cNvSpPr txBox="1"/>
          <p:nvPr/>
        </p:nvSpPr>
        <p:spPr>
          <a:xfrm>
            <a:off x="4498848" y="479145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8</a:t>
            </a:r>
            <a:endParaRPr lang="en-US" sz="900" dirty="0"/>
          </a:p>
        </p:txBody>
      </p:sp>
      <p:sp>
        <p:nvSpPr>
          <p:cNvPr id="46" name="Shape 37"/>
          <p:cNvSpPr/>
          <p:nvPr/>
        </p:nvSpPr>
        <p:spPr>
          <a:xfrm>
            <a:off x="4544568" y="5184648"/>
            <a:ext cx="457200" cy="457200"/>
          </a:xfrm>
          <a:prstGeom prst="ellipse">
            <a:avLst/>
          </a:prstGeom>
          <a:solidFill>
            <a:srgbClr val="7C3AED"/>
          </a:solidFill>
          <a:ln/>
        </p:spPr>
      </p:sp>
      <p:pic>
        <p:nvPicPr>
          <p:cNvPr id="47" name="Image 7" descr="/home/claude/icons/message.png"/>
          <p:cNvPicPr>
            <a:picLocks noChangeAspect="1"/>
          </p:cNvPicPr>
          <p:nvPr/>
        </p:nvPicPr>
        <p:blipFill>
          <a:blip r:embed="rId10"/>
          <a:stretch>
            <a:fillRect/>
          </a:stretch>
        </p:blipFill>
        <p:spPr>
          <a:xfrm>
            <a:off x="4654296" y="5294376"/>
            <a:ext cx="237744" cy="237744"/>
          </a:xfrm>
          <a:prstGeom prst="rect">
            <a:avLst/>
          </a:prstGeom>
        </p:spPr>
      </p:pic>
      <p:sp>
        <p:nvSpPr>
          <p:cNvPr id="48" name="Text 38"/>
          <p:cNvSpPr txBox="1"/>
          <p:nvPr/>
        </p:nvSpPr>
        <p:spPr>
          <a:xfrm>
            <a:off x="5120640" y="504748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Practice interviews</a:t>
            </a:r>
            <a:endParaRPr lang="en-US" sz="1150" dirty="0"/>
          </a:p>
        </p:txBody>
      </p:sp>
      <p:sp>
        <p:nvSpPr>
          <p:cNvPr id="49" name="Text 39"/>
          <p:cNvSpPr txBox="1"/>
          <p:nvPr/>
        </p:nvSpPr>
        <p:spPr>
          <a:xfrm>
            <a:off x="7872984" y="5102352"/>
            <a:ext cx="256032" cy="365760"/>
          </a:xfrm>
          <a:prstGeom prst="rect">
            <a:avLst/>
          </a:prstGeom>
          <a:noFill/>
          <a:ln/>
        </p:spPr>
        <p:txBody>
          <a:bodyPr wrap="square" lIns="0" tIns="0" rIns="0" bIns="0" rtlCol="0" anchor="ctr"/>
          <a:lstStyle/>
          <a:p>
            <a:pPr marL="0" indent="0" algn="ctr">
              <a:buNone/>
            </a:pPr>
            <a:r>
              <a:rPr lang="en-US" sz="1500" dirty="0">
                <a:solidFill>
                  <a:srgbClr val="CBD5E1"/>
                </a:solidFill>
                <a:latin typeface="Calibri" pitchFamily="34" charset="0"/>
                <a:ea typeface="Calibri" pitchFamily="34" charset="-122"/>
                <a:cs typeface="Calibri" pitchFamily="34" charset="-120"/>
              </a:rPr>
              <a:t>→</a:t>
            </a:r>
            <a:endParaRPr lang="en-US" sz="1500" dirty="0"/>
          </a:p>
        </p:txBody>
      </p:sp>
      <p:sp>
        <p:nvSpPr>
          <p:cNvPr id="50" name="Shape 40"/>
          <p:cNvSpPr/>
          <p:nvPr/>
        </p:nvSpPr>
        <p:spPr>
          <a:xfrm>
            <a:off x="8129016" y="4663440"/>
            <a:ext cx="3557016" cy="1234440"/>
          </a:xfrm>
          <a:prstGeom prst="roundRect">
            <a:avLst>
              <a:gd name="adj" fmla="val 8889"/>
            </a:avLst>
          </a:prstGeom>
          <a:solidFill>
            <a:srgbClr val="F1F5F9"/>
          </a:solidFill>
          <a:ln/>
        </p:spPr>
      </p:sp>
      <p:sp>
        <p:nvSpPr>
          <p:cNvPr id="51" name="Text 41"/>
          <p:cNvSpPr txBox="1"/>
          <p:nvPr/>
        </p:nvSpPr>
        <p:spPr>
          <a:xfrm>
            <a:off x="8311896" y="4791456"/>
            <a:ext cx="3191256" cy="237744"/>
          </a:xfrm>
          <a:prstGeom prst="rect">
            <a:avLst/>
          </a:prstGeom>
          <a:noFill/>
          <a:ln/>
        </p:spPr>
        <p:txBody>
          <a:bodyPr wrap="square" lIns="0" tIns="0" rIns="0" bIns="0" rtlCol="0" anchor="ctr"/>
          <a:lstStyle/>
          <a:p>
            <a:pPr marL="0" indent="0">
              <a:buNone/>
            </a:pPr>
            <a:r>
              <a:rPr lang="en-US" sz="900" b="1" kern="0" spc="100" dirty="0">
                <a:solidFill>
                  <a:srgbClr val="64748B"/>
                </a:solidFill>
                <a:latin typeface="Courier New" pitchFamily="34" charset="0"/>
                <a:ea typeface="Courier New" pitchFamily="34" charset="-122"/>
                <a:cs typeface="Courier New" pitchFamily="34" charset="-120"/>
              </a:rPr>
              <a:t>STEP 9</a:t>
            </a:r>
            <a:endParaRPr lang="en-US" sz="900" dirty="0"/>
          </a:p>
        </p:txBody>
      </p:sp>
      <p:sp>
        <p:nvSpPr>
          <p:cNvPr id="52" name="Shape 42"/>
          <p:cNvSpPr/>
          <p:nvPr/>
        </p:nvSpPr>
        <p:spPr>
          <a:xfrm>
            <a:off x="8357616" y="5184648"/>
            <a:ext cx="457200" cy="457200"/>
          </a:xfrm>
          <a:prstGeom prst="ellipse">
            <a:avLst/>
          </a:prstGeom>
          <a:solidFill>
            <a:srgbClr val="EA580C"/>
          </a:solidFill>
          <a:ln/>
        </p:spPr>
      </p:sp>
      <p:pic>
        <p:nvPicPr>
          <p:cNvPr id="53" name="Image 8" descr="/home/claude/icons/refresh.png"/>
          <p:cNvPicPr>
            <a:picLocks noChangeAspect="1"/>
          </p:cNvPicPr>
          <p:nvPr/>
        </p:nvPicPr>
        <p:blipFill>
          <a:blip r:embed="rId11"/>
          <a:stretch>
            <a:fillRect/>
          </a:stretch>
        </p:blipFill>
        <p:spPr>
          <a:xfrm>
            <a:off x="8467344" y="5294376"/>
            <a:ext cx="237744" cy="237744"/>
          </a:xfrm>
          <a:prstGeom prst="rect">
            <a:avLst/>
          </a:prstGeom>
        </p:spPr>
      </p:pic>
      <p:sp>
        <p:nvSpPr>
          <p:cNvPr id="54" name="Text 43"/>
          <p:cNvSpPr txBox="1"/>
          <p:nvPr/>
        </p:nvSpPr>
        <p:spPr>
          <a:xfrm>
            <a:off x="8933688" y="5047488"/>
            <a:ext cx="2615184" cy="777240"/>
          </a:xfrm>
          <a:prstGeom prst="rect">
            <a:avLst/>
          </a:prstGeom>
          <a:noFill/>
          <a:ln/>
        </p:spPr>
        <p:txBody>
          <a:bodyPr wrap="square" lIns="0" tIns="0" rIns="0" bIns="0" rtlCol="0" anchor="ctr"/>
          <a:lstStyle/>
          <a:p>
            <a:pPr marL="0" indent="0">
              <a:lnSpc>
                <a:spcPts val="1300"/>
              </a:lnSpc>
              <a:buNone/>
            </a:pPr>
            <a:r>
              <a:rPr lang="en-US" sz="1150" b="1" dirty="0">
                <a:solidFill>
                  <a:srgbClr val="0F172A"/>
                </a:solidFill>
                <a:latin typeface="Arial" pitchFamily="34" charset="0"/>
                <a:ea typeface="Arial" pitchFamily="34" charset="-122"/>
                <a:cs typeface="Arial" pitchFamily="34" charset="-120"/>
              </a:rPr>
              <a:t>Apply → Interview → Learn → Repeat</a:t>
            </a:r>
            <a:endParaRPr lang="en-US" sz="1150" dirty="0"/>
          </a:p>
        </p:txBody>
      </p:sp>
      <p:sp>
        <p:nvSpPr>
          <p:cNvPr id="56" name="Text 44"/>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94A3B8"/>
                </a:solidFill>
                <a:latin typeface="Courier New" pitchFamily="34" charset="0"/>
                <a:ea typeface="Courier New" pitchFamily="34" charset="-122"/>
                <a:cs typeface="Courier New" pitchFamily="34" charset="-120"/>
              </a:rPr>
              <a:t>09 / 12</a:t>
            </a:r>
            <a:endParaRPr lang="en-US" sz="900" dirty="0"/>
          </a:p>
        </p:txBody>
      </p:sp>
      <p:sp>
        <p:nvSpPr>
          <p:cNvPr id="57" name="Text 45"/>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B9C2D0"/>
                </a:solidFill>
                <a:latin typeface="Courier New" pitchFamily="34" charset="0"/>
                <a:ea typeface="Courier New" pitchFamily="34" charset="-122"/>
                <a:cs typeface="Courier New" pitchFamily="34" charset="-120"/>
              </a:rPr>
              <a:t>FROM COLLEGE TO CODE</a:t>
            </a:r>
            <a:endParaRPr lang="en-US" sz="900" dirty="0"/>
          </a:p>
        </p:txBody>
      </p:sp>
      <p:pic>
        <p:nvPicPr>
          <p:cNvPr id="58" name="TWS Logo" descr="Tekki Web Solutions logo"/>
          <p:cNvPicPr>
            <a:picLocks noChangeAspect="1"/>
          </p:cNvPicPr>
          <p:nvPr/>
        </p:nvPicPr>
        <p:blipFill>
          <a:blip r:embed="rId12"/>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50"/>
                                        <p:tgtEl>
                                          <p:spTgt spid="8"/>
                                        </p:tgtEl>
                                      </p:cBhvr>
                                    </p:animEffect>
                                  </p:childTnLst>
                                </p:cTn>
                              </p:par>
                              <p:par>
                                <p:cTn id="20" presetID="10" presetClass="entr" presetSubtype="0" fill="hold" grpId="0" nodeType="withEffect">
                                  <p:stCondLst>
                                    <p:cond delay="2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50"/>
                                        <p:tgtEl>
                                          <p:spTgt spid="6"/>
                                        </p:tgtEl>
                                      </p:cBhvr>
                                    </p:animEffect>
                                  </p:childTnLst>
                                </p:cTn>
                              </p:par>
                              <p:par>
                                <p:cTn id="23" presetID="10" presetClass="entr" presetSubtype="0" fill="hold" grpId="0" nodeType="withEffect">
                                  <p:stCondLst>
                                    <p:cond delay="26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50"/>
                                        <p:tgtEl>
                                          <p:spTgt spid="7"/>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450"/>
                                        <p:tgtEl>
                                          <p:spTgt spid="10"/>
                                        </p:tgtEl>
                                      </p:cBhvr>
                                    </p:animEffect>
                                  </p:childTnLst>
                                </p:cTn>
                              </p:par>
                              <p:par>
                                <p:cTn id="29" presetID="10" presetClass="entr" presetSubtype="0" fill="hold" grpId="0" nodeType="withEffect">
                                  <p:stCondLst>
                                    <p:cond delay="39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50"/>
                                        <p:tgtEl>
                                          <p:spTgt spid="11"/>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50"/>
                                        <p:tgtEl>
                                          <p:spTgt spid="14"/>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50"/>
                                        <p:tgtEl>
                                          <p:spTgt spid="13"/>
                                        </p:tgtEl>
                                      </p:cBhvr>
                                    </p:animEffect>
                                  </p:childTnLst>
                                </p:cTn>
                              </p:par>
                              <p:par>
                                <p:cTn id="41" presetID="10" presetClass="entr" presetSubtype="0" fill="hold" grpId="0" nodeType="withEffect">
                                  <p:stCondLst>
                                    <p:cond delay="52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50"/>
                                        <p:tgtEl>
                                          <p:spTgt spid="16"/>
                                        </p:tgtEl>
                                      </p:cBhvr>
                                    </p:animEffect>
                                  </p:childTnLst>
                                </p:cTn>
                              </p:par>
                              <p:par>
                                <p:cTn id="44" presetID="10" presetClass="entr" presetSubtype="0" fill="hold" grpId="0" nodeType="withEffect">
                                  <p:stCondLst>
                                    <p:cond delay="52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50"/>
                                        <p:tgtEl>
                                          <p:spTgt spid="17"/>
                                        </p:tgtEl>
                                      </p:cBhvr>
                                    </p:animEffect>
                                  </p:childTnLst>
                                </p:cTn>
                              </p:par>
                              <p:par>
                                <p:cTn id="47" presetID="10" presetClass="entr" presetSubtype="0" fill="hold" grpId="0" nodeType="withEffect">
                                  <p:stCondLst>
                                    <p:cond delay="52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50"/>
                                        <p:tgtEl>
                                          <p:spTgt spid="20"/>
                                        </p:tgtEl>
                                      </p:cBhvr>
                                    </p:animEffect>
                                  </p:childTnLst>
                                </p:cTn>
                              </p:par>
                              <p:par>
                                <p:cTn id="50" presetID="10" presetClass="entr" presetSubtype="0" fill="hold" grpId="0" nodeType="withEffect">
                                  <p:stCondLst>
                                    <p:cond delay="52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450"/>
                                        <p:tgtEl>
                                          <p:spTgt spid="18"/>
                                        </p:tgtEl>
                                      </p:cBhvr>
                                    </p:animEffect>
                                  </p:childTnLst>
                                </p:cTn>
                              </p:par>
                              <p:par>
                                <p:cTn id="53" presetID="10" presetClass="entr" presetSubtype="0" fill="hold" grpId="0" nodeType="withEffect">
                                  <p:stCondLst>
                                    <p:cond delay="52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450"/>
                                        <p:tgtEl>
                                          <p:spTgt spid="19"/>
                                        </p:tgtEl>
                                      </p:cBhvr>
                                    </p:animEffect>
                                  </p:childTnLst>
                                </p:cTn>
                              </p:par>
                              <p:par>
                                <p:cTn id="56" presetID="10" presetClass="entr" presetSubtype="0" fill="hold" grpId="0" nodeType="withEffect">
                                  <p:stCondLst>
                                    <p:cond delay="650"/>
                                  </p:stCondLst>
                                  <p:childTnLst>
                                    <p:set>
                                      <p:cBhvr>
                                        <p:cTn id="57" dur="1" fill="hold">
                                          <p:stCondLst>
                                            <p:cond delay="0"/>
                                          </p:stCondLst>
                                        </p:cTn>
                                        <p:tgtEl>
                                          <p:spTgt spid="9"/>
                                        </p:tgtEl>
                                        <p:attrNameLst>
                                          <p:attrName>style.visibility</p:attrName>
                                        </p:attrNameLst>
                                      </p:cBhvr>
                                      <p:to>
                                        <p:strVal val="visible"/>
                                      </p:to>
                                    </p:set>
                                    <p:animEffect transition="in" filter="fade">
                                      <p:cBhvr>
                                        <p:cTn id="58" dur="450"/>
                                        <p:tgtEl>
                                          <p:spTgt spid="9"/>
                                        </p:tgtEl>
                                      </p:cBhvr>
                                    </p:animEffect>
                                  </p:childTnLst>
                                </p:cTn>
                              </p:par>
                              <p:par>
                                <p:cTn id="59" presetID="10" presetClass="entr" presetSubtype="0" fill="hold" grpId="0" nodeType="withEffect">
                                  <p:stCondLst>
                                    <p:cond delay="65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450"/>
                                        <p:tgtEl>
                                          <p:spTgt spid="15"/>
                                        </p:tgtEl>
                                      </p:cBhvr>
                                    </p:animEffect>
                                  </p:childTnLst>
                                </p:cTn>
                              </p:par>
                              <p:par>
                                <p:cTn id="62" presetID="10" presetClass="entr" presetSubtype="0" fill="hold" grpId="0" nodeType="withEffect">
                                  <p:stCondLst>
                                    <p:cond delay="78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450"/>
                                        <p:tgtEl>
                                          <p:spTgt spid="21"/>
                                        </p:tgtEl>
                                      </p:cBhvr>
                                    </p:animEffect>
                                  </p:childTnLst>
                                </p:cTn>
                              </p:par>
                              <p:par>
                                <p:cTn id="65" presetID="10" presetClass="entr" presetSubtype="0" fill="hold" grpId="0" nodeType="withEffect">
                                  <p:stCondLst>
                                    <p:cond delay="78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450"/>
                                        <p:tgtEl>
                                          <p:spTgt spid="22"/>
                                        </p:tgtEl>
                                      </p:cBhvr>
                                    </p:animEffect>
                                  </p:childTnLst>
                                </p:cTn>
                              </p:par>
                              <p:par>
                                <p:cTn id="68" presetID="10" presetClass="entr" presetSubtype="0" fill="hold" grpId="0" nodeType="withEffect">
                                  <p:stCondLst>
                                    <p:cond delay="78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450"/>
                                        <p:tgtEl>
                                          <p:spTgt spid="25"/>
                                        </p:tgtEl>
                                      </p:cBhvr>
                                    </p:animEffect>
                                  </p:childTnLst>
                                </p:cTn>
                              </p:par>
                              <p:par>
                                <p:cTn id="71" presetID="10" presetClass="entr" presetSubtype="0" fill="hold" grpId="0" nodeType="withEffect">
                                  <p:stCondLst>
                                    <p:cond delay="78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50"/>
                                        <p:tgtEl>
                                          <p:spTgt spid="23"/>
                                        </p:tgtEl>
                                      </p:cBhvr>
                                    </p:animEffect>
                                  </p:childTnLst>
                                </p:cTn>
                              </p:par>
                              <p:par>
                                <p:cTn id="74" presetID="10" presetClass="entr" presetSubtype="0" fill="hold" grpId="0" nodeType="withEffect">
                                  <p:stCondLst>
                                    <p:cond delay="780"/>
                                  </p:stCondLst>
                                  <p:childTnLst>
                                    <p:set>
                                      <p:cBhvr>
                                        <p:cTn id="75" dur="1" fill="hold">
                                          <p:stCondLst>
                                            <p:cond delay="0"/>
                                          </p:stCondLst>
                                        </p:cTn>
                                        <p:tgtEl>
                                          <p:spTgt spid="24"/>
                                        </p:tgtEl>
                                        <p:attrNameLst>
                                          <p:attrName>style.visibility</p:attrName>
                                        </p:attrNameLst>
                                      </p:cBhvr>
                                      <p:to>
                                        <p:strVal val="visible"/>
                                      </p:to>
                                    </p:set>
                                    <p:animEffect transition="in" filter="fade">
                                      <p:cBhvr>
                                        <p:cTn id="76" dur="450"/>
                                        <p:tgtEl>
                                          <p:spTgt spid="24"/>
                                        </p:tgtEl>
                                      </p:cBhvr>
                                    </p:animEffect>
                                  </p:childTnLst>
                                </p:cTn>
                              </p:par>
                              <p:par>
                                <p:cTn id="77" presetID="10" presetClass="entr" presetSubtype="0" fill="hold" grpId="0" nodeType="withEffect">
                                  <p:stCondLst>
                                    <p:cond delay="91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450"/>
                                        <p:tgtEl>
                                          <p:spTgt spid="27"/>
                                        </p:tgtEl>
                                      </p:cBhvr>
                                    </p:animEffect>
                                  </p:childTnLst>
                                </p:cTn>
                              </p:par>
                              <p:par>
                                <p:cTn id="80" presetID="10" presetClass="entr" presetSubtype="0" fill="hold" grpId="0" nodeType="withEffect">
                                  <p:stCondLst>
                                    <p:cond delay="91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450"/>
                                        <p:tgtEl>
                                          <p:spTgt spid="28"/>
                                        </p:tgtEl>
                                      </p:cBhvr>
                                    </p:animEffect>
                                  </p:childTnLst>
                                </p:cTn>
                              </p:par>
                              <p:par>
                                <p:cTn id="83" presetID="10" presetClass="entr" presetSubtype="0" fill="hold" grpId="0" nodeType="withEffect">
                                  <p:stCondLst>
                                    <p:cond delay="91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50"/>
                                        <p:tgtEl>
                                          <p:spTgt spid="31"/>
                                        </p:tgtEl>
                                      </p:cBhvr>
                                    </p:animEffect>
                                  </p:childTnLst>
                                </p:cTn>
                              </p:par>
                              <p:par>
                                <p:cTn id="86" presetID="10" presetClass="entr" presetSubtype="0" fill="hold" grpId="0" nodeType="withEffect">
                                  <p:stCondLst>
                                    <p:cond delay="91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450"/>
                                        <p:tgtEl>
                                          <p:spTgt spid="29"/>
                                        </p:tgtEl>
                                      </p:cBhvr>
                                    </p:animEffect>
                                  </p:childTnLst>
                                </p:cTn>
                              </p:par>
                              <p:par>
                                <p:cTn id="89" presetID="10" presetClass="entr" presetSubtype="0" fill="hold" grpId="0" nodeType="withEffect">
                                  <p:stCondLst>
                                    <p:cond delay="91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50"/>
                                        <p:tgtEl>
                                          <p:spTgt spid="30"/>
                                        </p:tgtEl>
                                      </p:cBhvr>
                                    </p:animEffect>
                                  </p:childTnLst>
                                </p:cTn>
                              </p:par>
                              <p:par>
                                <p:cTn id="92" presetID="10" presetClass="entr" presetSubtype="0" fill="hold" grpId="0" nodeType="withEffect">
                                  <p:stCondLst>
                                    <p:cond delay="104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450"/>
                                        <p:tgtEl>
                                          <p:spTgt spid="33"/>
                                        </p:tgtEl>
                                      </p:cBhvr>
                                    </p:animEffect>
                                  </p:childTnLst>
                                </p:cTn>
                              </p:par>
                              <p:par>
                                <p:cTn id="95" presetID="10" presetClass="entr" presetSubtype="0" fill="hold" grpId="0" nodeType="withEffect">
                                  <p:stCondLst>
                                    <p:cond delay="104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450"/>
                                        <p:tgtEl>
                                          <p:spTgt spid="34"/>
                                        </p:tgtEl>
                                      </p:cBhvr>
                                    </p:animEffect>
                                  </p:childTnLst>
                                </p:cTn>
                              </p:par>
                              <p:par>
                                <p:cTn id="98" presetID="10" presetClass="entr" presetSubtype="0" fill="hold" grpId="0" nodeType="withEffect">
                                  <p:stCondLst>
                                    <p:cond delay="104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450"/>
                                        <p:tgtEl>
                                          <p:spTgt spid="37"/>
                                        </p:tgtEl>
                                      </p:cBhvr>
                                    </p:animEffect>
                                  </p:childTnLst>
                                </p:cTn>
                              </p:par>
                              <p:par>
                                <p:cTn id="101" presetID="10" presetClass="entr" presetSubtype="0" fill="hold" grpId="0" nodeType="withEffect">
                                  <p:stCondLst>
                                    <p:cond delay="1040"/>
                                  </p:stCondLst>
                                  <p:childTnLst>
                                    <p:set>
                                      <p:cBhvr>
                                        <p:cTn id="102" dur="1" fill="hold">
                                          <p:stCondLst>
                                            <p:cond delay="0"/>
                                          </p:stCondLst>
                                        </p:cTn>
                                        <p:tgtEl>
                                          <p:spTgt spid="35"/>
                                        </p:tgtEl>
                                        <p:attrNameLst>
                                          <p:attrName>style.visibility</p:attrName>
                                        </p:attrNameLst>
                                      </p:cBhvr>
                                      <p:to>
                                        <p:strVal val="visible"/>
                                      </p:to>
                                    </p:set>
                                    <p:animEffect transition="in" filter="fade">
                                      <p:cBhvr>
                                        <p:cTn id="103" dur="450"/>
                                        <p:tgtEl>
                                          <p:spTgt spid="35"/>
                                        </p:tgtEl>
                                      </p:cBhvr>
                                    </p:animEffect>
                                  </p:childTnLst>
                                </p:cTn>
                              </p:par>
                              <p:par>
                                <p:cTn id="104" presetID="10" presetClass="entr" presetSubtype="0" fill="hold" grpId="0" nodeType="withEffect">
                                  <p:stCondLst>
                                    <p:cond delay="1040"/>
                                  </p:stCondLst>
                                  <p:childTnLst>
                                    <p:set>
                                      <p:cBhvr>
                                        <p:cTn id="105" dur="1" fill="hold">
                                          <p:stCondLst>
                                            <p:cond delay="0"/>
                                          </p:stCondLst>
                                        </p:cTn>
                                        <p:tgtEl>
                                          <p:spTgt spid="36"/>
                                        </p:tgtEl>
                                        <p:attrNameLst>
                                          <p:attrName>style.visibility</p:attrName>
                                        </p:attrNameLst>
                                      </p:cBhvr>
                                      <p:to>
                                        <p:strVal val="visible"/>
                                      </p:to>
                                    </p:set>
                                    <p:animEffect transition="in" filter="fade">
                                      <p:cBhvr>
                                        <p:cTn id="106" dur="450"/>
                                        <p:tgtEl>
                                          <p:spTgt spid="36"/>
                                        </p:tgtEl>
                                      </p:cBhvr>
                                    </p:animEffect>
                                  </p:childTnLst>
                                </p:cTn>
                              </p:par>
                              <p:par>
                                <p:cTn id="107" presetID="10" presetClass="entr" presetSubtype="0" fill="hold" grpId="0" nodeType="withEffect">
                                  <p:stCondLst>
                                    <p:cond delay="1170"/>
                                  </p:stCondLst>
                                  <p:childTnLst>
                                    <p:set>
                                      <p:cBhvr>
                                        <p:cTn id="108" dur="1" fill="hold">
                                          <p:stCondLst>
                                            <p:cond delay="0"/>
                                          </p:stCondLst>
                                        </p:cTn>
                                        <p:tgtEl>
                                          <p:spTgt spid="26"/>
                                        </p:tgtEl>
                                        <p:attrNameLst>
                                          <p:attrName>style.visibility</p:attrName>
                                        </p:attrNameLst>
                                      </p:cBhvr>
                                      <p:to>
                                        <p:strVal val="visible"/>
                                      </p:to>
                                    </p:set>
                                    <p:animEffect transition="in" filter="fade">
                                      <p:cBhvr>
                                        <p:cTn id="109" dur="450"/>
                                        <p:tgtEl>
                                          <p:spTgt spid="26"/>
                                        </p:tgtEl>
                                      </p:cBhvr>
                                    </p:animEffect>
                                  </p:childTnLst>
                                </p:cTn>
                              </p:par>
                              <p:par>
                                <p:cTn id="110" presetID="10" presetClass="entr" presetSubtype="0" fill="hold" grpId="0" nodeType="withEffect">
                                  <p:stCondLst>
                                    <p:cond delay="1170"/>
                                  </p:stCondLst>
                                  <p:childTnLst>
                                    <p:set>
                                      <p:cBhvr>
                                        <p:cTn id="111" dur="1" fill="hold">
                                          <p:stCondLst>
                                            <p:cond delay="0"/>
                                          </p:stCondLst>
                                        </p:cTn>
                                        <p:tgtEl>
                                          <p:spTgt spid="32"/>
                                        </p:tgtEl>
                                        <p:attrNameLst>
                                          <p:attrName>style.visibility</p:attrName>
                                        </p:attrNameLst>
                                      </p:cBhvr>
                                      <p:to>
                                        <p:strVal val="visible"/>
                                      </p:to>
                                    </p:set>
                                    <p:animEffect transition="in" filter="fade">
                                      <p:cBhvr>
                                        <p:cTn id="112" dur="450"/>
                                        <p:tgtEl>
                                          <p:spTgt spid="32"/>
                                        </p:tgtEl>
                                      </p:cBhvr>
                                    </p:animEffect>
                                  </p:childTnLst>
                                </p:cTn>
                              </p:par>
                              <p:par>
                                <p:cTn id="113" presetID="10" presetClass="entr" presetSubtype="0" fill="hold" grpId="0" nodeType="withEffect">
                                  <p:stCondLst>
                                    <p:cond delay="1300"/>
                                  </p:stCondLst>
                                  <p:childTnLst>
                                    <p:set>
                                      <p:cBhvr>
                                        <p:cTn id="114" dur="1" fill="hold">
                                          <p:stCondLst>
                                            <p:cond delay="0"/>
                                          </p:stCondLst>
                                        </p:cTn>
                                        <p:tgtEl>
                                          <p:spTgt spid="38"/>
                                        </p:tgtEl>
                                        <p:attrNameLst>
                                          <p:attrName>style.visibility</p:attrName>
                                        </p:attrNameLst>
                                      </p:cBhvr>
                                      <p:to>
                                        <p:strVal val="visible"/>
                                      </p:to>
                                    </p:set>
                                    <p:animEffect transition="in" filter="fade">
                                      <p:cBhvr>
                                        <p:cTn id="115" dur="450"/>
                                        <p:tgtEl>
                                          <p:spTgt spid="38"/>
                                        </p:tgtEl>
                                      </p:cBhvr>
                                    </p:animEffect>
                                  </p:childTnLst>
                                </p:cTn>
                              </p:par>
                              <p:par>
                                <p:cTn id="116" presetID="10" presetClass="entr" presetSubtype="0" fill="hold" grpId="0" nodeType="withEffect">
                                  <p:stCondLst>
                                    <p:cond delay="1300"/>
                                  </p:stCondLst>
                                  <p:childTnLst>
                                    <p:set>
                                      <p:cBhvr>
                                        <p:cTn id="117" dur="1" fill="hold">
                                          <p:stCondLst>
                                            <p:cond delay="0"/>
                                          </p:stCondLst>
                                        </p:cTn>
                                        <p:tgtEl>
                                          <p:spTgt spid="39"/>
                                        </p:tgtEl>
                                        <p:attrNameLst>
                                          <p:attrName>style.visibility</p:attrName>
                                        </p:attrNameLst>
                                      </p:cBhvr>
                                      <p:to>
                                        <p:strVal val="visible"/>
                                      </p:to>
                                    </p:set>
                                    <p:animEffect transition="in" filter="fade">
                                      <p:cBhvr>
                                        <p:cTn id="118" dur="450"/>
                                        <p:tgtEl>
                                          <p:spTgt spid="39"/>
                                        </p:tgtEl>
                                      </p:cBhvr>
                                    </p:animEffect>
                                  </p:childTnLst>
                                </p:cTn>
                              </p:par>
                              <p:par>
                                <p:cTn id="119" presetID="10" presetClass="entr" presetSubtype="0" fill="hold" grpId="0" nodeType="withEffect">
                                  <p:stCondLst>
                                    <p:cond delay="130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50"/>
                                        <p:tgtEl>
                                          <p:spTgt spid="42"/>
                                        </p:tgtEl>
                                      </p:cBhvr>
                                    </p:animEffect>
                                  </p:childTnLst>
                                </p:cTn>
                              </p:par>
                              <p:par>
                                <p:cTn id="122" presetID="10" presetClass="entr" presetSubtype="0" fill="hold" grpId="0" nodeType="withEffect">
                                  <p:stCondLst>
                                    <p:cond delay="1300"/>
                                  </p:stCondLst>
                                  <p:childTnLst>
                                    <p:set>
                                      <p:cBhvr>
                                        <p:cTn id="123" dur="1" fill="hold">
                                          <p:stCondLst>
                                            <p:cond delay="0"/>
                                          </p:stCondLst>
                                        </p:cTn>
                                        <p:tgtEl>
                                          <p:spTgt spid="40"/>
                                        </p:tgtEl>
                                        <p:attrNameLst>
                                          <p:attrName>style.visibility</p:attrName>
                                        </p:attrNameLst>
                                      </p:cBhvr>
                                      <p:to>
                                        <p:strVal val="visible"/>
                                      </p:to>
                                    </p:set>
                                    <p:animEffect transition="in" filter="fade">
                                      <p:cBhvr>
                                        <p:cTn id="124" dur="450"/>
                                        <p:tgtEl>
                                          <p:spTgt spid="40"/>
                                        </p:tgtEl>
                                      </p:cBhvr>
                                    </p:animEffect>
                                  </p:childTnLst>
                                </p:cTn>
                              </p:par>
                              <p:par>
                                <p:cTn id="125" presetID="10" presetClass="entr" presetSubtype="0" fill="hold" grpId="0" nodeType="withEffect">
                                  <p:stCondLst>
                                    <p:cond delay="1300"/>
                                  </p:stCondLst>
                                  <p:childTnLst>
                                    <p:set>
                                      <p:cBhvr>
                                        <p:cTn id="126" dur="1" fill="hold">
                                          <p:stCondLst>
                                            <p:cond delay="0"/>
                                          </p:stCondLst>
                                        </p:cTn>
                                        <p:tgtEl>
                                          <p:spTgt spid="41"/>
                                        </p:tgtEl>
                                        <p:attrNameLst>
                                          <p:attrName>style.visibility</p:attrName>
                                        </p:attrNameLst>
                                      </p:cBhvr>
                                      <p:to>
                                        <p:strVal val="visible"/>
                                      </p:to>
                                    </p:set>
                                    <p:animEffect transition="in" filter="fade">
                                      <p:cBhvr>
                                        <p:cTn id="127" dur="450"/>
                                        <p:tgtEl>
                                          <p:spTgt spid="41"/>
                                        </p:tgtEl>
                                      </p:cBhvr>
                                    </p:animEffect>
                                  </p:childTnLst>
                                </p:cTn>
                              </p:par>
                              <p:par>
                                <p:cTn id="128" presetID="10" presetClass="entr" presetSubtype="0" fill="hold" grpId="0" nodeType="withEffect">
                                  <p:stCondLst>
                                    <p:cond delay="1430"/>
                                  </p:stCondLst>
                                  <p:childTnLst>
                                    <p:set>
                                      <p:cBhvr>
                                        <p:cTn id="129" dur="1" fill="hold">
                                          <p:stCondLst>
                                            <p:cond delay="0"/>
                                          </p:stCondLst>
                                        </p:cTn>
                                        <p:tgtEl>
                                          <p:spTgt spid="44"/>
                                        </p:tgtEl>
                                        <p:attrNameLst>
                                          <p:attrName>style.visibility</p:attrName>
                                        </p:attrNameLst>
                                      </p:cBhvr>
                                      <p:to>
                                        <p:strVal val="visible"/>
                                      </p:to>
                                    </p:set>
                                    <p:animEffect transition="in" filter="fade">
                                      <p:cBhvr>
                                        <p:cTn id="130" dur="450"/>
                                        <p:tgtEl>
                                          <p:spTgt spid="44"/>
                                        </p:tgtEl>
                                      </p:cBhvr>
                                    </p:animEffect>
                                  </p:childTnLst>
                                </p:cTn>
                              </p:par>
                              <p:par>
                                <p:cTn id="131" presetID="10" presetClass="entr" presetSubtype="0" fill="hold" grpId="0" nodeType="withEffect">
                                  <p:stCondLst>
                                    <p:cond delay="1430"/>
                                  </p:stCondLst>
                                  <p:childTnLst>
                                    <p:set>
                                      <p:cBhvr>
                                        <p:cTn id="132" dur="1" fill="hold">
                                          <p:stCondLst>
                                            <p:cond delay="0"/>
                                          </p:stCondLst>
                                        </p:cTn>
                                        <p:tgtEl>
                                          <p:spTgt spid="45"/>
                                        </p:tgtEl>
                                        <p:attrNameLst>
                                          <p:attrName>style.visibility</p:attrName>
                                        </p:attrNameLst>
                                      </p:cBhvr>
                                      <p:to>
                                        <p:strVal val="visible"/>
                                      </p:to>
                                    </p:set>
                                    <p:animEffect transition="in" filter="fade">
                                      <p:cBhvr>
                                        <p:cTn id="133" dur="450"/>
                                        <p:tgtEl>
                                          <p:spTgt spid="45"/>
                                        </p:tgtEl>
                                      </p:cBhvr>
                                    </p:animEffect>
                                  </p:childTnLst>
                                </p:cTn>
                              </p:par>
                              <p:par>
                                <p:cTn id="134" presetID="10" presetClass="entr" presetSubtype="0" fill="hold" grpId="0" nodeType="withEffect">
                                  <p:stCondLst>
                                    <p:cond delay="1430"/>
                                  </p:stCondLst>
                                  <p:childTnLst>
                                    <p:set>
                                      <p:cBhvr>
                                        <p:cTn id="135" dur="1" fill="hold">
                                          <p:stCondLst>
                                            <p:cond delay="0"/>
                                          </p:stCondLst>
                                        </p:cTn>
                                        <p:tgtEl>
                                          <p:spTgt spid="48"/>
                                        </p:tgtEl>
                                        <p:attrNameLst>
                                          <p:attrName>style.visibility</p:attrName>
                                        </p:attrNameLst>
                                      </p:cBhvr>
                                      <p:to>
                                        <p:strVal val="visible"/>
                                      </p:to>
                                    </p:set>
                                    <p:animEffect transition="in" filter="fade">
                                      <p:cBhvr>
                                        <p:cTn id="136" dur="450"/>
                                        <p:tgtEl>
                                          <p:spTgt spid="48"/>
                                        </p:tgtEl>
                                      </p:cBhvr>
                                    </p:animEffect>
                                  </p:childTnLst>
                                </p:cTn>
                              </p:par>
                              <p:par>
                                <p:cTn id="137" presetID="10" presetClass="entr" presetSubtype="0" fill="hold" grpId="0" nodeType="withEffect">
                                  <p:stCondLst>
                                    <p:cond delay="1430"/>
                                  </p:stCondLst>
                                  <p:childTnLst>
                                    <p:set>
                                      <p:cBhvr>
                                        <p:cTn id="138" dur="1" fill="hold">
                                          <p:stCondLst>
                                            <p:cond delay="0"/>
                                          </p:stCondLst>
                                        </p:cTn>
                                        <p:tgtEl>
                                          <p:spTgt spid="46"/>
                                        </p:tgtEl>
                                        <p:attrNameLst>
                                          <p:attrName>style.visibility</p:attrName>
                                        </p:attrNameLst>
                                      </p:cBhvr>
                                      <p:to>
                                        <p:strVal val="visible"/>
                                      </p:to>
                                    </p:set>
                                    <p:animEffect transition="in" filter="fade">
                                      <p:cBhvr>
                                        <p:cTn id="139" dur="450"/>
                                        <p:tgtEl>
                                          <p:spTgt spid="46"/>
                                        </p:tgtEl>
                                      </p:cBhvr>
                                    </p:animEffect>
                                  </p:childTnLst>
                                </p:cTn>
                              </p:par>
                              <p:par>
                                <p:cTn id="140" presetID="10" presetClass="entr" presetSubtype="0" fill="hold" grpId="0" nodeType="withEffect">
                                  <p:stCondLst>
                                    <p:cond delay="1430"/>
                                  </p:stCondLst>
                                  <p:childTnLst>
                                    <p:set>
                                      <p:cBhvr>
                                        <p:cTn id="141" dur="1" fill="hold">
                                          <p:stCondLst>
                                            <p:cond delay="0"/>
                                          </p:stCondLst>
                                        </p:cTn>
                                        <p:tgtEl>
                                          <p:spTgt spid="47"/>
                                        </p:tgtEl>
                                        <p:attrNameLst>
                                          <p:attrName>style.visibility</p:attrName>
                                        </p:attrNameLst>
                                      </p:cBhvr>
                                      <p:to>
                                        <p:strVal val="visible"/>
                                      </p:to>
                                    </p:set>
                                    <p:animEffect transition="in" filter="fade">
                                      <p:cBhvr>
                                        <p:cTn id="142" dur="450"/>
                                        <p:tgtEl>
                                          <p:spTgt spid="47"/>
                                        </p:tgtEl>
                                      </p:cBhvr>
                                    </p:animEffect>
                                  </p:childTnLst>
                                </p:cTn>
                              </p:par>
                              <p:par>
                                <p:cTn id="143" presetID="10" presetClass="entr" presetSubtype="0" fill="hold" grpId="0" nodeType="withEffect">
                                  <p:stCondLst>
                                    <p:cond delay="1560"/>
                                  </p:stCondLst>
                                  <p:childTnLst>
                                    <p:set>
                                      <p:cBhvr>
                                        <p:cTn id="144" dur="1" fill="hold">
                                          <p:stCondLst>
                                            <p:cond delay="0"/>
                                          </p:stCondLst>
                                        </p:cTn>
                                        <p:tgtEl>
                                          <p:spTgt spid="50"/>
                                        </p:tgtEl>
                                        <p:attrNameLst>
                                          <p:attrName>style.visibility</p:attrName>
                                        </p:attrNameLst>
                                      </p:cBhvr>
                                      <p:to>
                                        <p:strVal val="visible"/>
                                      </p:to>
                                    </p:set>
                                    <p:animEffect transition="in" filter="fade">
                                      <p:cBhvr>
                                        <p:cTn id="145" dur="450"/>
                                        <p:tgtEl>
                                          <p:spTgt spid="50"/>
                                        </p:tgtEl>
                                      </p:cBhvr>
                                    </p:animEffect>
                                  </p:childTnLst>
                                </p:cTn>
                              </p:par>
                              <p:par>
                                <p:cTn id="146" presetID="10" presetClass="entr" presetSubtype="0" fill="hold" grpId="0" nodeType="withEffect">
                                  <p:stCondLst>
                                    <p:cond delay="1560"/>
                                  </p:stCondLst>
                                  <p:childTnLst>
                                    <p:set>
                                      <p:cBhvr>
                                        <p:cTn id="147" dur="1" fill="hold">
                                          <p:stCondLst>
                                            <p:cond delay="0"/>
                                          </p:stCondLst>
                                        </p:cTn>
                                        <p:tgtEl>
                                          <p:spTgt spid="51"/>
                                        </p:tgtEl>
                                        <p:attrNameLst>
                                          <p:attrName>style.visibility</p:attrName>
                                        </p:attrNameLst>
                                      </p:cBhvr>
                                      <p:to>
                                        <p:strVal val="visible"/>
                                      </p:to>
                                    </p:set>
                                    <p:animEffect transition="in" filter="fade">
                                      <p:cBhvr>
                                        <p:cTn id="148" dur="450"/>
                                        <p:tgtEl>
                                          <p:spTgt spid="51"/>
                                        </p:tgtEl>
                                      </p:cBhvr>
                                    </p:animEffect>
                                  </p:childTnLst>
                                </p:cTn>
                              </p:par>
                              <p:par>
                                <p:cTn id="149" presetID="10" presetClass="entr" presetSubtype="0" fill="hold" grpId="0" nodeType="withEffect">
                                  <p:stCondLst>
                                    <p:cond delay="1560"/>
                                  </p:stCondLst>
                                  <p:childTnLst>
                                    <p:set>
                                      <p:cBhvr>
                                        <p:cTn id="150" dur="1" fill="hold">
                                          <p:stCondLst>
                                            <p:cond delay="0"/>
                                          </p:stCondLst>
                                        </p:cTn>
                                        <p:tgtEl>
                                          <p:spTgt spid="54"/>
                                        </p:tgtEl>
                                        <p:attrNameLst>
                                          <p:attrName>style.visibility</p:attrName>
                                        </p:attrNameLst>
                                      </p:cBhvr>
                                      <p:to>
                                        <p:strVal val="visible"/>
                                      </p:to>
                                    </p:set>
                                    <p:animEffect transition="in" filter="fade">
                                      <p:cBhvr>
                                        <p:cTn id="151" dur="450"/>
                                        <p:tgtEl>
                                          <p:spTgt spid="54"/>
                                        </p:tgtEl>
                                      </p:cBhvr>
                                    </p:animEffect>
                                  </p:childTnLst>
                                </p:cTn>
                              </p:par>
                              <p:par>
                                <p:cTn id="152" presetID="10" presetClass="entr" presetSubtype="0" fill="hold" grpId="0" nodeType="withEffect">
                                  <p:stCondLst>
                                    <p:cond delay="1560"/>
                                  </p:stCondLst>
                                  <p:childTnLst>
                                    <p:set>
                                      <p:cBhvr>
                                        <p:cTn id="153" dur="1" fill="hold">
                                          <p:stCondLst>
                                            <p:cond delay="0"/>
                                          </p:stCondLst>
                                        </p:cTn>
                                        <p:tgtEl>
                                          <p:spTgt spid="52"/>
                                        </p:tgtEl>
                                        <p:attrNameLst>
                                          <p:attrName>style.visibility</p:attrName>
                                        </p:attrNameLst>
                                      </p:cBhvr>
                                      <p:to>
                                        <p:strVal val="visible"/>
                                      </p:to>
                                    </p:set>
                                    <p:animEffect transition="in" filter="fade">
                                      <p:cBhvr>
                                        <p:cTn id="154" dur="450"/>
                                        <p:tgtEl>
                                          <p:spTgt spid="52"/>
                                        </p:tgtEl>
                                      </p:cBhvr>
                                    </p:animEffect>
                                  </p:childTnLst>
                                </p:cTn>
                              </p:par>
                              <p:par>
                                <p:cTn id="155" presetID="10" presetClass="entr" presetSubtype="0" fill="hold" grpId="0" nodeType="withEffect">
                                  <p:stCondLst>
                                    <p:cond delay="1560"/>
                                  </p:stCondLst>
                                  <p:childTnLst>
                                    <p:set>
                                      <p:cBhvr>
                                        <p:cTn id="156" dur="1" fill="hold">
                                          <p:stCondLst>
                                            <p:cond delay="0"/>
                                          </p:stCondLst>
                                        </p:cTn>
                                        <p:tgtEl>
                                          <p:spTgt spid="53"/>
                                        </p:tgtEl>
                                        <p:attrNameLst>
                                          <p:attrName>style.visibility</p:attrName>
                                        </p:attrNameLst>
                                      </p:cBhvr>
                                      <p:to>
                                        <p:strVal val="visible"/>
                                      </p:to>
                                    </p:set>
                                    <p:animEffect transition="in" filter="fade">
                                      <p:cBhvr>
                                        <p:cTn id="157" dur="450"/>
                                        <p:tgtEl>
                                          <p:spTgt spid="53"/>
                                        </p:tgtEl>
                                      </p:cBhvr>
                                    </p:animEffect>
                                  </p:childTnLst>
                                </p:cTn>
                              </p:par>
                              <p:par>
                                <p:cTn id="158" presetID="10" presetClass="entr" presetSubtype="0" fill="hold" grpId="0" nodeType="withEffect">
                                  <p:stCondLst>
                                    <p:cond delay="1690"/>
                                  </p:stCondLst>
                                  <p:childTnLst>
                                    <p:set>
                                      <p:cBhvr>
                                        <p:cTn id="159" dur="1" fill="hold">
                                          <p:stCondLst>
                                            <p:cond delay="0"/>
                                          </p:stCondLst>
                                        </p:cTn>
                                        <p:tgtEl>
                                          <p:spTgt spid="43"/>
                                        </p:tgtEl>
                                        <p:attrNameLst>
                                          <p:attrName>style.visibility</p:attrName>
                                        </p:attrNameLst>
                                      </p:cBhvr>
                                      <p:to>
                                        <p:strVal val="visible"/>
                                      </p:to>
                                    </p:set>
                                    <p:animEffect transition="in" filter="fade">
                                      <p:cBhvr>
                                        <p:cTn id="160" dur="450"/>
                                        <p:tgtEl>
                                          <p:spTgt spid="43"/>
                                        </p:tgtEl>
                                      </p:cBhvr>
                                    </p:animEffect>
                                  </p:childTnLst>
                                </p:cTn>
                              </p:par>
                              <p:par>
                                <p:cTn id="161" presetID="10" presetClass="entr" presetSubtype="0" fill="hold" grpId="0" nodeType="withEffect">
                                  <p:stCondLst>
                                    <p:cond delay="1690"/>
                                  </p:stCondLst>
                                  <p:childTnLst>
                                    <p:set>
                                      <p:cBhvr>
                                        <p:cTn id="162" dur="1" fill="hold">
                                          <p:stCondLst>
                                            <p:cond delay="0"/>
                                          </p:stCondLst>
                                        </p:cTn>
                                        <p:tgtEl>
                                          <p:spTgt spid="49"/>
                                        </p:tgtEl>
                                        <p:attrNameLst>
                                          <p:attrName>style.visibility</p:attrName>
                                        </p:attrNameLst>
                                      </p:cBhvr>
                                      <p:to>
                                        <p:strVal val="visible"/>
                                      </p:to>
                                    </p:set>
                                    <p:animEffect transition="in" filter="fade">
                                      <p:cBhvr>
                                        <p:cTn id="163" dur="45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21">
    <p:bg>
      <p:bgPr>
        <a:solidFill>
          <a:srgbClr val="0A0E1A"/>
        </a:solidFill>
        <a:effectLst/>
      </p:bgPr>
    </p:bg>
    <p:spTree>
      <p:nvGrpSpPr>
        <p:cNvPr id="1" name=""/>
        <p:cNvGrpSpPr/>
        <p:nvPr/>
      </p:nvGrpSpPr>
      <p:grpSpPr>
        <a:xfrm>
          <a:off x="0" y="0"/>
          <a:ext cx="0" cy="0"/>
          <a:chOff x="0" y="0"/>
          <a:chExt cx="0" cy="0"/>
        </a:xfrm>
      </p:grpSpPr>
      <p:sp>
        <p:nvSpPr>
          <p:cNvPr id="2" name="Text 0"/>
          <p:cNvSpPr txBox="1"/>
          <p:nvPr/>
        </p:nvSpPr>
        <p:spPr>
          <a:xfrm>
            <a:off x="822960" y="548640"/>
            <a:ext cx="7315200" cy="292608"/>
          </a:xfrm>
          <a:prstGeom prst="rect">
            <a:avLst/>
          </a:prstGeom>
          <a:noFill/>
          <a:ln/>
        </p:spPr>
        <p:txBody>
          <a:bodyPr wrap="square" lIns="0" tIns="0" rIns="0" bIns="0" rtlCol="0" anchor="ctr"/>
          <a:lstStyle/>
          <a:p>
            <a:pPr marL="0" indent="0">
              <a:buNone/>
            </a:pPr>
            <a:r>
              <a:rPr lang="en-US" sz="1250" b="1" kern="0" spc="220" dirty="0">
                <a:solidFill>
                  <a:srgbClr val="22D3EE"/>
                </a:solidFill>
                <a:latin typeface="Courier New" pitchFamily="34" charset="0"/>
                <a:ea typeface="Courier New" pitchFamily="34" charset="-122"/>
                <a:cs typeface="Courier New" pitchFamily="34" charset="-120"/>
              </a:rPr>
              <a:t>SECTION 11 — FINAL MESSAGE</a:t>
            </a:r>
            <a:endParaRPr lang="en-US" sz="1250" dirty="0"/>
          </a:p>
        </p:txBody>
      </p:sp>
      <p:sp>
        <p:nvSpPr>
          <p:cNvPr id="3" name="Text 1"/>
          <p:cNvSpPr txBox="1"/>
          <p:nvPr/>
        </p:nvSpPr>
        <p:spPr>
          <a:xfrm>
            <a:off x="822960" y="914400"/>
            <a:ext cx="10058400" cy="640080"/>
          </a:xfrm>
          <a:prstGeom prst="rect">
            <a:avLst/>
          </a:prstGeom>
          <a:noFill/>
          <a:ln/>
        </p:spPr>
        <p:txBody>
          <a:bodyPr wrap="square" lIns="0" tIns="0" rIns="0" bIns="0" rtlCol="0" anchor="ctr"/>
          <a:lstStyle/>
          <a:p>
            <a:pPr marL="0" indent="0">
              <a:buNone/>
            </a:pPr>
            <a:r>
              <a:rPr lang="en-US" sz="3000" b="1" dirty="0">
                <a:solidFill>
                  <a:srgbClr val="FFFFFF"/>
                </a:solidFill>
                <a:latin typeface="Arial" pitchFamily="34" charset="0"/>
                <a:ea typeface="Arial" pitchFamily="34" charset="-122"/>
                <a:cs typeface="Arial" pitchFamily="34" charset="-120"/>
              </a:rPr>
              <a:t>If You Remember Only 5 Things</a:t>
            </a:r>
            <a:endParaRPr lang="en-US" sz="3000" dirty="0"/>
          </a:p>
        </p:txBody>
      </p:sp>
      <p:sp>
        <p:nvSpPr>
          <p:cNvPr id="4" name="Text 2"/>
          <p:cNvSpPr txBox="1"/>
          <p:nvPr/>
        </p:nvSpPr>
        <p:spPr>
          <a:xfrm>
            <a:off x="822960" y="1783080"/>
            <a:ext cx="548640" cy="594360"/>
          </a:xfrm>
          <a:prstGeom prst="rect">
            <a:avLst/>
          </a:prstGeom>
          <a:noFill/>
          <a:ln/>
        </p:spPr>
        <p:txBody>
          <a:bodyPr wrap="square" lIns="0" tIns="0" rIns="0" bIns="0" rtlCol="0" anchor="ctr"/>
          <a:lstStyle/>
          <a:p>
            <a:pPr marL="0" indent="0">
              <a:buNone/>
            </a:pPr>
            <a:r>
              <a:rPr lang="en-US" sz="2600" b="1" dirty="0">
                <a:solidFill>
                  <a:srgbClr val="2A334A"/>
                </a:solidFill>
                <a:latin typeface="Arial" pitchFamily="34" charset="0"/>
                <a:ea typeface="Arial" pitchFamily="34" charset="-122"/>
                <a:cs typeface="Arial" pitchFamily="34" charset="-120"/>
              </a:rPr>
              <a:t>1</a:t>
            </a:r>
            <a:endParaRPr lang="en-US" sz="2600" dirty="0"/>
          </a:p>
        </p:txBody>
      </p:sp>
      <p:sp>
        <p:nvSpPr>
          <p:cNvPr id="5" name="Shape 3"/>
          <p:cNvSpPr/>
          <p:nvPr/>
        </p:nvSpPr>
        <p:spPr>
          <a:xfrm>
            <a:off x="1554480" y="1856232"/>
            <a:ext cx="457200" cy="457200"/>
          </a:xfrm>
          <a:prstGeom prst="ellipse">
            <a:avLst/>
          </a:prstGeom>
          <a:solidFill>
            <a:srgbClr val="22D3EE"/>
          </a:solidFill>
          <a:ln/>
        </p:spPr>
      </p:sp>
      <p:pic>
        <p:nvPicPr>
          <p:cNvPr id="6" name="Image 0" descr="/home/claude/icons/bookopen.png"/>
          <p:cNvPicPr>
            <a:picLocks noChangeAspect="1"/>
          </p:cNvPicPr>
          <p:nvPr/>
        </p:nvPicPr>
        <p:blipFill>
          <a:blip r:embed="rId3"/>
          <a:stretch>
            <a:fillRect/>
          </a:stretch>
        </p:blipFill>
        <p:spPr>
          <a:xfrm>
            <a:off x="1668780" y="1970532"/>
            <a:ext cx="228600" cy="228600"/>
          </a:xfrm>
          <a:prstGeom prst="rect">
            <a:avLst/>
          </a:prstGeom>
        </p:spPr>
      </p:pic>
      <p:sp>
        <p:nvSpPr>
          <p:cNvPr id="7" name="Text 4"/>
          <p:cNvSpPr txBox="1"/>
          <p:nvPr/>
        </p:nvSpPr>
        <p:spPr>
          <a:xfrm>
            <a:off x="2148840" y="1783080"/>
            <a:ext cx="8686800"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Learn fundamentals</a:t>
            </a:r>
            <a:endParaRPr lang="en-US" sz="1800" dirty="0"/>
          </a:p>
        </p:txBody>
      </p:sp>
      <p:sp>
        <p:nvSpPr>
          <p:cNvPr id="8" name="Text 5"/>
          <p:cNvSpPr txBox="1"/>
          <p:nvPr/>
        </p:nvSpPr>
        <p:spPr>
          <a:xfrm>
            <a:off x="822960" y="2532888"/>
            <a:ext cx="548640" cy="594360"/>
          </a:xfrm>
          <a:prstGeom prst="rect">
            <a:avLst/>
          </a:prstGeom>
          <a:noFill/>
          <a:ln/>
        </p:spPr>
        <p:txBody>
          <a:bodyPr wrap="square" lIns="0" tIns="0" rIns="0" bIns="0" rtlCol="0" anchor="ctr"/>
          <a:lstStyle/>
          <a:p>
            <a:pPr marL="0" indent="0">
              <a:buNone/>
            </a:pPr>
            <a:r>
              <a:rPr lang="en-US" sz="2600" b="1" dirty="0">
                <a:solidFill>
                  <a:srgbClr val="2A334A"/>
                </a:solidFill>
                <a:latin typeface="Arial" pitchFamily="34" charset="0"/>
                <a:ea typeface="Arial" pitchFamily="34" charset="-122"/>
                <a:cs typeface="Arial" pitchFamily="34" charset="-120"/>
              </a:rPr>
              <a:t>2</a:t>
            </a:r>
            <a:endParaRPr lang="en-US" sz="2600" dirty="0"/>
          </a:p>
        </p:txBody>
      </p:sp>
      <p:sp>
        <p:nvSpPr>
          <p:cNvPr id="9" name="Shape 6"/>
          <p:cNvSpPr/>
          <p:nvPr/>
        </p:nvSpPr>
        <p:spPr>
          <a:xfrm>
            <a:off x="1554480" y="2606040"/>
            <a:ext cx="457200" cy="457200"/>
          </a:xfrm>
          <a:prstGeom prst="ellipse">
            <a:avLst/>
          </a:prstGeom>
          <a:solidFill>
            <a:srgbClr val="22D3EE"/>
          </a:solidFill>
          <a:ln/>
        </p:spPr>
      </p:sp>
      <p:pic>
        <p:nvPicPr>
          <p:cNvPr id="10" name="Image 1" descr="/home/claude/icons/target.png"/>
          <p:cNvPicPr>
            <a:picLocks noChangeAspect="1"/>
          </p:cNvPicPr>
          <p:nvPr/>
        </p:nvPicPr>
        <p:blipFill>
          <a:blip r:embed="rId4"/>
          <a:stretch>
            <a:fillRect/>
          </a:stretch>
        </p:blipFill>
        <p:spPr>
          <a:xfrm>
            <a:off x="1668780" y="2720340"/>
            <a:ext cx="228600" cy="228600"/>
          </a:xfrm>
          <a:prstGeom prst="rect">
            <a:avLst/>
          </a:prstGeom>
        </p:spPr>
      </p:pic>
      <p:sp>
        <p:nvSpPr>
          <p:cNvPr id="11" name="Text 7"/>
          <p:cNvSpPr txBox="1"/>
          <p:nvPr/>
        </p:nvSpPr>
        <p:spPr>
          <a:xfrm>
            <a:off x="2148840" y="2532888"/>
            <a:ext cx="8686800"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Pick one direction</a:t>
            </a:r>
            <a:endParaRPr lang="en-US" sz="1800" dirty="0"/>
          </a:p>
        </p:txBody>
      </p:sp>
      <p:sp>
        <p:nvSpPr>
          <p:cNvPr id="12" name="Text 8"/>
          <p:cNvSpPr txBox="1"/>
          <p:nvPr/>
        </p:nvSpPr>
        <p:spPr>
          <a:xfrm>
            <a:off x="822960" y="3282696"/>
            <a:ext cx="548640" cy="594360"/>
          </a:xfrm>
          <a:prstGeom prst="rect">
            <a:avLst/>
          </a:prstGeom>
          <a:noFill/>
          <a:ln/>
        </p:spPr>
        <p:txBody>
          <a:bodyPr wrap="square" lIns="0" tIns="0" rIns="0" bIns="0" rtlCol="0" anchor="ctr"/>
          <a:lstStyle/>
          <a:p>
            <a:pPr marL="0" indent="0">
              <a:buNone/>
            </a:pPr>
            <a:r>
              <a:rPr lang="en-US" sz="2600" b="1" dirty="0">
                <a:solidFill>
                  <a:srgbClr val="2A334A"/>
                </a:solidFill>
                <a:latin typeface="Arial" pitchFamily="34" charset="0"/>
                <a:ea typeface="Arial" pitchFamily="34" charset="-122"/>
                <a:cs typeface="Arial" pitchFamily="34" charset="-120"/>
              </a:rPr>
              <a:t>3</a:t>
            </a:r>
            <a:endParaRPr lang="en-US" sz="2600" dirty="0"/>
          </a:p>
        </p:txBody>
      </p:sp>
      <p:sp>
        <p:nvSpPr>
          <p:cNvPr id="13" name="Shape 9"/>
          <p:cNvSpPr/>
          <p:nvPr/>
        </p:nvSpPr>
        <p:spPr>
          <a:xfrm>
            <a:off x="1554480" y="3355848"/>
            <a:ext cx="457200" cy="457200"/>
          </a:xfrm>
          <a:prstGeom prst="ellipse">
            <a:avLst/>
          </a:prstGeom>
          <a:solidFill>
            <a:srgbClr val="22D3EE"/>
          </a:solidFill>
          <a:ln/>
        </p:spPr>
      </p:sp>
      <p:pic>
        <p:nvPicPr>
          <p:cNvPr id="14" name="Image 2" descr="/home/claude/icons/code.png"/>
          <p:cNvPicPr>
            <a:picLocks noChangeAspect="1"/>
          </p:cNvPicPr>
          <p:nvPr/>
        </p:nvPicPr>
        <p:blipFill>
          <a:blip r:embed="rId5"/>
          <a:stretch>
            <a:fillRect/>
          </a:stretch>
        </p:blipFill>
        <p:spPr>
          <a:xfrm>
            <a:off x="1668780" y="3470148"/>
            <a:ext cx="228600" cy="228600"/>
          </a:xfrm>
          <a:prstGeom prst="rect">
            <a:avLst/>
          </a:prstGeom>
        </p:spPr>
      </p:pic>
      <p:sp>
        <p:nvSpPr>
          <p:cNvPr id="15" name="Text 10"/>
          <p:cNvSpPr txBox="1"/>
          <p:nvPr/>
        </p:nvSpPr>
        <p:spPr>
          <a:xfrm>
            <a:off x="2148840" y="3282696"/>
            <a:ext cx="8686800"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Build real projects</a:t>
            </a:r>
            <a:endParaRPr lang="en-US" sz="1800" dirty="0"/>
          </a:p>
        </p:txBody>
      </p:sp>
      <p:sp>
        <p:nvSpPr>
          <p:cNvPr id="16" name="Text 11"/>
          <p:cNvSpPr txBox="1"/>
          <p:nvPr/>
        </p:nvSpPr>
        <p:spPr>
          <a:xfrm>
            <a:off x="822960" y="4032504"/>
            <a:ext cx="548640" cy="594360"/>
          </a:xfrm>
          <a:prstGeom prst="rect">
            <a:avLst/>
          </a:prstGeom>
          <a:noFill/>
          <a:ln/>
        </p:spPr>
        <p:txBody>
          <a:bodyPr wrap="square" lIns="0" tIns="0" rIns="0" bIns="0" rtlCol="0" anchor="ctr"/>
          <a:lstStyle/>
          <a:p>
            <a:pPr marL="0" indent="0">
              <a:buNone/>
            </a:pPr>
            <a:r>
              <a:rPr lang="en-US" sz="2600" b="1" dirty="0">
                <a:solidFill>
                  <a:srgbClr val="2A334A"/>
                </a:solidFill>
                <a:latin typeface="Arial" pitchFamily="34" charset="0"/>
                <a:ea typeface="Arial" pitchFamily="34" charset="-122"/>
                <a:cs typeface="Arial" pitchFamily="34" charset="-120"/>
              </a:rPr>
              <a:t>4</a:t>
            </a:r>
            <a:endParaRPr lang="en-US" sz="2600" dirty="0"/>
          </a:p>
        </p:txBody>
      </p:sp>
      <p:sp>
        <p:nvSpPr>
          <p:cNvPr id="17" name="Shape 12"/>
          <p:cNvSpPr/>
          <p:nvPr/>
        </p:nvSpPr>
        <p:spPr>
          <a:xfrm>
            <a:off x="1554480" y="4105656"/>
            <a:ext cx="457200" cy="457200"/>
          </a:xfrm>
          <a:prstGeom prst="ellipse">
            <a:avLst/>
          </a:prstGeom>
          <a:solidFill>
            <a:srgbClr val="22D3EE"/>
          </a:solidFill>
          <a:ln/>
        </p:spPr>
      </p:sp>
      <p:pic>
        <p:nvPicPr>
          <p:cNvPr id="18" name="Image 3" descr="/home/claude/icons/cpu.png"/>
          <p:cNvPicPr>
            <a:picLocks noChangeAspect="1"/>
          </p:cNvPicPr>
          <p:nvPr/>
        </p:nvPicPr>
        <p:blipFill>
          <a:blip r:embed="rId6"/>
          <a:stretch>
            <a:fillRect/>
          </a:stretch>
        </p:blipFill>
        <p:spPr>
          <a:xfrm>
            <a:off x="1668780" y="4219956"/>
            <a:ext cx="228600" cy="228600"/>
          </a:xfrm>
          <a:prstGeom prst="rect">
            <a:avLst/>
          </a:prstGeom>
        </p:spPr>
      </p:pic>
      <p:sp>
        <p:nvSpPr>
          <p:cNvPr id="19" name="Text 13"/>
          <p:cNvSpPr txBox="1"/>
          <p:nvPr/>
        </p:nvSpPr>
        <p:spPr>
          <a:xfrm>
            <a:off x="2148840" y="4032504"/>
            <a:ext cx="8686800"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Learn to use AI effectively</a:t>
            </a:r>
            <a:endParaRPr lang="en-US" sz="1800" dirty="0"/>
          </a:p>
        </p:txBody>
      </p:sp>
      <p:sp>
        <p:nvSpPr>
          <p:cNvPr id="20" name="Text 14"/>
          <p:cNvSpPr txBox="1"/>
          <p:nvPr/>
        </p:nvSpPr>
        <p:spPr>
          <a:xfrm>
            <a:off x="822960" y="4782312"/>
            <a:ext cx="548640" cy="594360"/>
          </a:xfrm>
          <a:prstGeom prst="rect">
            <a:avLst/>
          </a:prstGeom>
          <a:noFill/>
          <a:ln/>
        </p:spPr>
        <p:txBody>
          <a:bodyPr wrap="square" lIns="0" tIns="0" rIns="0" bIns="0" rtlCol="0" anchor="ctr"/>
          <a:lstStyle/>
          <a:p>
            <a:pPr marL="0" indent="0">
              <a:buNone/>
            </a:pPr>
            <a:r>
              <a:rPr lang="en-US" sz="2600" b="1" dirty="0">
                <a:solidFill>
                  <a:srgbClr val="2A334A"/>
                </a:solidFill>
                <a:latin typeface="Arial" pitchFamily="34" charset="0"/>
                <a:ea typeface="Arial" pitchFamily="34" charset="-122"/>
                <a:cs typeface="Arial" pitchFamily="34" charset="-120"/>
              </a:rPr>
              <a:t>5</a:t>
            </a:r>
            <a:endParaRPr lang="en-US" sz="2600" dirty="0"/>
          </a:p>
        </p:txBody>
      </p:sp>
      <p:sp>
        <p:nvSpPr>
          <p:cNvPr id="21" name="Shape 15"/>
          <p:cNvSpPr/>
          <p:nvPr/>
        </p:nvSpPr>
        <p:spPr>
          <a:xfrm>
            <a:off x="1554480" y="4855464"/>
            <a:ext cx="457200" cy="457200"/>
          </a:xfrm>
          <a:prstGeom prst="ellipse">
            <a:avLst/>
          </a:prstGeom>
          <a:solidFill>
            <a:srgbClr val="22D3EE"/>
          </a:solidFill>
          <a:ln/>
        </p:spPr>
      </p:sp>
      <p:pic>
        <p:nvPicPr>
          <p:cNvPr id="22" name="Image 4" descr="/home/claude/icons/zap.png"/>
          <p:cNvPicPr>
            <a:picLocks noChangeAspect="1"/>
          </p:cNvPicPr>
          <p:nvPr/>
        </p:nvPicPr>
        <p:blipFill>
          <a:blip r:embed="rId7"/>
          <a:stretch>
            <a:fillRect/>
          </a:stretch>
        </p:blipFill>
        <p:spPr>
          <a:xfrm>
            <a:off x="1668780" y="4969764"/>
            <a:ext cx="228600" cy="228600"/>
          </a:xfrm>
          <a:prstGeom prst="rect">
            <a:avLst/>
          </a:prstGeom>
        </p:spPr>
      </p:pic>
      <p:sp>
        <p:nvSpPr>
          <p:cNvPr id="23" name="Text 16"/>
          <p:cNvSpPr txBox="1"/>
          <p:nvPr/>
        </p:nvSpPr>
        <p:spPr>
          <a:xfrm>
            <a:off x="2148840" y="4782312"/>
            <a:ext cx="8686800" cy="59436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Start before you feel ready</a:t>
            </a:r>
            <a:endParaRPr lang="en-US" sz="1800" dirty="0"/>
          </a:p>
        </p:txBody>
      </p:sp>
      <p:sp>
        <p:nvSpPr>
          <p:cNvPr id="24" name="Shape 17"/>
          <p:cNvSpPr/>
          <p:nvPr/>
        </p:nvSpPr>
        <p:spPr>
          <a:xfrm>
            <a:off x="822960" y="5623560"/>
            <a:ext cx="4023360" cy="9144"/>
          </a:xfrm>
          <a:prstGeom prst="line">
            <a:avLst/>
          </a:prstGeom>
          <a:noFill/>
          <a:ln w="19050">
            <a:solidFill>
              <a:srgbClr val="2A334A"/>
            </a:solidFill>
            <a:prstDash val="solid"/>
          </a:ln>
        </p:spPr>
      </p:sp>
      <p:sp>
        <p:nvSpPr>
          <p:cNvPr id="25" name="Text 18"/>
          <p:cNvSpPr txBox="1"/>
          <p:nvPr/>
        </p:nvSpPr>
        <p:spPr>
          <a:xfrm>
            <a:off x="822960" y="5742432"/>
            <a:ext cx="10515600" cy="685800"/>
          </a:xfrm>
          <a:prstGeom prst="rect">
            <a:avLst/>
          </a:prstGeom>
          <a:noFill/>
          <a:ln/>
        </p:spPr>
        <p:txBody>
          <a:bodyPr wrap="square" lIns="0" tIns="0" rIns="0" bIns="0" rtlCol="0" anchor="ctr"/>
          <a:lstStyle/>
          <a:p>
            <a:pPr marL="0" indent="0">
              <a:lnSpc>
                <a:spcPts val="1900"/>
              </a:lnSpc>
              <a:buNone/>
            </a:pPr>
            <a:r>
              <a:rPr lang="en-US" sz="1500" b="1" i="1" dirty="0">
                <a:solidFill>
                  <a:srgbClr val="FDBA74"/>
                </a:solidFill>
                <a:latin typeface="Arial" pitchFamily="34" charset="0"/>
                <a:ea typeface="Arial" pitchFamily="34" charset="-122"/>
                <a:cs typeface="Arial" pitchFamily="34" charset="-120"/>
              </a:rPr>
              <a:t>Don't wait for the industry to teach you.</a:t>
            </a:r>
            <a:endParaRPr lang="en-US" sz="1500" dirty="0"/>
          </a:p>
          <a:p>
            <a:pPr marL="0" indent="0">
              <a:lnSpc>
                <a:spcPts val="1900"/>
              </a:lnSpc>
              <a:buNone/>
            </a:pPr>
            <a:r>
              <a:rPr lang="en-US" sz="1500" b="1" i="1" dirty="0">
                <a:solidFill>
                  <a:srgbClr val="FDBA74"/>
                </a:solidFill>
                <a:latin typeface="Arial" pitchFamily="34" charset="0"/>
                <a:ea typeface="Arial" pitchFamily="34" charset="-122"/>
                <a:cs typeface="Arial" pitchFamily="34" charset="-120"/>
              </a:rPr>
              <a:t>Start preparing for it now.</a:t>
            </a:r>
            <a:endParaRPr lang="en-US" sz="1500" dirty="0"/>
          </a:p>
        </p:txBody>
      </p:sp>
      <p:sp>
        <p:nvSpPr>
          <p:cNvPr id="27" name="Text 19"/>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4B5468"/>
                </a:solidFill>
                <a:latin typeface="Courier New" pitchFamily="34" charset="0"/>
                <a:ea typeface="Courier New" pitchFamily="34" charset="-122"/>
                <a:cs typeface="Courier New" pitchFamily="34" charset="-120"/>
              </a:rPr>
              <a:t>10 / 12</a:t>
            </a:r>
            <a:endParaRPr lang="en-US" sz="900" dirty="0"/>
          </a:p>
        </p:txBody>
      </p:sp>
      <p:sp>
        <p:nvSpPr>
          <p:cNvPr id="28" name="Text 20"/>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4B5468"/>
                </a:solidFill>
                <a:latin typeface="Courier New" pitchFamily="34" charset="0"/>
                <a:ea typeface="Courier New" pitchFamily="34" charset="-122"/>
                <a:cs typeface="Courier New" pitchFamily="34" charset="-120"/>
              </a:rPr>
              <a:t>FROM COLLEGE TO CODE</a:t>
            </a:r>
            <a:endParaRPr lang="en-US" sz="900" dirty="0"/>
          </a:p>
        </p:txBody>
      </p:sp>
      <p:pic>
        <p:nvPicPr>
          <p:cNvPr id="29" name="TWS Logo" descr="Tekki Web Solutions logo"/>
          <p:cNvPicPr>
            <a:picLocks noChangeAspect="1"/>
          </p:cNvPicPr>
          <p:nvPr/>
        </p:nvPicPr>
        <p:blipFill>
          <a:blip r:embed="rId8"/>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13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26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50"/>
                                        <p:tgtEl>
                                          <p:spTgt spid="7"/>
                                        </p:tgtEl>
                                      </p:cBhvr>
                                    </p:animEffect>
                                  </p:childTnLst>
                                </p:cTn>
                              </p:par>
                              <p:par>
                                <p:cTn id="17" presetID="10" presetClass="entr" presetSubtype="0" fill="hold" grpId="0" nodeType="withEffect">
                                  <p:stCondLst>
                                    <p:cond delay="26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50"/>
                                        <p:tgtEl>
                                          <p:spTgt spid="5"/>
                                        </p:tgtEl>
                                      </p:cBhvr>
                                    </p:animEffect>
                                  </p:childTnLst>
                                </p:cTn>
                              </p:par>
                              <p:par>
                                <p:cTn id="20" presetID="10" presetClass="entr" presetSubtype="0" fill="hold" grpId="0" nodeType="withEffect">
                                  <p:stCondLst>
                                    <p:cond delay="2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50"/>
                                        <p:tgtEl>
                                          <p:spTgt spid="6"/>
                                        </p:tgtEl>
                                      </p:cBhvr>
                                    </p:animEffect>
                                  </p:childTnLst>
                                </p:cTn>
                              </p:par>
                              <p:par>
                                <p:cTn id="23" presetID="10" presetClass="entr" presetSubtype="0" fill="hold" grpId="0" nodeType="withEffect">
                                  <p:stCondLst>
                                    <p:cond delay="39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50"/>
                                        <p:tgtEl>
                                          <p:spTgt spid="8"/>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50"/>
                                        <p:tgtEl>
                                          <p:spTgt spid="11"/>
                                        </p:tgtEl>
                                      </p:cBhvr>
                                    </p:animEffect>
                                  </p:childTnLst>
                                </p:cTn>
                              </p:par>
                              <p:par>
                                <p:cTn id="29" presetID="10" presetClass="entr" presetSubtype="0" fill="hold" grpId="0" nodeType="withEffect">
                                  <p:stCondLst>
                                    <p:cond delay="39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50"/>
                                        <p:tgtEl>
                                          <p:spTgt spid="9"/>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50"/>
                                        <p:tgtEl>
                                          <p:spTgt spid="10"/>
                                        </p:tgtEl>
                                      </p:cBhvr>
                                    </p:animEffect>
                                  </p:childTnLst>
                                </p:cTn>
                              </p:par>
                              <p:par>
                                <p:cTn id="35" presetID="10" presetClass="entr" presetSubtype="0" fill="hold" grpId="0" nodeType="withEffect">
                                  <p:stCondLst>
                                    <p:cond delay="52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450"/>
                                        <p:tgtEl>
                                          <p:spTgt spid="12"/>
                                        </p:tgtEl>
                                      </p:cBhvr>
                                    </p:animEffect>
                                  </p:childTnLst>
                                </p:cTn>
                              </p:par>
                              <p:par>
                                <p:cTn id="38" presetID="10" presetClass="entr" presetSubtype="0" fill="hold" grpId="0" nodeType="withEffect">
                                  <p:stCondLst>
                                    <p:cond delay="52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50"/>
                                        <p:tgtEl>
                                          <p:spTgt spid="15"/>
                                        </p:tgtEl>
                                      </p:cBhvr>
                                    </p:animEffect>
                                  </p:childTnLst>
                                </p:cTn>
                              </p:par>
                              <p:par>
                                <p:cTn id="41" presetID="10" presetClass="entr" presetSubtype="0" fill="hold" grpId="0" nodeType="withEffect">
                                  <p:stCondLst>
                                    <p:cond delay="52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50"/>
                                        <p:tgtEl>
                                          <p:spTgt spid="13"/>
                                        </p:tgtEl>
                                      </p:cBhvr>
                                    </p:animEffect>
                                  </p:childTnLst>
                                </p:cTn>
                              </p:par>
                              <p:par>
                                <p:cTn id="44" presetID="10" presetClass="entr" presetSubtype="0" fill="hold" grpId="0" nodeType="withEffect">
                                  <p:stCondLst>
                                    <p:cond delay="52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50"/>
                                        <p:tgtEl>
                                          <p:spTgt spid="14"/>
                                        </p:tgtEl>
                                      </p:cBhvr>
                                    </p:animEffect>
                                  </p:childTnLst>
                                </p:cTn>
                              </p:par>
                              <p:par>
                                <p:cTn id="47" presetID="10" presetClass="entr" presetSubtype="0" fill="hold" grpId="0" nodeType="withEffect">
                                  <p:stCondLst>
                                    <p:cond delay="6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450"/>
                                        <p:tgtEl>
                                          <p:spTgt spid="16"/>
                                        </p:tgtEl>
                                      </p:cBhvr>
                                    </p:animEffect>
                                  </p:childTnLst>
                                </p:cTn>
                              </p:par>
                              <p:par>
                                <p:cTn id="50" presetID="10" presetClass="entr" presetSubtype="0" fill="hold" grpId="0" nodeType="withEffect">
                                  <p:stCondLst>
                                    <p:cond delay="65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50"/>
                                        <p:tgtEl>
                                          <p:spTgt spid="19"/>
                                        </p:tgtEl>
                                      </p:cBhvr>
                                    </p:animEffect>
                                  </p:childTnLst>
                                </p:cTn>
                              </p:par>
                              <p:par>
                                <p:cTn id="53" presetID="10" presetClass="entr" presetSubtype="0" fill="hold" grpId="0" nodeType="withEffect">
                                  <p:stCondLst>
                                    <p:cond delay="650"/>
                                  </p:stCondLst>
                                  <p:childTnLst>
                                    <p:set>
                                      <p:cBhvr>
                                        <p:cTn id="54" dur="1" fill="hold">
                                          <p:stCondLst>
                                            <p:cond delay="0"/>
                                          </p:stCondLst>
                                        </p:cTn>
                                        <p:tgtEl>
                                          <p:spTgt spid="17"/>
                                        </p:tgtEl>
                                        <p:attrNameLst>
                                          <p:attrName>style.visibility</p:attrName>
                                        </p:attrNameLst>
                                      </p:cBhvr>
                                      <p:to>
                                        <p:strVal val="visible"/>
                                      </p:to>
                                    </p:set>
                                    <p:animEffect transition="in" filter="fade">
                                      <p:cBhvr>
                                        <p:cTn id="55" dur="450"/>
                                        <p:tgtEl>
                                          <p:spTgt spid="17"/>
                                        </p:tgtEl>
                                      </p:cBhvr>
                                    </p:animEffect>
                                  </p:childTnLst>
                                </p:cTn>
                              </p:par>
                              <p:par>
                                <p:cTn id="56" presetID="10" presetClass="entr" presetSubtype="0" fill="hold" grpId="0" nodeType="withEffect">
                                  <p:stCondLst>
                                    <p:cond delay="65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450"/>
                                        <p:tgtEl>
                                          <p:spTgt spid="18"/>
                                        </p:tgtEl>
                                      </p:cBhvr>
                                    </p:animEffect>
                                  </p:childTnLst>
                                </p:cTn>
                              </p:par>
                              <p:par>
                                <p:cTn id="59" presetID="10" presetClass="entr" presetSubtype="0" fill="hold" grpId="0" nodeType="withEffect">
                                  <p:stCondLst>
                                    <p:cond delay="78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450"/>
                                        <p:tgtEl>
                                          <p:spTgt spid="20"/>
                                        </p:tgtEl>
                                      </p:cBhvr>
                                    </p:animEffect>
                                  </p:childTnLst>
                                </p:cTn>
                              </p:par>
                              <p:par>
                                <p:cTn id="62" presetID="10" presetClass="entr" presetSubtype="0" fill="hold" grpId="0" nodeType="withEffect">
                                  <p:stCondLst>
                                    <p:cond delay="78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50"/>
                                        <p:tgtEl>
                                          <p:spTgt spid="23"/>
                                        </p:tgtEl>
                                      </p:cBhvr>
                                    </p:animEffect>
                                  </p:childTnLst>
                                </p:cTn>
                              </p:par>
                              <p:par>
                                <p:cTn id="65" presetID="10" presetClass="entr" presetSubtype="0" fill="hold" grpId="0" nodeType="withEffect">
                                  <p:stCondLst>
                                    <p:cond delay="780"/>
                                  </p:stCondLst>
                                  <p:childTnLst>
                                    <p:set>
                                      <p:cBhvr>
                                        <p:cTn id="66" dur="1" fill="hold">
                                          <p:stCondLst>
                                            <p:cond delay="0"/>
                                          </p:stCondLst>
                                        </p:cTn>
                                        <p:tgtEl>
                                          <p:spTgt spid="21"/>
                                        </p:tgtEl>
                                        <p:attrNameLst>
                                          <p:attrName>style.visibility</p:attrName>
                                        </p:attrNameLst>
                                      </p:cBhvr>
                                      <p:to>
                                        <p:strVal val="visible"/>
                                      </p:to>
                                    </p:set>
                                    <p:animEffect transition="in" filter="fade">
                                      <p:cBhvr>
                                        <p:cTn id="67" dur="450"/>
                                        <p:tgtEl>
                                          <p:spTgt spid="21"/>
                                        </p:tgtEl>
                                      </p:cBhvr>
                                    </p:animEffect>
                                  </p:childTnLst>
                                </p:cTn>
                              </p:par>
                              <p:par>
                                <p:cTn id="68" presetID="10" presetClass="entr" presetSubtype="0" fill="hold" grpId="0" nodeType="withEffect">
                                  <p:stCondLst>
                                    <p:cond delay="78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450"/>
                                        <p:tgtEl>
                                          <p:spTgt spid="22"/>
                                        </p:tgtEl>
                                      </p:cBhvr>
                                    </p:animEffect>
                                  </p:childTnLst>
                                </p:cTn>
                              </p:par>
                              <p:par>
                                <p:cTn id="71" presetID="10" presetClass="entr" presetSubtype="0" fill="hold" grpId="0" nodeType="withEffect">
                                  <p:stCondLst>
                                    <p:cond delay="91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450"/>
                                        <p:tgtEl>
                                          <p:spTgt spid="24"/>
                                        </p:tgtEl>
                                      </p:cBhvr>
                                    </p:animEffect>
                                  </p:childTnLst>
                                </p:cTn>
                              </p:par>
                              <p:par>
                                <p:cTn id="74" presetID="10" presetClass="entr" presetSubtype="0" fill="hold" grpId="0" nodeType="withEffect">
                                  <p:stCondLst>
                                    <p:cond delay="104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22">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5504688" y="1508760"/>
            <a:ext cx="1188720" cy="1188720"/>
          </a:xfrm>
          <a:prstGeom prst="ellipse">
            <a:avLst/>
          </a:prstGeom>
          <a:solidFill>
            <a:srgbClr val="22D3EE"/>
          </a:solidFill>
          <a:ln/>
        </p:spPr>
      </p:sp>
      <p:pic>
        <p:nvPicPr>
          <p:cNvPr id="3" name="Image 0" descr="/home/claude/icons/messagesquare.png"/>
          <p:cNvPicPr>
            <a:picLocks noChangeAspect="1"/>
          </p:cNvPicPr>
          <p:nvPr/>
        </p:nvPicPr>
        <p:blipFill>
          <a:blip r:embed="rId3"/>
          <a:stretch>
            <a:fillRect/>
          </a:stretch>
        </p:blipFill>
        <p:spPr>
          <a:xfrm>
            <a:off x="5813755" y="1817827"/>
            <a:ext cx="570586" cy="570586"/>
          </a:xfrm>
          <a:prstGeom prst="rect">
            <a:avLst/>
          </a:prstGeom>
        </p:spPr>
      </p:pic>
      <p:sp>
        <p:nvSpPr>
          <p:cNvPr id="4" name="Text 1"/>
          <p:cNvSpPr txBox="1"/>
          <p:nvPr/>
        </p:nvSpPr>
        <p:spPr>
          <a:xfrm>
            <a:off x="822960" y="2880360"/>
            <a:ext cx="10561320" cy="868680"/>
          </a:xfrm>
          <a:prstGeom prst="rect">
            <a:avLst/>
          </a:prstGeom>
          <a:noFill/>
          <a:ln/>
        </p:spPr>
        <p:txBody>
          <a:bodyPr wrap="square" lIns="0" tIns="0" rIns="0" bIns="0" rtlCol="0" anchor="ctr"/>
          <a:lstStyle/>
          <a:p>
            <a:pPr marL="0" indent="0" algn="ctr">
              <a:buNone/>
            </a:pPr>
            <a:r>
              <a:rPr lang="en-US" sz="4400" b="1" dirty="0">
                <a:solidFill>
                  <a:srgbClr val="FFFFFF"/>
                </a:solidFill>
                <a:latin typeface="Arial" pitchFamily="34" charset="0"/>
                <a:ea typeface="Arial" pitchFamily="34" charset="-122"/>
                <a:cs typeface="Arial" pitchFamily="34" charset="-120"/>
              </a:rPr>
              <a:t>Your Turn.</a:t>
            </a:r>
            <a:endParaRPr lang="en-US" sz="4400" dirty="0"/>
          </a:p>
        </p:txBody>
      </p:sp>
      <p:sp>
        <p:nvSpPr>
          <p:cNvPr id="5" name="Text 2"/>
          <p:cNvSpPr txBox="1"/>
          <p:nvPr/>
        </p:nvSpPr>
        <p:spPr>
          <a:xfrm>
            <a:off x="822960" y="3657600"/>
            <a:ext cx="10561320" cy="868680"/>
          </a:xfrm>
          <a:prstGeom prst="rect">
            <a:avLst/>
          </a:prstGeom>
          <a:noFill/>
          <a:ln/>
        </p:spPr>
        <p:txBody>
          <a:bodyPr wrap="square" lIns="0" tIns="0" rIns="0" bIns="0" rtlCol="0" anchor="ctr"/>
          <a:lstStyle/>
          <a:p>
            <a:pPr marL="0" indent="0" algn="ctr">
              <a:buNone/>
            </a:pPr>
            <a:r>
              <a:rPr lang="en-US" sz="4400" b="1" dirty="0">
                <a:solidFill>
                  <a:srgbClr val="22D3EE"/>
                </a:solidFill>
                <a:latin typeface="Arial" pitchFamily="34" charset="0"/>
                <a:ea typeface="Arial" pitchFamily="34" charset="-122"/>
                <a:cs typeface="Arial" pitchFamily="34" charset="-120"/>
              </a:rPr>
              <a:t>Ask Anything.</a:t>
            </a:r>
            <a:endParaRPr lang="en-US" sz="4400" dirty="0"/>
          </a:p>
        </p:txBody>
      </p:sp>
      <p:sp>
        <p:nvSpPr>
          <p:cNvPr id="6" name="Shape 3"/>
          <p:cNvSpPr/>
          <p:nvPr/>
        </p:nvSpPr>
        <p:spPr>
          <a:xfrm>
            <a:off x="2470252" y="4892040"/>
            <a:ext cx="1106424" cy="384048"/>
          </a:xfrm>
          <a:prstGeom prst="roundRect">
            <a:avLst>
              <a:gd name="adj" fmla="val 50000"/>
            </a:avLst>
          </a:prstGeom>
          <a:solidFill>
            <a:srgbClr val="161D2E"/>
          </a:solidFill>
          <a:ln/>
        </p:spPr>
      </p:sp>
      <p:sp>
        <p:nvSpPr>
          <p:cNvPr id="7" name="Text 4"/>
          <p:cNvSpPr txBox="1"/>
          <p:nvPr/>
        </p:nvSpPr>
        <p:spPr>
          <a:xfrm>
            <a:off x="2470252" y="4882896"/>
            <a:ext cx="1106424" cy="384048"/>
          </a:xfrm>
          <a:prstGeom prst="rect">
            <a:avLst/>
          </a:prstGeom>
          <a:noFill/>
          <a:ln/>
        </p:spPr>
        <p:txBody>
          <a:bodyPr wrap="square" lIns="0" tIns="0" rIns="0" bIns="0" rtlCol="0" anchor="ctr"/>
          <a:lstStyle/>
          <a:p>
            <a:pPr marL="0" indent="0" algn="ctr">
              <a:buNone/>
            </a:pPr>
            <a:r>
              <a:rPr lang="en-US" sz="1100" b="1" kern="0" spc="50" dirty="0">
                <a:solidFill>
                  <a:srgbClr val="CBD5E1"/>
                </a:solidFill>
                <a:latin typeface="Courier New" pitchFamily="34" charset="0"/>
                <a:ea typeface="Courier New" pitchFamily="34" charset="-122"/>
                <a:cs typeface="Courier New" pitchFamily="34" charset="-120"/>
              </a:rPr>
              <a:t>Career</a:t>
            </a:r>
            <a:endParaRPr lang="en-US" sz="1100" dirty="0"/>
          </a:p>
        </p:txBody>
      </p:sp>
      <p:sp>
        <p:nvSpPr>
          <p:cNvPr id="8" name="Shape 5"/>
          <p:cNvSpPr/>
          <p:nvPr/>
        </p:nvSpPr>
        <p:spPr>
          <a:xfrm>
            <a:off x="3805276" y="4892040"/>
            <a:ext cx="1609344" cy="384048"/>
          </a:xfrm>
          <a:prstGeom prst="roundRect">
            <a:avLst>
              <a:gd name="adj" fmla="val 50000"/>
            </a:avLst>
          </a:prstGeom>
          <a:solidFill>
            <a:srgbClr val="161D2E"/>
          </a:solidFill>
          <a:ln/>
        </p:spPr>
      </p:sp>
      <p:sp>
        <p:nvSpPr>
          <p:cNvPr id="9" name="Text 6"/>
          <p:cNvSpPr txBox="1"/>
          <p:nvPr/>
        </p:nvSpPr>
        <p:spPr>
          <a:xfrm>
            <a:off x="3805276" y="4882896"/>
            <a:ext cx="1609344" cy="384048"/>
          </a:xfrm>
          <a:prstGeom prst="rect">
            <a:avLst/>
          </a:prstGeom>
          <a:noFill/>
          <a:ln/>
        </p:spPr>
        <p:txBody>
          <a:bodyPr wrap="square" lIns="0" tIns="0" rIns="0" bIns="0" rtlCol="0" anchor="ctr"/>
          <a:lstStyle/>
          <a:p>
            <a:pPr marL="0" indent="0" algn="ctr">
              <a:buNone/>
            </a:pPr>
            <a:r>
              <a:rPr lang="en-US" sz="1100" b="1" kern="0" spc="50" dirty="0">
                <a:solidFill>
                  <a:srgbClr val="CBD5E1"/>
                </a:solidFill>
                <a:latin typeface="Courier New" pitchFamily="34" charset="0"/>
                <a:ea typeface="Courier New" pitchFamily="34" charset="-122"/>
                <a:cs typeface="Courier New" pitchFamily="34" charset="-120"/>
              </a:rPr>
              <a:t>Development</a:t>
            </a:r>
            <a:endParaRPr lang="en-US" sz="1100" dirty="0"/>
          </a:p>
        </p:txBody>
      </p:sp>
      <p:sp>
        <p:nvSpPr>
          <p:cNvPr id="10" name="Shape 7"/>
          <p:cNvSpPr/>
          <p:nvPr/>
        </p:nvSpPr>
        <p:spPr>
          <a:xfrm>
            <a:off x="5643220" y="4892040"/>
            <a:ext cx="704088" cy="384048"/>
          </a:xfrm>
          <a:prstGeom prst="roundRect">
            <a:avLst>
              <a:gd name="adj" fmla="val 50000"/>
            </a:avLst>
          </a:prstGeom>
          <a:solidFill>
            <a:srgbClr val="161D2E"/>
          </a:solidFill>
          <a:ln/>
        </p:spPr>
      </p:sp>
      <p:sp>
        <p:nvSpPr>
          <p:cNvPr id="11" name="Text 8"/>
          <p:cNvSpPr txBox="1"/>
          <p:nvPr/>
        </p:nvSpPr>
        <p:spPr>
          <a:xfrm>
            <a:off x="5643220" y="4882896"/>
            <a:ext cx="704088" cy="384048"/>
          </a:xfrm>
          <a:prstGeom prst="rect">
            <a:avLst/>
          </a:prstGeom>
          <a:noFill/>
          <a:ln/>
        </p:spPr>
        <p:txBody>
          <a:bodyPr wrap="square" lIns="0" tIns="0" rIns="0" bIns="0" rtlCol="0" anchor="ctr"/>
          <a:lstStyle/>
          <a:p>
            <a:pPr marL="0" indent="0" algn="ctr">
              <a:buNone/>
            </a:pPr>
            <a:r>
              <a:rPr lang="en-US" sz="1100" b="1" kern="0" spc="50" dirty="0">
                <a:solidFill>
                  <a:srgbClr val="CBD5E1"/>
                </a:solidFill>
                <a:latin typeface="Courier New" pitchFamily="34" charset="0"/>
                <a:ea typeface="Courier New" pitchFamily="34" charset="-122"/>
                <a:cs typeface="Courier New" pitchFamily="34" charset="-120"/>
              </a:rPr>
              <a:t>AI</a:t>
            </a:r>
            <a:endParaRPr lang="en-US" sz="1100" dirty="0"/>
          </a:p>
        </p:txBody>
      </p:sp>
      <p:sp>
        <p:nvSpPr>
          <p:cNvPr id="12" name="Shape 9"/>
          <p:cNvSpPr/>
          <p:nvPr/>
        </p:nvSpPr>
        <p:spPr>
          <a:xfrm>
            <a:off x="6575908" y="4892040"/>
            <a:ext cx="1307592" cy="384048"/>
          </a:xfrm>
          <a:prstGeom prst="roundRect">
            <a:avLst>
              <a:gd name="adj" fmla="val 50000"/>
            </a:avLst>
          </a:prstGeom>
          <a:solidFill>
            <a:srgbClr val="161D2E"/>
          </a:solidFill>
          <a:ln/>
        </p:spPr>
      </p:sp>
      <p:sp>
        <p:nvSpPr>
          <p:cNvPr id="13" name="Text 10"/>
          <p:cNvSpPr txBox="1"/>
          <p:nvPr/>
        </p:nvSpPr>
        <p:spPr>
          <a:xfrm>
            <a:off x="6575908" y="4882896"/>
            <a:ext cx="1307592" cy="384048"/>
          </a:xfrm>
          <a:prstGeom prst="rect">
            <a:avLst/>
          </a:prstGeom>
          <a:noFill/>
          <a:ln/>
        </p:spPr>
        <p:txBody>
          <a:bodyPr wrap="square" lIns="0" tIns="0" rIns="0" bIns="0" rtlCol="0" anchor="ctr"/>
          <a:lstStyle/>
          <a:p>
            <a:pPr marL="0" indent="0" algn="ctr">
              <a:buNone/>
            </a:pPr>
            <a:r>
              <a:rPr lang="en-US" sz="1100" b="1" kern="0" spc="50" dirty="0">
                <a:solidFill>
                  <a:srgbClr val="CBD5E1"/>
                </a:solidFill>
                <a:latin typeface="Courier New" pitchFamily="34" charset="0"/>
                <a:ea typeface="Courier New" pitchFamily="34" charset="-122"/>
                <a:cs typeface="Courier New" pitchFamily="34" charset="-120"/>
              </a:rPr>
              <a:t>Projects</a:t>
            </a:r>
            <a:endParaRPr lang="en-US" sz="1100" dirty="0"/>
          </a:p>
        </p:txBody>
      </p:sp>
      <p:sp>
        <p:nvSpPr>
          <p:cNvPr id="14" name="Shape 11"/>
          <p:cNvSpPr/>
          <p:nvPr/>
        </p:nvSpPr>
        <p:spPr>
          <a:xfrm>
            <a:off x="8112100" y="4892040"/>
            <a:ext cx="1609344" cy="384048"/>
          </a:xfrm>
          <a:prstGeom prst="roundRect">
            <a:avLst>
              <a:gd name="adj" fmla="val 50000"/>
            </a:avLst>
          </a:prstGeom>
          <a:solidFill>
            <a:srgbClr val="161D2E"/>
          </a:solidFill>
          <a:ln/>
        </p:spPr>
      </p:sp>
      <p:sp>
        <p:nvSpPr>
          <p:cNvPr id="15" name="Text 12"/>
          <p:cNvSpPr txBox="1"/>
          <p:nvPr/>
        </p:nvSpPr>
        <p:spPr>
          <a:xfrm>
            <a:off x="8112100" y="4882896"/>
            <a:ext cx="1609344" cy="384048"/>
          </a:xfrm>
          <a:prstGeom prst="rect">
            <a:avLst/>
          </a:prstGeom>
          <a:noFill/>
          <a:ln/>
        </p:spPr>
        <p:txBody>
          <a:bodyPr wrap="square" lIns="0" tIns="0" rIns="0" bIns="0" rtlCol="0" anchor="ctr"/>
          <a:lstStyle/>
          <a:p>
            <a:pPr marL="0" indent="0" algn="ctr">
              <a:buNone/>
            </a:pPr>
            <a:r>
              <a:rPr lang="en-US" sz="1100" b="1" kern="0" spc="50" dirty="0">
                <a:solidFill>
                  <a:srgbClr val="CBD5E1"/>
                </a:solidFill>
                <a:latin typeface="Courier New" pitchFamily="34" charset="0"/>
                <a:ea typeface="Courier New" pitchFamily="34" charset="-122"/>
                <a:cs typeface="Courier New" pitchFamily="34" charset="-120"/>
              </a:rPr>
              <a:t>IT Industry</a:t>
            </a:r>
            <a:endParaRPr lang="en-US" sz="1100" dirty="0"/>
          </a:p>
        </p:txBody>
      </p:sp>
      <p:sp>
        <p:nvSpPr>
          <p:cNvPr id="17" name="Text 13"/>
          <p:cNvSpPr txBox="1"/>
          <p:nvPr/>
        </p:nvSpPr>
        <p:spPr>
          <a:xfrm>
            <a:off x="10637215" y="6492240"/>
            <a:ext cx="1280160" cy="256032"/>
          </a:xfrm>
          <a:prstGeom prst="rect">
            <a:avLst/>
          </a:prstGeom>
          <a:noFill/>
          <a:ln/>
        </p:spPr>
        <p:txBody>
          <a:bodyPr wrap="square" lIns="0" tIns="0" rIns="0" bIns="0" rtlCol="0" anchor="ctr"/>
          <a:lstStyle/>
          <a:p>
            <a:pPr marL="0" indent="0" algn="r">
              <a:buNone/>
            </a:pPr>
            <a:r>
              <a:rPr lang="en-US" sz="900" dirty="0">
                <a:solidFill>
                  <a:srgbClr val="4B5468"/>
                </a:solidFill>
                <a:latin typeface="Courier New" pitchFamily="34" charset="0"/>
                <a:ea typeface="Courier New" pitchFamily="34" charset="-122"/>
                <a:cs typeface="Courier New" pitchFamily="34" charset="-120"/>
              </a:rPr>
              <a:t>11 / 12</a:t>
            </a:r>
            <a:endParaRPr lang="en-US" sz="900" dirty="0"/>
          </a:p>
        </p:txBody>
      </p:sp>
      <p:sp>
        <p:nvSpPr>
          <p:cNvPr id="18" name="Text 14"/>
          <p:cNvSpPr txBox="1"/>
          <p:nvPr/>
        </p:nvSpPr>
        <p:spPr>
          <a:xfrm>
            <a:off x="502920" y="6492240"/>
            <a:ext cx="3657600" cy="256032"/>
          </a:xfrm>
          <a:prstGeom prst="rect">
            <a:avLst/>
          </a:prstGeom>
          <a:noFill/>
          <a:ln/>
        </p:spPr>
        <p:txBody>
          <a:bodyPr wrap="square" lIns="0" tIns="0" rIns="0" bIns="0" rtlCol="0" anchor="ctr"/>
          <a:lstStyle/>
          <a:p>
            <a:pPr marL="0" indent="0">
              <a:buNone/>
            </a:pPr>
            <a:r>
              <a:rPr lang="en-US" sz="900" kern="0" spc="150" dirty="0">
                <a:solidFill>
                  <a:srgbClr val="4B5468"/>
                </a:solidFill>
                <a:latin typeface="Courier New" pitchFamily="34" charset="0"/>
                <a:ea typeface="Courier New" pitchFamily="34" charset="-122"/>
                <a:cs typeface="Courier New" pitchFamily="34" charset="-120"/>
              </a:rPr>
              <a:t>FROM COLLEGE TO CODE</a:t>
            </a:r>
            <a:endParaRPr lang="en-US" sz="900" dirty="0"/>
          </a:p>
        </p:txBody>
      </p:sp>
      <p:pic>
        <p:nvPicPr>
          <p:cNvPr id="19" name="TWS Logo" descr="Tekki Web Solutions logo"/>
          <p:cNvPicPr>
            <a:picLocks noChangeAspect="1"/>
          </p:cNvPicPr>
          <p:nvPr/>
        </p:nvPicPr>
        <p:blipFill>
          <a:blip r:embed="rId4"/>
          <a:stretch>
            <a:fillRect/>
          </a:stretch>
        </p:blipFill>
        <p:spPr>
          <a:xfrm>
            <a:off x="10817352" y="274320"/>
            <a:ext cx="868680" cy="521772"/>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5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50"/>
                                        <p:tgtEl>
                                          <p:spTgt spid="3"/>
                                        </p:tgtEl>
                                      </p:cBhvr>
                                    </p:animEffect>
                                  </p:childTnLst>
                                </p:cTn>
                              </p:par>
                              <p:par>
                                <p:cTn id="11" presetID="10" presetClass="entr" presetSubtype="0" fill="hold" grpId="0" nodeType="withEffect">
                                  <p:stCondLst>
                                    <p:cond delay="13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50"/>
                                        <p:tgtEl>
                                          <p:spTgt spid="4"/>
                                        </p:tgtEl>
                                      </p:cBhvr>
                                    </p:animEffect>
                                  </p:childTnLst>
                                </p:cTn>
                              </p:par>
                              <p:par>
                                <p:cTn id="14" presetID="10" presetClass="entr" presetSubtype="0" fill="hold" grpId="0" nodeType="withEffect">
                                  <p:stCondLst>
                                    <p:cond delay="26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50"/>
                                        <p:tgtEl>
                                          <p:spTgt spid="5"/>
                                        </p:tgtEl>
                                      </p:cBhvr>
                                    </p:animEffect>
                                  </p:childTnLst>
                                </p:cTn>
                              </p:par>
                              <p:par>
                                <p:cTn id="17" presetID="10" presetClass="entr" presetSubtype="0" fill="hold" grpId="0" nodeType="withEffect">
                                  <p:stCondLst>
                                    <p:cond delay="39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50"/>
                                        <p:tgtEl>
                                          <p:spTgt spid="7"/>
                                        </p:tgtEl>
                                      </p:cBhvr>
                                    </p:animEffect>
                                  </p:childTnLst>
                                </p:cTn>
                              </p:par>
                              <p:par>
                                <p:cTn id="20" presetID="10" presetClass="entr" presetSubtype="0" fill="hold" grpId="0" nodeType="withEffect">
                                  <p:stCondLst>
                                    <p:cond delay="39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50"/>
                                        <p:tgtEl>
                                          <p:spTgt spid="9"/>
                                        </p:tgtEl>
                                      </p:cBhvr>
                                    </p:animEffect>
                                  </p:childTnLst>
                                </p:cTn>
                              </p:par>
                              <p:par>
                                <p:cTn id="23" presetID="10" presetClass="entr" presetSubtype="0" fill="hold" grpId="0" nodeType="withEffect">
                                  <p:stCondLst>
                                    <p:cond delay="39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50"/>
                                        <p:tgtEl>
                                          <p:spTgt spid="11"/>
                                        </p:tgtEl>
                                      </p:cBhvr>
                                    </p:animEffect>
                                  </p:childTnLst>
                                </p:cTn>
                              </p:par>
                              <p:par>
                                <p:cTn id="26" presetID="10" presetClass="entr" presetSubtype="0" fill="hold" grpId="0" nodeType="withEffect">
                                  <p:stCondLst>
                                    <p:cond delay="39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50"/>
                                        <p:tgtEl>
                                          <p:spTgt spid="13"/>
                                        </p:tgtEl>
                                      </p:cBhvr>
                                    </p:animEffect>
                                  </p:childTnLst>
                                </p:cTn>
                              </p:par>
                              <p:par>
                                <p:cTn id="29" presetID="10" presetClass="entr" presetSubtype="0" fill="hold" grpId="0" nodeType="withEffect">
                                  <p:stCondLst>
                                    <p:cond delay="39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50"/>
                                        <p:tgtEl>
                                          <p:spTgt spid="15"/>
                                        </p:tgtEl>
                                      </p:cBhvr>
                                    </p:animEffect>
                                  </p:childTnLst>
                                </p:cTn>
                              </p:par>
                              <p:par>
                                <p:cTn id="32" presetID="10" presetClass="entr" presetSubtype="0" fill="hold" grpId="0" nodeType="withEffect">
                                  <p:stCondLst>
                                    <p:cond delay="39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450"/>
                                        <p:tgtEl>
                                          <p:spTgt spid="6"/>
                                        </p:tgtEl>
                                      </p:cBhvr>
                                    </p:animEffect>
                                  </p:childTnLst>
                                </p:cTn>
                              </p:par>
                              <p:par>
                                <p:cTn id="35" presetID="10" presetClass="entr" presetSubtype="0" fill="hold" grpId="0" nodeType="withEffect">
                                  <p:stCondLst>
                                    <p:cond delay="39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450"/>
                                        <p:tgtEl>
                                          <p:spTgt spid="8"/>
                                        </p:tgtEl>
                                      </p:cBhvr>
                                    </p:animEffect>
                                  </p:childTnLst>
                                </p:cTn>
                              </p:par>
                              <p:par>
                                <p:cTn id="38" presetID="10" presetClass="entr" presetSubtype="0" fill="hold" grpId="0" nodeType="withEffect">
                                  <p:stCondLst>
                                    <p:cond delay="39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450"/>
                                        <p:tgtEl>
                                          <p:spTgt spid="10"/>
                                        </p:tgtEl>
                                      </p:cBhvr>
                                    </p:animEffect>
                                  </p:childTnLst>
                                </p:cTn>
                              </p:par>
                              <p:par>
                                <p:cTn id="41" presetID="10" presetClass="entr" presetSubtype="0" fill="hold" grpId="0" nodeType="withEffect">
                                  <p:stCondLst>
                                    <p:cond delay="39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450"/>
                                        <p:tgtEl>
                                          <p:spTgt spid="12"/>
                                        </p:tgtEl>
                                      </p:cBhvr>
                                    </p:animEffect>
                                  </p:childTnLst>
                                </p:cTn>
                              </p:par>
                              <p:par>
                                <p:cTn id="44" presetID="10" presetClass="entr" presetSubtype="0" fill="hold" grpId="0" nodeType="withEffect">
                                  <p:stCondLst>
                                    <p:cond delay="39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1798</Words>
  <Application>Microsoft Office PowerPoint</Application>
  <PresentationFormat>Widescreen</PresentationFormat>
  <Paragraphs>233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Karan.4547</cp:lastModifiedBy>
  <cp:revision>2</cp:revision>
  <dcterms:created xsi:type="dcterms:W3CDTF">2026-09-13T11:22:40Z</dcterms:created>
  <dcterms:modified xsi:type="dcterms:W3CDTF">2026-09-14T11:34:31Z</dcterms:modified>
</cp:coreProperties>
</file>